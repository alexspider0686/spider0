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jpg" ContentType="image/jpg"/>
  <Override PartName="/ppt/media/image2.webp" ContentType="image/webp"/>
  <Override PartName="/ppt/media/image3.webp" ContentType="image/webp"/>
  <Override PartName="/ppt/media/image4.webp" ContentType="image/webp"/>
  <Override PartName="/ppt/media/image5.webp" ContentType="image/webp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29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E6-41F3-A70F-139939D7DC9A}"/>
              </c:ext>
            </c:extLst>
          </c:dPt>
          <c:dPt>
            <c:idx val="1"/>
            <c:bubble3D val="0"/>
            <c:spPr>
              <a:solidFill>
                <a:srgbClr val="F2A6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E6-41F3-A70F-139939D7DC9A}"/>
              </c:ext>
            </c:extLst>
          </c:dPt>
          <c:dPt>
            <c:idx val="2"/>
            <c:bubble3D val="0"/>
            <c:spPr>
              <a:solidFill>
                <a:srgbClr val="A8AD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E6-41F3-A70F-139939D7DC9A}"/>
              </c:ext>
            </c:extLst>
          </c:dPt>
          <c:dPt>
            <c:idx val="3"/>
            <c:bubble3D val="0"/>
            <c:spPr>
              <a:solidFill>
                <a:srgbClr val="F0C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E6-41F3-A70F-139939D7DC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E6-41F3-A70F-139939D7DC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E6-41F3-A70F-139939D7DC9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E6-41F3-A70F-139939D7DC9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E6-41F3-A70F-139939D7DC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Материалы</c:v>
                </c:pt>
                <c:pt idx="2">
                  <c:v>Работы</c:v>
                </c:pt>
                <c:pt idx="3">
                  <c:v>Проектирование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35.799999999999997</c:v>
                </c:pt>
                <c:pt idx="1">
                  <c:v>11.6</c:v>
                </c:pt>
                <c:pt idx="2">
                  <c:v>28.16</c:v>
                </c:pt>
                <c:pt idx="3">
                  <c:v>2.2098636699999998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E6-41F3-A70F-139939D7D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16C3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56.083258032325517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E-4F03-9E90-E92795280E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2D65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24.543612936859265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EF-46DE-AED6-D66A5F06D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06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Building exterior photo: https://moscow-city.guide/upload/iblock/82a/82ae3e863735a5f17c4a2b262b474e9c.jpg
- Object overview: https://moscow-city.guide/towers/sberbank-city/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Complex composition, total area, parking, corp. G workplaces and conference hall: https://realty.rbc.ru/news/61ab178b9a7947160b836725
- Corp. G project area 61 652 m²: https://realty.rbc.ru/news/5e707f0f9a7947ee5645252e
- Object card (9 floors, location): https://2gis.ru/moscow/geo/4504235282797775
- Reconstruction details / ~62 thousand m²: https://archsovet.msk.ru/article/aktualno/novaya-shtab-kvartira-sberbanka-ot-evolution-design-i-t-t-architects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design estimate workbook: /mnt/data/Кутузовский_пр-т,_32,_корп.__Г__САПС.xls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preliminary survey narrative and photos supplied in the conversation.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webp"/><Relationship Id="rId4" Type="http://schemas.openxmlformats.org/officeDocument/2006/relationships/image" Target="../media/image3.webp"/><Relationship Id="rId5" Type="http://schemas.openxmlformats.org/officeDocument/2006/relationships/image" Target="../media/image4.webp"/><Relationship Id="rId6" Type="http://schemas.openxmlformats.org/officeDocument/2006/relationships/image" Target="../media/image5.webp"/><Relationship Id="rId7" Type="http://schemas.openxmlformats.org/officeDocument/2006/relationships/image" Target="../media/image6.web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773168" y="0"/>
            <a:ext cx="502920" cy="6858000"/>
          </a:xfrm>
          <a:prstGeom prst="rect">
            <a:avLst/>
          </a:prstGeom>
          <a:solidFill>
            <a:srgbClr val="0C315A">
              <a:alpha val="75000"/>
            </a:srgbClr>
          </a:solidFill>
          <a:ln w="12700">
            <a:solidFill>
              <a:srgbClr val="0C315A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pic>
        <p:nvPicPr>
          <p:cNvPr id="4" name="Image 0" descr="/mnt/data/building_k32g.jpg"/>
          <p:cNvPicPr>
            <a:picLocks noChangeAspect="1"/>
          </p:cNvPicPr>
          <p:nvPr/>
        </p:nvPicPr>
        <p:blipFill>
          <a:blip r:embed="rId3"/>
          <a:srcRect l="13200" r="13200"/>
          <a:stretch/>
        </p:blipFill>
        <p:spPr>
          <a:xfrm>
            <a:off x="4617720" y="0"/>
            <a:ext cx="757123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0"/>
            <a:ext cx="7571232" cy="6858000"/>
          </a:xfrm>
          <a:prstGeom prst="rect">
            <a:avLst/>
          </a:prstGeom>
          <a:solidFill>
            <a:srgbClr val="113B6D">
              <a:alpha val="40000"/>
            </a:srgbClr>
          </a:solidFill>
          <a:ln w="12700">
            <a:solidFill>
              <a:srgbClr val="113B6D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84048" y="320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</a:rPr>
              <a:t>СТК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4048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Проект: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модернизация системы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автоматической пожарной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сигнализации объекта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Кутузовский 32, корп. 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CE7F5"/>
                </a:solidFill>
                <a:latin typeface="Arial"/>
              </a:rPr>
              <a:t>Предварительная финансовая модель проекта рассчитана с учетом проектирования, стоимости оборудования, материалов, строительно-монтажных и пусконаладочных работ.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84048" y="4846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75488" y="49194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Площадь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475488" y="50657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23042"/>
                </a:solidFill>
                <a:latin typeface="Arial"/>
              </a:rPr>
              <a:t>60 515 м²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755648" y="48463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847088" y="49194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Системы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1847088" y="5065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23042"/>
                </a:solidFill>
                <a:latin typeface="Arial"/>
              </a:rPr>
              <a:t>1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2761488" y="484632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852928" y="49194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7" name="Text 14"/>
          <p:cNvSpPr/>
          <p:nvPr/>
        </p:nvSpPr>
        <p:spPr>
          <a:xfrm>
            <a:off x="2852928" y="50657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sz="730" b="1">
                <a:solidFill>
                  <a:srgbClr val="223042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730" b="1">
                <a:solidFill>
                  <a:srgbClr val="223042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18" name="Shape 15"/>
          <p:cNvSpPr/>
          <p:nvPr/>
        </p:nvSpPr>
        <p:spPr>
          <a:xfrm>
            <a:off x="384048" y="5532120"/>
            <a:ext cx="1874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75488" y="560527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770" dirty="0"/>
          </a:p>
        </p:txBody>
      </p:sp>
      <p:sp>
        <p:nvSpPr>
          <p:cNvPr id="20" name="Text 17"/>
          <p:cNvSpPr/>
          <p:nvPr/>
        </p:nvSpPr>
        <p:spPr>
          <a:xfrm>
            <a:off x="475488" y="57515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106,5 млн ₽</a:t>
            </a:r>
          </a:p>
        </p:txBody>
      </p:sp>
      <p:sp>
        <p:nvSpPr>
          <p:cNvPr id="21" name="Shape 18"/>
          <p:cNvSpPr/>
          <p:nvPr/>
        </p:nvSpPr>
        <p:spPr>
          <a:xfrm>
            <a:off x="2395728" y="553212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/>
        </p:txBody>
      </p:sp>
      <p:sp>
        <p:nvSpPr>
          <p:cNvPr id="22" name="Text 19"/>
          <p:cNvSpPr/>
          <p:nvPr/>
        </p:nvSpPr>
        <p:spPr>
          <a:xfrm>
            <a:off x="2487168" y="56052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770" dirty="0"/>
          </a:p>
        </p:txBody>
      </p:sp>
      <p:sp>
        <p:nvSpPr>
          <p:cNvPr id="23" name="Text 20"/>
          <p:cNvSpPr/>
          <p:nvPr/>
        </p:nvSpPr>
        <p:spPr>
          <a:xfrm>
            <a:off x="2487168" y="5751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143,1 млн ₽</a:t>
            </a:r>
          </a:p>
        </p:txBody>
      </p:sp>
      <p:sp>
        <p:nvSpPr>
          <p:cNvPr id="24" name="Text 21"/>
          <p:cNvSpPr/>
          <p:nvPr/>
        </p:nvSpPr>
        <p:spPr>
          <a:xfrm>
            <a:off x="5010912" y="614476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5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Параметры объекта и методология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В основе модели — предварительные расчеты стоимости оборудования, материалов, работ (СМР/ПНР) и проектирования.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Параметры объекта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61188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Кутузовский пр-т, 32, корп. Г — часть комплекса «Сбербанк-Сити» на Кутузовском проспекте.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Открытые источники описывают корпус Г как реконструированное административное здание площадью 61 652–62 000 м².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корпусе предусмотрены 1 700 рабочих мест, конференц-зал на 500 человек и общественные пространства agile-формата.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расчет модели принята защищаемая площадь 60 515 м²; функциональный состав — 9 надземных и 4 подземных уровня.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АПС: полная замена существующей системы Edwards на отечественную адресную платформу.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443984" y="749808"/>
            <a:ext cx="192024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53712" y="8229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 модели (бюджет проекта)</a:t>
            </a:r>
          </a:p>
        </p:txBody>
      </p:sp>
      <p:sp>
        <p:nvSpPr>
          <p:cNvPr id="10" name="Text 8"/>
          <p:cNvSpPr/>
          <p:nvPr/>
        </p:nvSpPr>
        <p:spPr>
          <a:xfrm>
            <a:off x="4553712" y="98755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6492240" y="74980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583680" y="8229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583680" y="969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845552" y="749808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936992" y="8229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936992" y="9692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749808"/>
            <a:ext cx="1051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89720" y="82296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Работы / ПНР</a:t>
            </a:r>
          </a:p>
        </p:txBody>
      </p:sp>
      <p:sp>
        <p:nvSpPr>
          <p:cNvPr id="19" name="Text 17"/>
          <p:cNvSpPr/>
          <p:nvPr/>
        </p:nvSpPr>
        <p:spPr>
          <a:xfrm>
            <a:off x="9189720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Собственный: 28,2 млн ₽</a:t>
            </a:r>
          </a:p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Подрядный: 49,5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10222992" y="74980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314432" y="8229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0314432" y="969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443984" y="148132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90288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rial"/>
              </a:rPr>
              <a:t>Примененные коэффициенты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590288" y="18013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Ночь K=2,0 (20%)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Доступ K=1,15 (100%)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Высота K=1,05 (30%)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Эксплуатируемое здание K=1,2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Выходные K=1,5 (10%)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095744" y="1481328"/>
            <a:ext cx="45445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269480" y="16093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3042"/>
                </a:solidFill>
                <a:latin typeface="Arial"/>
              </a:rPr>
              <a:t>Функциональное распределение площади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269480" y="1810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B4: паркинг 70% / техпомещения 30%   •   B3: 85% / 15%   •   B2: 90% / 10%   •   B1: 90% / 10%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1–2 этажи: торговля 20% / общественные зоны 50% / техпомещения 30%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3–9 этажи: офисы 85% / техпомещения 15%</a:t>
            </a:r>
            <a:endParaRPr lang="en-US" sz="835" dirty="0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02920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Зонирование для расчета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306324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66928" y="30906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28269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66928" y="33101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50215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" y="3529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372160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66928" y="374904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" y="394106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66928" y="3968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8368" y="416052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66928" y="41879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" y="437997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" y="44074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" y="459943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" y="481888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66928" y="48463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" y="503834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66928" y="50657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8368" y="525780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66928" y="52852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" y="547725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66928" y="550468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8368" y="569671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566928" y="57241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30358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334155"/>
                </a:solidFill>
                <a:latin typeface="Arial"/>
              </a:rPr>
              <a:t>Агрегированные площади: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1920240" y="329184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2057400" y="3374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D65B1"/>
                </a:solidFill>
                <a:latin typeface="Arial"/>
              </a:rPr>
              <a:t>Офисы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3218688" y="336499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27 697 м²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920240" y="3803904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2057400" y="38862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4D8F78"/>
                </a:solidFill>
                <a:latin typeface="Arial"/>
              </a:rPr>
              <a:t>Паркинг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218688" y="387705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15 594 м²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1920240" y="4315968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2057400" y="4398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A640"/>
                </a:solidFill>
                <a:latin typeface="Arial"/>
              </a:rPr>
              <a:t>Общественные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3218688" y="438912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4 655 м²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20240" y="4828032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2057400" y="49103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0C84B"/>
                </a:solidFill>
                <a:latin typeface="Arial"/>
              </a:rPr>
              <a:t>Торговля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218688" y="490118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1 862 м²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1920240" y="5340096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2057400" y="54223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E6BAA"/>
                </a:solidFill>
                <a:latin typeface="Arial"/>
              </a:rPr>
              <a:t>Технические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218688" y="541324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10 707 м²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512064" y="5577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5" dirty="0">
                <a:solidFill>
                  <a:srgbClr val="7C8796"/>
                </a:solidFill>
                <a:latin typeface="Arial"/>
              </a:rPr>
              <a:t>Количественная модель АПС сформирована по функциональным зонам, а не «руб/м²» одной строкой: плотность извещателей, модулей, кабельного фонда и трудоемкость монтажа меняются в зависимости от типа помещения.</a:t>
            </a:r>
            <a:endParaRPr lang="en-US" sz="855" dirty="0"/>
          </a:p>
        </p:txBody>
      </p:sp>
      <p:sp>
        <p:nvSpPr>
          <p:cNvPr id="74" name="Shape 72"/>
          <p:cNvSpPr/>
          <p:nvPr/>
        </p:nvSpPr>
        <p:spPr>
          <a:xfrm>
            <a:off x="5102352" y="2560320"/>
            <a:ext cx="3712464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5" name="Text 73"/>
          <p:cNvSpPr/>
          <p:nvPr/>
        </p:nvSpPr>
        <p:spPr>
          <a:xfrm>
            <a:off x="5321808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667789"/>
                </a:solidFill>
                <a:latin typeface="Arial"/>
              </a:rPr>
              <a:t>Распределение бюджета</a:t>
            </a:r>
          </a:p>
        </p:txBody>
      </p:sp>
      <p:graphicFrame>
        <p:nvGraphicFramePr>
          <p:cNvPr id="76" name="Chart 0"/>
          <p:cNvGraphicFramePr/>
          <p:nvPr/>
        </p:nvGraphicFramePr>
        <p:xfrm>
          <a:off x="5504688" y="3154680"/>
          <a:ext cx="2240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" name="Text 74"/>
          <p:cNvSpPr/>
          <p:nvPr/>
        </p:nvSpPr>
        <p:spPr>
          <a:xfrm>
            <a:off x="5916168" y="5120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00" b="0">
                <a:solidFill>
                  <a:srgbClr val="223042"/>
                </a:solidFill>
                <a:latin typeface="Arial"/>
              </a:rPr>
              <a:t>Собственный: 106,5 млн ₽ / 1 760 ₽/м²</a:t>
            </a:r>
          </a:p>
          <a:p>
            <a:pPr algn="ctr"/>
            <a:r>
              <a:rPr sz="700" b="0">
                <a:solidFill>
                  <a:srgbClr val="223042"/>
                </a:solidFill>
                <a:latin typeface="Arial"/>
              </a:rPr>
              <a:t>Подрядный: 143,1 млн ₽ / 2 365 ₽/м²</a:t>
            </a:r>
          </a:p>
        </p:txBody>
      </p:sp>
      <p:sp>
        <p:nvSpPr>
          <p:cNvPr id="78" name="Shape 75"/>
          <p:cNvSpPr/>
          <p:nvPr/>
        </p:nvSpPr>
        <p:spPr>
          <a:xfrm>
            <a:off x="9015984" y="2560320"/>
            <a:ext cx="2624328" cy="361188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9" name="Text 76"/>
          <p:cNvSpPr/>
          <p:nvPr/>
        </p:nvSpPr>
        <p:spPr>
          <a:xfrm>
            <a:off x="9217152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985D"/>
                </a:solidFill>
                <a:latin typeface="Arial"/>
              </a:rPr>
              <a:t>Что учтено в модели</a:t>
            </a:r>
            <a:endParaRPr lang="en-US" sz="960" dirty="0"/>
          </a:p>
        </p:txBody>
      </p:sp>
      <p:sp>
        <p:nvSpPr>
          <p:cNvPr id="80" name="Text 77"/>
          <p:cNvSpPr/>
          <p:nvPr/>
        </p:nvSpPr>
        <p:spPr>
          <a:xfrm>
            <a:off x="9217152" y="2971800"/>
            <a:ext cx="2212848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Полная замена полевого уровня и ядра существующей АПС Edwards.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Скрытая прокладка FRLS-линий в действующем офисно-общественном здании.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Формирование импульсов на СПДВ, инженерные системы и сценарии пожарной автоматики.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Частичное использование линейных/специальных извещателей в общественных пространствах.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сценариев взаимодействия.</a:t>
            </a:r>
            <a:endParaRPr lang="en-US" sz="855" dirty="0"/>
          </a:p>
        </p:txBody>
      </p:sp>
      <p:sp>
        <p:nvSpPr>
          <p:cNvPr id="81" name="Shape 78"/>
          <p:cNvSpPr/>
          <p:nvPr/>
        </p:nvSpPr>
        <p:spPr>
          <a:xfrm>
            <a:off x="9217152" y="5193792"/>
            <a:ext cx="2148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2" name="Text 79"/>
          <p:cNvSpPr/>
          <p:nvPr/>
        </p:nvSpPr>
        <p:spPr>
          <a:xfrm>
            <a:off x="9308592" y="526694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Удельный бюджет</a:t>
            </a:r>
          </a:p>
        </p:txBody>
      </p:sp>
      <p:sp>
        <p:nvSpPr>
          <p:cNvPr id="83" name="Text 80"/>
          <p:cNvSpPr/>
          <p:nvPr/>
        </p:nvSpPr>
        <p:spPr>
          <a:xfrm>
            <a:off x="9308592" y="5413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40" b="1">
                <a:solidFill>
                  <a:srgbClr val="223042"/>
                </a:solidFill>
                <a:latin typeface="Arial"/>
              </a:rPr>
              <a:t>Собственный: 1 760 ₽ / м²</a:t>
            </a:r>
          </a:p>
          <a:p>
            <a:pPr algn="l"/>
            <a:r>
              <a:rPr sz="840" b="1">
                <a:solidFill>
                  <a:srgbClr val="223042"/>
                </a:solidFill>
                <a:latin typeface="Arial"/>
              </a:rPr>
              <a:t>Подрядный: 2 365 ₽ / м²</a:t>
            </a:r>
          </a:p>
        </p:txBody>
      </p:sp>
      <p:sp>
        <p:nvSpPr>
          <p:cNvPr id="84" name="Text 8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Смета проектных работ сформирована по предоставленной форме №2П для Кутузовский пр-т, 32, корп. Г (САПС).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672084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Состав и логика расчета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6272784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Смета проектных работ принята по форме №2П из файла «Кутузовский пр-т, 32, корп. Г, САПС».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Базовая позиция — АПС для объекта площадью свыше 21 000–25 000 м²; далее — добавка за площадь свыше 25 000 м².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Учтены стадии ПД 25% и РД 75%; итоговая стоимость с НДС 22% — 2 209 863,67 ₽.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В расчете заданы ценообразующие коэффициенты: скрытая прокладка K1=1,2; управление системами противопожарной защиты K2=1,5; ручные извещатели K3=1,15; линейные/световые извещатели K4=1,2; рабочий проект K5=0,9.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Переход в текущий уровень цен выполнен с коэффициентом Ктек = 53,48.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6291072" cy="2697480"/>
          </a:xfrm>
          <a:prstGeom prst="roundRect">
            <a:avLst>
              <a:gd name="adj" fmla="val 4068"/>
            </a:avLst>
          </a:prstGeom>
          <a:solidFill>
            <a:srgbClr val="FDFEFE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Параметры сметы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Стадии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17320" y="356616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 25% • РД 75%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77240" y="3858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Ктек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53,48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777240" y="41513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K1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17320" y="4151376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скрытая прокладка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" y="44439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417320" y="44439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1,5 • импульсы на СПЗ / инженерные системы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417320" y="47365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1,15 • ручные извещатели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K4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линейные и световые извещатели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777240" y="53218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K5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417320" y="532180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0,9 • рабочий проект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069080" y="32918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Распределение по стадиям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096512" y="3703320"/>
            <a:ext cx="2331720" cy="256032"/>
          </a:xfrm>
          <a:prstGeom prst="roundRect">
            <a:avLst>
              <a:gd name="adj" fmla="val 17857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096512" y="3703320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169664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ПД 25%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РД 75%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096512" y="4224528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187952" y="429768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Основание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4187952" y="444398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303520" y="4224528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394960" y="4297680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Раздел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5394960" y="4443984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САПС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4096512" y="4828032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187952" y="490118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НДС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4187952" y="504748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22%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303520" y="4828032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394960" y="490118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Итог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394960" y="504748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315200" y="841248"/>
            <a:ext cx="452628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7424928" y="914400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  <a:latin typeface="Arial"/>
              </a:rPr>
              <a:t>Итого по проектированию (сметная стоимость)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424928" y="1078992"/>
            <a:ext cx="4306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</a:rPr>
              <a:t>2,2 млн ₽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315200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7406640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ПД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7406640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0,6 млн ₽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8796528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8887968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РД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8887968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1,7 млн ₽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10277856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10369296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С НДС 22%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0369296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учтено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7315200" y="2377440"/>
            <a:ext cx="4526280" cy="3904488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498080" y="25420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Что включает проектирование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498080" y="2788920"/>
            <a:ext cx="3886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ПД/РД по новой адресной системе АПС на отечественной платформе.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Решения по полевому уровню, ППКУП, АРМ, шкафам, линиям связи и интерфейсным модулям.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Сигналы управления СПДВ, инженерными системами и связанными противопожарными сценариями.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Сметная документация и комплект графической/текстовой документации для замены системы.</a:t>
            </a:r>
            <a:endParaRPr lang="en-US" sz="890" dirty="0"/>
          </a:p>
        </p:txBody>
      </p:sp>
      <p:sp>
        <p:nvSpPr>
          <p:cNvPr id="56" name="Text 54"/>
          <p:cNvSpPr/>
          <p:nvPr/>
        </p:nvSpPr>
        <p:spPr>
          <a:xfrm>
            <a:off x="7498080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  <a:latin typeface="Arial"/>
              </a:rPr>
              <a:t>Смета на проектирование вынесена в отдельный блок бюджета и не дублируется в стоимости СМР/ПНР.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7498080" y="47548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FBFA"/>
          </a:solidFill>
          <a:ln w="12700">
            <a:solidFill>
              <a:srgbClr val="E8FB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Shape 56"/>
          <p:cNvSpPr/>
          <p:nvPr/>
        </p:nvSpPr>
        <p:spPr>
          <a:xfrm>
            <a:off x="9326880" y="475488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7635240" y="48828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C3C6"/>
                </a:solidFill>
                <a:latin typeface="Arial"/>
              </a:rPr>
              <a:t>Основание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7635240" y="5047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АПС / САПС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473184" y="48828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D65B1"/>
                </a:solidFill>
                <a:latin typeface="Arial"/>
              </a:rPr>
              <a:t>Экспликация проекта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9473184" y="5047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Скрытая прокладка, интеграция с пожарной автоматикой и ручные извещатели.</a:t>
            </a:r>
            <a:endParaRPr lang="en-US" sz="870" dirty="0"/>
          </a:p>
        </p:txBody>
      </p:sp>
      <p:sp>
        <p:nvSpPr>
          <p:cNvPr id="63" name="Text 6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Автоматическая пожарная сигнализация (АПС)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Базис — Отечественная адресная система «Рубеж R3».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9184" y="868680"/>
            <a:ext cx="653796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Состав оборудования, материалов и работ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2529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Система обеспечивает обнаружение пожара, передачу тревоги, формирование управляющих импульсов на инженерные системы и работу в контуре действующего здания.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Оборудование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ППКУП / сетевые шкафы — 8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Автоматические адресные извещатели — 1 794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Ручные извещатели — 168 шт.; линейные извещатели — 24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Адресные интерфейсные и релейные модули — 240 шт.; РИП/ББП — 36 шт.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Материалы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6217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Кабель КПСнг(А)-FRLS / FRHF — 58 000 м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Коробки и адресные точки подключения — 620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Крепеж, маркировка, огнестойкие проходки, расходные материалы и элементы кабельного хозяйства.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Работы / ПНР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Демонтаж / поэтапная замена существующего полевого уровня и монтаж новой адресной системы.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Прокладка FRLS-линий в действующем здании, оконцевание, адресация, сценарии управления СПДВ и смежными системами.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приемо-сдаточные испытания.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059168" y="868680"/>
            <a:ext cx="4535424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68896" y="94183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Итого по системе (бюджет проекта)</a:t>
            </a:r>
          </a:p>
        </p:txBody>
      </p:sp>
      <p:sp>
        <p:nvSpPr>
          <p:cNvPr id="16" name="Text 14"/>
          <p:cNvSpPr/>
          <p:nvPr/>
        </p:nvSpPr>
        <p:spPr>
          <a:xfrm>
            <a:off x="7168896" y="110642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17" name="Shape 15"/>
          <p:cNvSpPr/>
          <p:nvPr/>
        </p:nvSpPr>
        <p:spPr>
          <a:xfrm>
            <a:off x="7059168" y="1627632"/>
            <a:ext cx="12527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150608" y="1700784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150608" y="184708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439912" y="1627632"/>
            <a:ext cx="116128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531352" y="170078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8531352" y="184708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720072" y="1627632"/>
            <a:ext cx="106070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811512" y="170078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 / ПНР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9811512" y="184708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Собственный: 28,2 млн ₽</a:t>
            </a:r>
          </a:p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Подрядный: 49,5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863072" y="1627632"/>
            <a:ext cx="731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954512" y="17007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Проект.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0954512" y="1847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059168" y="2404872"/>
            <a:ext cx="4535424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269480" y="254203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00" b="0">
                <a:solidFill>
                  <a:srgbClr val="223042"/>
                </a:solidFill>
                <a:latin typeface="Arial"/>
              </a:rPr>
              <a:t>Собственный: обор. 46,0% • матер. 14,9% • работы 36,2% • проект 2,8%</a:t>
            </a:r>
          </a:p>
          <a:p>
            <a:pPr algn="l"/>
            <a:r>
              <a:rPr sz="700" b="0">
                <a:solidFill>
                  <a:srgbClr val="223042"/>
                </a:solidFill>
                <a:latin typeface="Arial"/>
              </a:rPr>
              <a:t>Подрядный: обор. 36,1% • матер. 11,7% • работы 49,9% • проект 2,2%</a:t>
            </a:r>
          </a:p>
        </p:txBody>
      </p:sp>
      <p:sp>
        <p:nvSpPr>
          <p:cNvPr id="31" name="Shape 29"/>
          <p:cNvSpPr/>
          <p:nvPr/>
        </p:nvSpPr>
        <p:spPr>
          <a:xfrm>
            <a:off x="7388352" y="2971800"/>
            <a:ext cx="3611880" cy="128016"/>
          </a:xfrm>
          <a:prstGeom prst="roundRect">
            <a:avLst>
              <a:gd name="adj" fmla="val 28571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7388352" y="2971800"/>
            <a:ext cx="1662666" cy="128016"/>
          </a:xfrm>
          <a:prstGeom prst="roundRect">
            <a:avLst>
              <a:gd name="adj" fmla="val 28571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9051018" y="2971800"/>
            <a:ext cx="538741" cy="128016"/>
          </a:xfrm>
          <a:prstGeom prst="roundRect">
            <a:avLst>
              <a:gd name="adj" fmla="val 28571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9589759" y="2971800"/>
            <a:ext cx="1307840" cy="128016"/>
          </a:xfrm>
          <a:prstGeom prst="roundRect">
            <a:avLst>
              <a:gd name="adj" fmla="val 28571"/>
            </a:avLst>
          </a:prstGeom>
          <a:solidFill>
            <a:srgbClr val="A8ADB7"/>
          </a:solidFill>
          <a:ln w="12700">
            <a:solidFill>
              <a:srgbClr val="A8ADB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10897599" y="2971800"/>
            <a:ext cx="102633" cy="128016"/>
          </a:xfrm>
          <a:prstGeom prst="roundRect">
            <a:avLst>
              <a:gd name="adj" fmla="val 35638"/>
            </a:avLst>
          </a:prstGeom>
          <a:solidFill>
            <a:srgbClr val="F0C84B"/>
          </a:solidFill>
          <a:ln w="12700">
            <a:solidFill>
              <a:srgbClr val="F0C84B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7114032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7168896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1 794 авт. извещателей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168896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дымовые / тепловые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229600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284464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168 ручных ИПР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284464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эвакуационные маршруты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9345168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400032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240 адресных модулей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400032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управление СПДВ / инженеркой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10460736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10515600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8 шкафов / ППКУП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515600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серверная и этажные узлы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7114032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7168896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Кабель 58 000 м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168896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FRLS / FRHF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229600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8284464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0">
                <a:solidFill>
                  <a:srgbClr val="223042"/>
                </a:solidFill>
                <a:latin typeface="Arial"/>
              </a:rPr>
              <a:t>486 / 853 ₽ за 1 м кабеля</a:t>
            </a:r>
          </a:p>
        </p:txBody>
      </p:sp>
      <p:sp>
        <p:nvSpPr>
          <p:cNvPr id="53" name="Text 51"/>
          <p:cNvSpPr/>
          <p:nvPr/>
        </p:nvSpPr>
        <p:spPr>
          <a:xfrm>
            <a:off x="8284464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20" b="0">
                <a:solidFill>
                  <a:srgbClr val="667789"/>
                </a:solidFill>
                <a:latin typeface="Arial"/>
              </a:rPr>
              <a:t>собственный / подрядный</a:t>
            </a:r>
          </a:p>
        </p:txBody>
      </p:sp>
      <p:sp>
        <p:nvSpPr>
          <p:cNvPr id="54" name="Shape 52"/>
          <p:cNvSpPr/>
          <p:nvPr/>
        </p:nvSpPr>
        <p:spPr>
          <a:xfrm>
            <a:off x="9345168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9400032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80" b="0">
                <a:solidFill>
                  <a:srgbClr val="223042"/>
                </a:solidFill>
                <a:latin typeface="Arial"/>
              </a:rPr>
              <a:t>12 423 / 21 797 ₽ за 1 устройство</a:t>
            </a:r>
          </a:p>
        </p:txBody>
      </p:sp>
      <p:sp>
        <p:nvSpPr>
          <p:cNvPr id="56" name="Text 54"/>
          <p:cNvSpPr/>
          <p:nvPr/>
        </p:nvSpPr>
        <p:spPr>
          <a:xfrm>
            <a:off x="9400032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19" b="0">
                <a:solidFill>
                  <a:srgbClr val="223042"/>
                </a:solidFill>
                <a:latin typeface="Arial"/>
              </a:rPr>
              <a:t>монтаж / адресация</a:t>
            </a:r>
          </a:p>
        </p:txBody>
      </p:sp>
      <p:sp>
        <p:nvSpPr>
          <p:cNvPr id="57" name="Shape 55"/>
          <p:cNvSpPr/>
          <p:nvPr/>
        </p:nvSpPr>
        <p:spPr>
          <a:xfrm>
            <a:off x="10460736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10515600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10515600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0" name="Text 58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Результаты предварительного</a:t>
            </a:r>
            <a:endParaRPr lang="en-US" sz="1800" dirty="0"/>
          </a:p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На основании визуального технического осмотра существующей системы АПС Edwards и материалов обследования ГИП.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69080" cy="548640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Выявленные ограничения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6576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На АРМ фиксируются неисправности: потеря приборов, потеря сигнала, часть участков ЗКПС снята с охраны.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Полноценная диагностика невозможна: отсутствуют лицензионный ключ-флешка и специализированное ПО для доступа к ППКУП и АРМ.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В серверной установлены 8 станций ППКУП; по внешнему осмотру работоспособны, но отсутствуют конфигурационные файлы и ЗИП.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Для модулей управления СПДВ, сопутствующими инженерными системами, а также для АУВПТ и контроллеров запорной арматуры отсутствует запас запчастей.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Проектная и исполнительная документация на объекте фактически отсутствует; доступен только неполный электронный комплект рабочих материалов.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3611880"/>
            <a:ext cx="3639312" cy="2084832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13232" y="37673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Вывод ГИП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13232" y="400507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Arial"/>
              </a:rPr>
              <a:t>Легитимное, безаварийное и своевременное техническое обслуживание действующей американской системы APS «Edwards» без ПО, ключа, ЗИП и полного комплекта документации невозможно. Рекомендуется полная замена на отечественного производителя (например, «Болид» или «Рубеж»).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13232" y="5138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7C8796"/>
                </a:solidFill>
                <a:latin typeface="Arial"/>
              </a:rPr>
              <a:t>Дополнительно: на территории РФ отсутствует официальный представитель Edwards, техподдержка и обучение специалистов ограничены; доступные пусконаладчики по системе редки и стоят непропорционально дорого.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53712" y="822960"/>
            <a:ext cx="7296912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3659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Фотофиксация обследования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5" name="Image 0" descr="/mnt/data/9.webp"/>
          <p:cNvPicPr>
            <a:picLocks noChangeAspect="1"/>
          </p:cNvPicPr>
          <p:nvPr/>
        </p:nvPicPr>
        <p:blipFill>
          <a:blip r:embed="rId3"/>
          <a:srcRect l="647" r="647"/>
          <a:stretch/>
        </p:blipFill>
        <p:spPr>
          <a:xfrm>
            <a:off x="4782312" y="1261872"/>
            <a:ext cx="2093976" cy="15910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0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7" name="Image 1" descr="/mnt/data/3.webp"/>
          <p:cNvPicPr>
            <a:picLocks noChangeAspect="1"/>
          </p:cNvPicPr>
          <p:nvPr/>
        </p:nvPicPr>
        <p:blipFill>
          <a:blip r:embed="rId4"/>
          <a:srcRect l="647" r="647"/>
          <a:stretch/>
        </p:blipFill>
        <p:spPr>
          <a:xfrm>
            <a:off x="7068312" y="1261872"/>
            <a:ext cx="2093976" cy="15910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326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9" name="Image 2" descr="/mnt/data/6.webp"/>
          <p:cNvPicPr>
            <a:picLocks noChangeAspect="1"/>
          </p:cNvPicPr>
          <p:nvPr/>
        </p:nvPicPr>
        <p:blipFill>
          <a:blip r:embed="rId5"/>
          <a:srcRect l="647" r="647"/>
          <a:stretch/>
        </p:blipFill>
        <p:spPr>
          <a:xfrm>
            <a:off x="9354312" y="1261872"/>
            <a:ext cx="2093976" cy="15910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54880" y="30632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1" name="Image 3" descr="/mnt/data/7.webp"/>
          <p:cNvPicPr>
            <a:picLocks noChangeAspect="1"/>
          </p:cNvPicPr>
          <p:nvPr/>
        </p:nvPicPr>
        <p:blipFill>
          <a:blip r:embed="rId6"/>
          <a:srcRect t="2436" b="2436"/>
          <a:stretch/>
        </p:blipFill>
        <p:spPr>
          <a:xfrm>
            <a:off x="4782312" y="3090672"/>
            <a:ext cx="3191256" cy="22768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83880" y="30632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3" name="Image 4" descr="/mnt/data/4.webp"/>
          <p:cNvPicPr>
            <a:picLocks noChangeAspect="1"/>
          </p:cNvPicPr>
          <p:nvPr/>
        </p:nvPicPr>
        <p:blipFill>
          <a:blip r:embed="rId7"/>
          <a:srcRect t="23623" b="23623"/>
          <a:stretch/>
        </p:blipFill>
        <p:spPr>
          <a:xfrm>
            <a:off x="8211312" y="3090672"/>
            <a:ext cx="3236976" cy="22768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46320" y="27614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Серверная / шкафы ППКУП</a:t>
            </a:r>
            <a:endParaRPr lang="en-US" sz="740" dirty="0"/>
          </a:p>
        </p:txBody>
      </p:sp>
      <p:sp>
        <p:nvSpPr>
          <p:cNvPr id="25" name="Text 18"/>
          <p:cNvSpPr/>
          <p:nvPr/>
        </p:nvSpPr>
        <p:spPr>
          <a:xfrm>
            <a:off x="7150608" y="27614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Существующие шкафы и модули</a:t>
            </a:r>
            <a:endParaRPr lang="en-US" sz="740" dirty="0"/>
          </a:p>
        </p:txBody>
      </p:sp>
      <p:sp>
        <p:nvSpPr>
          <p:cNvPr id="26" name="Text 19"/>
          <p:cNvSpPr/>
          <p:nvPr/>
        </p:nvSpPr>
        <p:spPr>
          <a:xfrm>
            <a:off x="9528048" y="276148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 АРМ / этажность</a:t>
            </a:r>
            <a:endParaRPr lang="en-US" sz="740" dirty="0"/>
          </a:p>
        </p:txBody>
      </p:sp>
      <p:sp>
        <p:nvSpPr>
          <p:cNvPr id="27" name="Text 20"/>
          <p:cNvSpPr/>
          <p:nvPr/>
        </p:nvSpPr>
        <p:spPr>
          <a:xfrm>
            <a:off x="5715000" y="546811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План-схема этажа</a:t>
            </a:r>
            <a:endParaRPr lang="en-US" sz="740" dirty="0"/>
          </a:p>
        </p:txBody>
      </p:sp>
      <p:sp>
        <p:nvSpPr>
          <p:cNvPr id="28" name="Text 21"/>
          <p:cNvSpPr/>
          <p:nvPr/>
        </p:nvSpPr>
        <p:spPr>
          <a:xfrm>
            <a:off x="9098280" y="546811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Релейные / адресные модули</a:t>
            </a:r>
            <a:endParaRPr lang="en-US" sz="740" dirty="0"/>
          </a:p>
        </p:txBody>
      </p:sp>
      <p:sp>
        <p:nvSpPr>
          <p:cNvPr id="29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30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Общая бюджетная оценка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Оба бюджета включают проектирование, оборудование, материалы и исполнение работ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8503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828800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920240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255264" y="777240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46704" y="8503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3346704" y="9966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10" b="1">
                <a:solidFill>
                  <a:srgbClr val="223042"/>
                </a:solidFill>
                <a:latin typeface="Arial"/>
              </a:rPr>
              <a:t>Собственный: 28,2 млн ₽</a:t>
            </a:r>
          </a:p>
          <a:p>
            <a:pPr algn="l"/>
            <a:r>
              <a:rPr sz="710" b="1">
                <a:solidFill>
                  <a:srgbClr val="223042"/>
                </a:solidFill>
                <a:latin typeface="Arial"/>
              </a:rPr>
              <a:t>Подрядный: 49,5 млн ₽</a:t>
            </a:r>
          </a:p>
        </p:txBody>
      </p:sp>
      <p:sp>
        <p:nvSpPr>
          <p:cNvPr id="14" name="Shape 12"/>
          <p:cNvSpPr/>
          <p:nvPr/>
        </p:nvSpPr>
        <p:spPr>
          <a:xfrm>
            <a:off x="4498848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90288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590288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98932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9904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DCE7F3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9" name="Text 17"/>
          <p:cNvSpPr/>
          <p:nvPr/>
        </p:nvSpPr>
        <p:spPr>
          <a:xfrm>
            <a:off x="609904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763524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74496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4496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106,5 млн ₽</a:t>
            </a:r>
          </a:p>
        </p:txBody>
      </p:sp>
      <p:sp>
        <p:nvSpPr>
          <p:cNvPr id="23" name="Shape 21"/>
          <p:cNvSpPr/>
          <p:nvPr/>
        </p:nvSpPr>
        <p:spPr>
          <a:xfrm>
            <a:off x="928116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39088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39088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143,1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927080" y="7772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1018520" y="850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₽ / м²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101852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80" b="1">
                <a:solidFill>
                  <a:srgbClr val="223042"/>
                </a:solidFill>
                <a:latin typeface="Arial"/>
              </a:rPr>
              <a:t>1 760 / 2 365 ₽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164592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12064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Собственный ресурс</a:t>
            </a:r>
            <a:endParaRPr lang="en-US" sz="96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057400"/>
          <a:ext cx="5394960" cy="246888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Материалы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Базовая стоимость работ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Корректировка работ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13 553 625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ФОТ 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ОПР + 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2 677 592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1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1">
                          <a:solidFill>
                            <a:srgbClr val="223042"/>
                          </a:solidFill>
                          <a:latin typeface="Arial"/>
                        </a:rPr>
                        <a:t>106 526 532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30352" y="4645152"/>
            <a:ext cx="5230368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30352" y="48097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Удельный бюджет: 1 760 ₽ / м²</a:t>
            </a:r>
          </a:p>
        </p:txBody>
      </p:sp>
      <p:sp>
        <p:nvSpPr>
          <p:cNvPr id="34" name="Text 31"/>
          <p:cNvSpPr/>
          <p:nvPr/>
        </p:nvSpPr>
        <p:spPr>
          <a:xfrm>
            <a:off x="530352" y="50474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650" b="0">
                <a:solidFill>
                  <a:srgbClr val="223042"/>
                </a:solidFill>
                <a:latin typeface="Arial"/>
              </a:rPr>
              <a:t>Работы / ПНР:</a:t>
            </a:r>
          </a:p>
          <a:p>
            <a:pPr algn="l"/>
            <a:r>
              <a:rPr sz="650" b="0">
                <a:solidFill>
                  <a:srgbClr val="223042"/>
                </a:solidFill>
                <a:latin typeface="Arial"/>
              </a:rPr>
              <a:t>собственный 28,2 млн ₽</a:t>
            </a:r>
          </a:p>
          <a:p>
            <a:pPr algn="l"/>
            <a:r>
              <a:rPr sz="650" b="0">
                <a:solidFill>
                  <a:srgbClr val="223042"/>
                </a:solidFill>
                <a:latin typeface="Arial"/>
              </a:rPr>
              <a:t>подрядный 49,5 млн ₽</a:t>
            </a:r>
          </a:p>
        </p:txBody>
      </p:sp>
      <p:graphicFrame>
        <p:nvGraphicFramePr>
          <p:cNvPr id="35" name="Chart 0"/>
          <p:cNvGraphicFramePr/>
          <p:nvPr/>
        </p:nvGraphicFramePr>
        <p:xfrm>
          <a:off x="2999232" y="4681728"/>
          <a:ext cx="26060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2"/>
          <p:cNvSpPr/>
          <p:nvPr/>
        </p:nvSpPr>
        <p:spPr>
          <a:xfrm>
            <a:off x="6190488" y="164592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6382512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Подрядный ресурс</a:t>
            </a:r>
            <a:endParaRPr lang="en-US" sz="960" dirty="0"/>
          </a:p>
        </p:txBody>
      </p:sp>
      <p:graphicFrame>
        <p:nvGraphicFramePr>
          <p:cNvPr id="3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57400"/>
          <a:ext cx="5349240" cy="18288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Материалы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ФОТ 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ФОТ +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85 735 945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Инструмент / расходники / СИЗ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4 834 185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0">
                          <a:solidFill>
                            <a:srgbClr val="223042"/>
                          </a:solidFill>
                          <a:latin typeface="Arial"/>
                        </a:rPr>
                        <a:t>23 777 134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1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00" b="1">
                          <a:solidFill>
                            <a:srgbClr val="223042"/>
                          </a:solidFill>
                          <a:latin typeface="Arial"/>
                        </a:rPr>
                        <a:t>143 108 099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6391656" y="4041648"/>
            <a:ext cx="516636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6419088" y="4233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Удельный бюджет: 2 365 ₽ / м²</a:t>
            </a:r>
          </a:p>
        </p:txBody>
      </p:sp>
      <p:sp>
        <p:nvSpPr>
          <p:cNvPr id="41" name="Text 36"/>
          <p:cNvSpPr/>
          <p:nvPr/>
        </p:nvSpPr>
        <p:spPr>
          <a:xfrm>
            <a:off x="6419088" y="44714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dirty="0" b="0">
                <a:solidFill>
                  <a:srgbClr val="667789"/>
                </a:solidFill>
                <a:latin typeface="Arial"/>
              </a:rPr>
              <a:t>Наценки на оборудование и материалы перенесены в рентабельность и не задвоены в отдельных строках.</a:t>
            </a:r>
            <a:endParaRPr lang="en-US" sz="8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6492240" y="4663440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7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4" name="Text 38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2345B"/>
                </a:solidFill>
                <a:latin typeface="Arial"/>
              </a:rPr>
              <a:t>График реализации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0">
                <a:solidFill>
                  <a:srgbClr val="667789"/>
                </a:solidFill>
                <a:latin typeface="Arial"/>
              </a:rPr>
              <a:t>Ориентир по срокам: проектирование, поставка оборудования, СМР, ПНР и сдача АПС в эксплуатацию.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4124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План-график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90779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90779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6616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6616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224528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224528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M3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82896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82896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M4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541264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541264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M5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9963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19963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M6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85800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M7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8368" y="2066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07792" y="199339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58368" y="266090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Закупка и логистика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566160" y="258775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58368" y="325526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Поставка оборудования и материалов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24528" y="318211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7EC9B3"/>
          </a:solidFill>
          <a:ln w="12700">
            <a:solidFill>
              <a:srgbClr val="7EC9B3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58368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Строительно-монтажные работы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24528" y="3776472"/>
            <a:ext cx="2542032" cy="237744"/>
          </a:xfrm>
          <a:prstGeom prst="roundRect">
            <a:avLst>
              <a:gd name="adj" fmla="val 15385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58368" y="44439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Пусконаладочные работы и испытания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1264" y="4370832"/>
            <a:ext cx="1883664" cy="237744"/>
          </a:xfrm>
          <a:prstGeom prst="roundRect">
            <a:avLst>
              <a:gd name="adj" fmla="val 15385"/>
            </a:avLst>
          </a:prstGeom>
          <a:solidFill>
            <a:srgbClr val="7E6BAA"/>
          </a:solidFill>
          <a:ln w="12700">
            <a:solidFill>
              <a:srgbClr val="7E6BAA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58368" y="50383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Сдача и исполнительная документация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858000" y="49651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16A3A7"/>
          </a:solidFill>
          <a:ln w="12700">
            <a:solidFill>
              <a:srgbClr val="16A3A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3639312" y="5650992"/>
            <a:ext cx="4434840" cy="320040"/>
          </a:xfrm>
          <a:prstGeom prst="roundRect">
            <a:avLst>
              <a:gd name="adj" fmla="val 34286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3794760" y="574243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/>
              </a:rPr>
              <a:t>Готовность к сдаче — 7 месяцев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42832" y="822960"/>
            <a:ext cx="2926080" cy="5440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912571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Силы и средства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9162288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— 3 бригады по 5 чел. + 2 ИТР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Ориентир для СМР: 17 чел.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288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ПНР — 4 инженера + 1 ведущий инженер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Ориентир для ПНР: 5 чел.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274320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9326880" y="2889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Ключевые этапы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9308592" y="3127248"/>
            <a:ext cx="1993392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Проектирование — 2 месяца.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Закупка стартует после выпуска основных проектных решений.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выполняются поэтапно, без остановки эксплуатации здания.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ПНР начинается после готовности ядра и полевого уровня по зонам.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Заключительный этап — комплексные испытания и ввод в эксплуатацию.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Допущения при расчетах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Расчет выполнен при ограниченном наборе исходных данных; значения являются предварительной финансовой моделью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233672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47304" y="841248"/>
            <a:ext cx="3721608" cy="5440680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12064" y="1024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3042"/>
                </a:solidFill>
                <a:latin typeface="Arial"/>
              </a:rPr>
              <a:t>Принятые допущения и логика оценки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Расчет выполнен на стадии предварительной бюджетной оценки по защищаемой площади 60 515 м² без полного комплекта исполнительной документации.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Количество оборудования определено по функциональным зонам, этажности, площади, типовым плотностям пожарных извещателей и существующей архитектуре объекта.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В модели учтена замена существующих 8 станций ППКУП и построение нового адресного контура на отечественном оборудовании.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Кабельный фонд принят укрупненно — 58 000 м с учетом скрытой прокладки, межэтажных переходов и резервов на замену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Смета проектирования принята по предоставленной форме №2П, с НДС 22%.</a:t>
            </a:r>
            <a:endParaRPr lang="en-US" sz="875" dirty="0"/>
          </a:p>
        </p:txBody>
      </p:sp>
      <p:sp>
        <p:nvSpPr>
          <p:cNvPr id="10" name="Text 8"/>
          <p:cNvSpPr/>
          <p:nvPr/>
        </p:nvSpPr>
        <p:spPr>
          <a:xfrm>
            <a:off x="4425696" y="1024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Принятые условия работ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3984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Работы выполняются в эксплуатируемом здании с ограничениями доступа.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Часть работ производится в ночные окна и частично в выходные дни.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Скрытая прокладка инженерных коммуникаций и сохранение работающих зон приняты как базовое ограничение.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В учтенные СМР входят монтаж, адресация, сценарии управления и комплексное ПНР.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Итоговые бюджеты собственного и подрядного ресурса рассчитаны по той же методике накладных и рентабельности, что и в исходной презентации-аналоге.</a:t>
            </a:r>
            <a:endParaRPr lang="en-US" sz="875" dirty="0"/>
          </a:p>
        </p:txBody>
      </p:sp>
      <p:sp>
        <p:nvSpPr>
          <p:cNvPr id="12" name="Text 10"/>
          <p:cNvSpPr/>
          <p:nvPr/>
        </p:nvSpPr>
        <p:spPr>
          <a:xfrm>
            <a:off x="8339328" y="1024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Факторы возможного удорожания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57616" y="1298448"/>
            <a:ext cx="32461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архитектуры АПС после доступа к конфигурациям и детальной диагностике существующей системы.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Рост доли скрытых, ночных, высотных и поэтапных работ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количества модулей управления СПДВ, АУВПТ и смежными инженерными системами.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Дополнительные огнестойкие проходки, кабельное хозяйство, усиление креплений и огнезащита.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Изменение вендора, дефицит оборудования, сроки поставки и требования по резервированию.</a:t>
            </a:r>
            <a:endParaRPr lang="en-US" sz="875" dirty="0"/>
          </a:p>
        </p:txBody>
      </p:sp>
      <p:sp>
        <p:nvSpPr>
          <p:cNvPr id="14" name="Shape 12"/>
          <p:cNvSpPr/>
          <p:nvPr/>
        </p:nvSpPr>
        <p:spPr>
          <a:xfrm>
            <a:off x="8339328" y="5120640"/>
            <a:ext cx="3246120" cy="676656"/>
          </a:xfrm>
          <a:prstGeom prst="roundRect">
            <a:avLst>
              <a:gd name="adj" fmla="val 16216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485632" y="52395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534F"/>
                </a:solidFill>
                <a:latin typeface="Arial"/>
              </a:rPr>
              <a:t>Дисклеймер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235440" y="52029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rial"/>
              </a:rPr>
              <a:t>Расчет предназначен для предварительной бюджетной оценки проекта и не заменяет рабочую смету и исполнительное обследование.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PresentationFormat>Широкоэкранный</PresentationFormat>
  <Paragraphs>334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Бюджетная оценка модернизации АПС — Кутузовский проспект, 32 корп. Г</dc:title>
  <dc:subject>АПС — Кутузовский проспект, 32 корп. Г</dc:subject>
  <dc:creator>OpenAI</dc:creator>
  <cp:lastModifiedBy>0 Alexander</cp:lastModifiedBy>
  <cp:revision>2</cp:revision>
  <dcterms:created xsi:type="dcterms:W3CDTF">2026-03-25T12:05:55Z</dcterms:created>
  <dcterms:modified xsi:type="dcterms:W3CDTF">2026-03-25T15:39:25Z</dcterms:modified>
</cp:coreProperties>
</file>