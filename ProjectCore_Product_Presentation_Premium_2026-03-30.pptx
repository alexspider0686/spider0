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530352"/>
            <a:ext cx="5394960" cy="5559552"/>
          </a:xfrm>
          <a:prstGeom prst="roundRect">
            <a:avLst/>
          </a:prstGeom>
          <a:solidFill>
            <a:srgbClr val="0A121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749808"/>
            <a:ext cx="1261872" cy="310896"/>
          </a:xfrm>
          <a:prstGeom prst="roundRect">
            <a:avLst/>
          </a:prstGeom>
          <a:solidFill>
            <a:srgbClr val="0A121F"/>
          </a:solidFill>
          <a:ln w="1270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Титульный лист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12848" y="749808"/>
            <a:ext cx="1664208" cy="310896"/>
          </a:xfrm>
          <a:prstGeom prst="roundRect">
            <a:avLst/>
          </a:prstGeom>
          <a:solidFill>
            <a:srgbClr val="0A121F"/>
          </a:solidFill>
          <a:ln w="12700">
            <a:solidFill>
              <a:srgbClr val="FF8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Сайт + платформа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Project.Core™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4297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Презентация
разрабатываемого продукта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70632"/>
            <a:ext cx="457200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E8EEF5"/>
                </a:solidFill>
                <a:latin typeface="Aptos"/>
              </a:rPr>
              <a:t>Система предварительной бюджетной оценки систем безопасности с современным публичным сайтом и рабочей платформой для расчёта, объяснения результата и подготовки коммерческого предложения.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4315968"/>
            <a:ext cx="1572768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" y="4315968"/>
            <a:ext cx="73152" cy="1005840"/>
          </a:xfrm>
          <a:prstGeom prst="rect">
            <a:avLst/>
          </a:prstGeom>
          <a:solidFill>
            <a:srgbClr val="5A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434840"/>
            <a:ext cx="13533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72133"/>
                </a:solidFill>
                <a:latin typeface="Aptos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88289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37389"/>
                </a:solidFill>
                <a:latin typeface="Aptos"/>
              </a:rPr>
              <a:t>подсистем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42032" y="4315968"/>
            <a:ext cx="1572768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4315968"/>
            <a:ext cx="73152" cy="1005840"/>
          </a:xfrm>
          <a:prstGeom prst="rect">
            <a:avLst/>
          </a:prstGeom>
          <a:solidFill>
            <a:srgbClr val="FF8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06624" y="4434840"/>
            <a:ext cx="13533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72133"/>
                </a:solidFill>
                <a:latin typeface="Aptos"/>
              </a:rPr>
              <a:t>5–10 мин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6624" y="488289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37389"/>
                </a:solidFill>
                <a:latin typeface="Aptos"/>
              </a:rPr>
              <a:t>средняя оценка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4315968"/>
            <a:ext cx="1572768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42816" y="4315968"/>
            <a:ext cx="73152" cy="1005840"/>
          </a:xfrm>
          <a:prstGeom prst="rect">
            <a:avLst/>
          </a:prstGeom>
          <a:solidFill>
            <a:srgbClr val="6FD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7407" y="4434840"/>
            <a:ext cx="13533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72133"/>
                </a:solidFill>
                <a:latin typeface="Aptos"/>
              </a:rPr>
              <a:t>85+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7" y="488289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37389"/>
                </a:solidFill>
                <a:latin typeface="Aptos"/>
              </a:rPr>
              <a:t>субъектов РФ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55664" y="786384"/>
            <a:ext cx="5193792" cy="5532120"/>
          </a:xfrm>
          <a:prstGeom prst="roundRect">
            <a:avLst/>
          </a:prstGeom>
          <a:solidFill>
            <a:srgbClr val="09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82512" y="676656"/>
            <a:ext cx="5193792" cy="5532120"/>
          </a:xfrm>
          <a:prstGeom prst="roundRect">
            <a:avLst/>
          </a:prstGeom>
          <a:solidFill>
            <a:srgbClr val="0A121F"/>
          </a:solidFill>
          <a:ln w="12700">
            <a:solidFill>
              <a:srgbClr val="32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92240" y="841247"/>
            <a:ext cx="4974336" cy="5230368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ite-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859536"/>
            <a:ext cx="4937759" cy="519379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12064" y="6419088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7B5C8"/>
                </a:solidFill>
                <a:latin typeface="Aptos"/>
              </a:rPr>
              <a:t>Project.Core™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92256" y="641908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A7B5C8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48640"/>
            <a:ext cx="53035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72133"/>
                </a:solidFill>
                <a:latin typeface="Aptos"/>
              </a:rPr>
              <a:t>Что представляет собой продукт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7498079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60" b="0">
                <a:solidFill>
                  <a:srgbClr val="637389"/>
                </a:solidFill>
                <a:latin typeface="Aptos"/>
              </a:rPr>
              <a:t>Project.Core™ — это не только интерфейс расчёта, а полноценный продуктовый контур: презентационный сайт, рабочая платформа и дорожная карта вывода на корпоративный и внешний рынок.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27632"/>
            <a:ext cx="21488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27632"/>
            <a:ext cx="73152" cy="1005840"/>
          </a:xfrm>
          <a:prstGeom prst="rect">
            <a:avLst/>
          </a:prstGeom>
          <a:solidFill>
            <a:srgbClr val="4B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746504"/>
            <a:ext cx="19293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72133"/>
                </a:solidFill>
                <a:latin typeface="Aptos"/>
              </a:rPr>
              <a:t>Сайт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194560"/>
            <a:ext cx="19293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37389"/>
                </a:solidFill>
                <a:latin typeface="Aptos"/>
              </a:rPr>
              <a:t>презентация ценности и вход в демо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44368" y="1627632"/>
            <a:ext cx="21488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44368" y="1627632"/>
            <a:ext cx="73152" cy="1005840"/>
          </a:xfrm>
          <a:prstGeom prst="rect">
            <a:avLst/>
          </a:prstGeom>
          <a:solidFill>
            <a:srgbClr val="5A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1746504"/>
            <a:ext cx="19293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72133"/>
                </a:solidFill>
                <a:latin typeface="Aptos"/>
              </a:rPr>
              <a:t>Платформа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194560"/>
            <a:ext cx="19293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37389"/>
                </a:solidFill>
                <a:latin typeface="Aptos"/>
              </a:rPr>
              <a:t>объект, системы, бюджет,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48656" y="1627632"/>
            <a:ext cx="21488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48656" y="1627632"/>
            <a:ext cx="73152" cy="1005840"/>
          </a:xfrm>
          <a:prstGeom prst="rect">
            <a:avLst/>
          </a:prstGeom>
          <a:solidFill>
            <a:srgbClr val="FF8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13248" y="1746504"/>
            <a:ext cx="19293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72133"/>
                </a:solidFill>
                <a:latin typeface="Aptos"/>
              </a:rPr>
              <a:t>СТК / Сбер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3248" y="2194560"/>
            <a:ext cx="19293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37389"/>
                </a:solidFill>
                <a:latin typeface="Aptos"/>
              </a:rPr>
              <a:t>отдельный корпоративный контур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52944" y="1627632"/>
            <a:ext cx="21488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52944" y="1627632"/>
            <a:ext cx="73152" cy="1005840"/>
          </a:xfrm>
          <a:prstGeom prst="rect">
            <a:avLst/>
          </a:prstGeom>
          <a:solidFill>
            <a:srgbClr val="6FD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17536" y="1746504"/>
            <a:ext cx="19293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72133"/>
                </a:solidFill>
                <a:latin typeface="Aptos"/>
              </a:rPr>
              <a:t>SaaS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7536" y="2194560"/>
            <a:ext cx="19293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37389"/>
                </a:solidFill>
                <a:latin typeface="Aptos"/>
              </a:rPr>
              <a:t>продажа доступа на рынок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2852928"/>
            <a:ext cx="5394960" cy="3511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44768" y="2852928"/>
            <a:ext cx="5394960" cy="3511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12724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72133"/>
                </a:solidFill>
                <a:latin typeface="Aptos"/>
              </a:rPr>
              <a:t>Публичный контур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456432"/>
            <a:ext cx="4389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389"/>
                </a:solidFill>
                <a:latin typeface="Aptos"/>
              </a:rPr>
              <a:t>Сайт показывает, почему продукт нужен рынку, как работает методология и за счёт чего обеспечивается доверие к расчёту.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133087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637389"/>
                </a:solidFill>
                <a:latin typeface="Aptos"/>
              </a:rPr>
              <a:t>• hero-экран и позиционирование</a:t>
            </a:r>
          </a:p>
          <a:p>
            <a:pPr algn="l">
              <a:spcAft>
                <a:spcPts val="0"/>
              </a:spcAft>
            </a:pPr>
            <a:r>
              <a:rPr sz="1320" b="0">
                <a:solidFill>
                  <a:srgbClr val="637389"/>
                </a:solidFill>
                <a:latin typeface="Aptos"/>
              </a:rPr>
              <a:t>• объяснение AI-движка</a:t>
            </a:r>
          </a:p>
          <a:p>
            <a:pPr algn="l">
              <a:spcAft>
                <a:spcPts val="0"/>
              </a:spcAft>
            </a:pPr>
            <a:r>
              <a:rPr sz="1320" b="0">
                <a:solidFill>
                  <a:srgbClr val="637389"/>
                </a:solidFill>
                <a:latin typeface="Aptos"/>
              </a:rPr>
              <a:t>• страница «О системе»</a:t>
            </a:r>
          </a:p>
          <a:p>
            <a:pPr algn="l">
              <a:spcAft>
                <a:spcPts val="0"/>
              </a:spcAft>
            </a:pPr>
            <a:r>
              <a:rPr sz="1320" b="0">
                <a:solidFill>
                  <a:srgbClr val="637389"/>
                </a:solidFill>
                <a:latin typeface="Aptos"/>
              </a:rPr>
              <a:t>• legal-контур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12724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72133"/>
                </a:solidFill>
                <a:latin typeface="Aptos"/>
              </a:rPr>
              <a:t>Рабочий контур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456432"/>
            <a:ext cx="4389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389"/>
                </a:solidFill>
                <a:latin typeface="Aptos"/>
              </a:rPr>
              <a:t>Платформа собирает объект, состав систем, бюджеты, AI-риски и формирует материалы для дальнейшей работы с заказчиком.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133087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637389"/>
                </a:solidFill>
                <a:latin typeface="Aptos"/>
              </a:rPr>
              <a:t>• объект и зонирование</a:t>
            </a:r>
          </a:p>
          <a:p>
            <a:pPr algn="l">
              <a:spcAft>
                <a:spcPts val="0"/>
              </a:spcAft>
            </a:pPr>
            <a:r>
              <a:rPr sz="1320" b="0">
                <a:solidFill>
                  <a:srgbClr val="637389"/>
                </a:solidFill>
                <a:latin typeface="Aptos"/>
              </a:rPr>
              <a:t>• системы и спецификация</a:t>
            </a:r>
          </a:p>
          <a:p>
            <a:pPr algn="l">
              <a:spcAft>
                <a:spcPts val="0"/>
              </a:spcAft>
            </a:pPr>
            <a:r>
              <a:rPr sz="1320" b="0">
                <a:solidFill>
                  <a:srgbClr val="637389"/>
                </a:solidFill>
                <a:latin typeface="Aptos"/>
              </a:rPr>
              <a:t>• бюджет и explainability</a:t>
            </a:r>
          </a:p>
          <a:p>
            <a:pPr algn="l">
              <a:spcAft>
                <a:spcPts val="0"/>
              </a:spcAft>
            </a:pPr>
            <a:r>
              <a:rPr sz="1320" b="0">
                <a:solidFill>
                  <a:srgbClr val="637389"/>
                </a:solidFill>
                <a:latin typeface="Aptos"/>
              </a:rPr>
              <a:t>• экспорт ТКП и плана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64992" y="3968496"/>
            <a:ext cx="2331720" cy="2066543"/>
          </a:xfrm>
          <a:prstGeom prst="roundRect">
            <a:avLst/>
          </a:prstGeom>
          <a:solidFill>
            <a:srgbClr val="AAB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291840" y="3858768"/>
            <a:ext cx="2331720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401568" y="4023359"/>
            <a:ext cx="2112263" cy="1764791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site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4041648"/>
            <a:ext cx="2075687" cy="1728215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8302752" y="3968496"/>
            <a:ext cx="2514600" cy="2066543"/>
          </a:xfrm>
          <a:prstGeom prst="roundRect">
            <a:avLst/>
          </a:prstGeom>
          <a:solidFill>
            <a:srgbClr val="AAB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29600" y="3858768"/>
            <a:ext cx="2514600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339327" y="4023359"/>
            <a:ext cx="2295144" cy="1764791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platform-object-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4041648"/>
            <a:ext cx="2258568" cy="172821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12064" y="6419088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637389"/>
                </a:solidFill>
                <a:latin typeface="Aptos"/>
              </a:rPr>
              <a:t>Project.Core™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92256" y="641908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637389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si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3200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Публичный сайт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56692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8EEF5"/>
                </a:solidFill>
                <a:latin typeface="Aptos"/>
              </a:rPr>
              <a:t>Сайт должен выглядеть как современный software-product showcase: быстро объяснять ценность, подтверждать доверие и переводить пользователя в платформу.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664208"/>
            <a:ext cx="4297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8EEF5"/>
                </a:solidFill>
                <a:latin typeface="Aptos"/>
              </a:rPr>
              <a:t>• УТП и CTA на первом экране.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E8EEF5"/>
                </a:solidFill>
                <a:latin typeface="Aptos"/>
              </a:rPr>
              <a:t>• Сравнение с альтернативами рынка.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E8EEF5"/>
                </a:solidFill>
                <a:latin typeface="Aptos"/>
              </a:rPr>
              <a:t>• Пояснение AI-аудита цен и трудозатрат.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E8EEF5"/>
                </a:solidFill>
                <a:latin typeface="Aptos"/>
              </a:rPr>
              <a:t>• Подробное описание системы и правовой контур.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96712" y="859536"/>
            <a:ext cx="5742432" cy="2395728"/>
          </a:xfrm>
          <a:prstGeom prst="roundRect">
            <a:avLst/>
          </a:prstGeom>
          <a:solidFill>
            <a:srgbClr val="09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23560" y="749808"/>
            <a:ext cx="5742432" cy="2395728"/>
          </a:xfrm>
          <a:prstGeom prst="roundRect">
            <a:avLst/>
          </a:prstGeom>
          <a:solidFill>
            <a:srgbClr val="0A121F"/>
          </a:solidFill>
          <a:ln w="12700">
            <a:solidFill>
              <a:srgbClr val="32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33288" y="914400"/>
            <a:ext cx="5522976" cy="2093976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ite-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576" y="932688"/>
            <a:ext cx="5486400" cy="20574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96712" y="3511296"/>
            <a:ext cx="2798064" cy="2651760"/>
          </a:xfrm>
          <a:prstGeom prst="roundRect">
            <a:avLst/>
          </a:prstGeom>
          <a:solidFill>
            <a:srgbClr val="09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23560" y="3401568"/>
            <a:ext cx="2798064" cy="2651760"/>
          </a:xfrm>
          <a:prstGeom prst="roundRect">
            <a:avLst/>
          </a:prstGeom>
          <a:solidFill>
            <a:srgbClr val="0A121F"/>
          </a:solidFill>
          <a:ln w="12700">
            <a:solidFill>
              <a:srgbClr val="32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33288" y="3566160"/>
            <a:ext cx="2578608" cy="2350008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ite-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1576" y="3584448"/>
            <a:ext cx="2542032" cy="231343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723376" y="3511296"/>
            <a:ext cx="2715768" cy="2651760"/>
          </a:xfrm>
          <a:prstGeom prst="roundRect">
            <a:avLst/>
          </a:prstGeom>
          <a:solidFill>
            <a:srgbClr val="09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50224" y="3401568"/>
            <a:ext cx="2715768" cy="2651760"/>
          </a:xfrm>
          <a:prstGeom prst="roundRect">
            <a:avLst/>
          </a:prstGeom>
          <a:solidFill>
            <a:srgbClr val="0A121F"/>
          </a:solidFill>
          <a:ln w="12700">
            <a:solidFill>
              <a:srgbClr val="32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759952" y="3566160"/>
            <a:ext cx="2496312" cy="2350008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ite-ai-eng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3584448"/>
            <a:ext cx="2459736" cy="23134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12064" y="6419088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7B5C8"/>
                </a:solidFill>
                <a:latin typeface="Aptos"/>
              </a:rPr>
              <a:t>Project.Core™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92256" y="641908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A7B5C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3657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72133"/>
                </a:solidFill>
                <a:latin typeface="Aptos"/>
              </a:rPr>
              <a:t>Что уже есть на сайте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50976"/>
            <a:ext cx="6766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40" b="0">
                <a:solidFill>
                  <a:srgbClr val="637389"/>
                </a:solidFill>
                <a:latin typeface="Aptos"/>
              </a:rPr>
              <a:t>Слайды ниже показывают не абстрактные макеты, а реальные блоки текущего проекта: лендинг, AI-контур и подробную страницу о платформе.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1773936"/>
            <a:ext cx="3703320" cy="4462272"/>
          </a:xfrm>
          <a:prstGeom prst="roundRect">
            <a:avLst/>
          </a:prstGeom>
          <a:solidFill>
            <a:srgbClr val="AAB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664208"/>
            <a:ext cx="3703320" cy="4462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3483863" cy="416052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ite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47088"/>
            <a:ext cx="3447287" cy="412394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617720" y="1773936"/>
            <a:ext cx="3703320" cy="4462272"/>
          </a:xfrm>
          <a:prstGeom prst="roundRect">
            <a:avLst/>
          </a:prstGeom>
          <a:solidFill>
            <a:srgbClr val="AAB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44568" y="1664208"/>
            <a:ext cx="3703320" cy="4462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54296" y="1828800"/>
            <a:ext cx="3483863" cy="416052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ite-ai-eng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583" y="1847088"/>
            <a:ext cx="3447287" cy="412394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449056" y="1773936"/>
            <a:ext cx="3127248" cy="4462272"/>
          </a:xfrm>
          <a:prstGeom prst="roundRect">
            <a:avLst/>
          </a:prstGeom>
          <a:solidFill>
            <a:srgbClr val="AAB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75904" y="1664208"/>
            <a:ext cx="3127248" cy="4462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85632" y="1828800"/>
            <a:ext cx="2907791" cy="416052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ite-about-previe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1847088"/>
            <a:ext cx="2871215" cy="4123944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225296" y="6309360"/>
            <a:ext cx="196596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B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B7AFF"/>
                </a:solidFill>
                <a:latin typeface="Aptos"/>
              </a:rPr>
              <a:t>Лендинг и позиционирование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02352" y="6309360"/>
            <a:ext cx="178308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AD6F2"/>
                </a:solidFill>
                <a:latin typeface="Aptos"/>
              </a:rPr>
              <a:t>AI-блок и методология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42832" y="6309360"/>
            <a:ext cx="178308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FD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FD69D"/>
                </a:solidFill>
                <a:latin typeface="Aptos"/>
              </a:rPr>
              <a:t>Страница «О системе»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6419088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7B5C8"/>
                </a:solidFill>
                <a:latin typeface="Aptos"/>
              </a:rPr>
              <a:t>Project.Core™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92256" y="641908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A7B5C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plat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5303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Платформа: рабочие окна интерфейса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65836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8EEF5"/>
                </a:solidFill>
                <a:latin typeface="Aptos"/>
              </a:rPr>
              <a:t>Внутри платформы уже выстроен последовательный рабочий сценарий: от описания объекта до результата, который можно использовать в коммерческой и инженерной работе.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19" y="1810512"/>
            <a:ext cx="5596128" cy="4498848"/>
          </a:xfrm>
          <a:prstGeom prst="roundRect">
            <a:avLst/>
          </a:prstGeom>
          <a:solidFill>
            <a:srgbClr val="09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5596128" cy="4498848"/>
          </a:xfrm>
          <a:prstGeom prst="roundRect">
            <a:avLst/>
          </a:prstGeom>
          <a:solidFill>
            <a:srgbClr val="0A121F"/>
          </a:solidFill>
          <a:ln w="12700">
            <a:solidFill>
              <a:srgbClr val="32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" y="1865376"/>
            <a:ext cx="5376672" cy="4197096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tform-object-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883664"/>
            <a:ext cx="5340096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55664" y="1810512"/>
            <a:ext cx="5138928" cy="4498848"/>
          </a:xfrm>
          <a:prstGeom prst="roundRect">
            <a:avLst/>
          </a:prstGeom>
          <a:solidFill>
            <a:srgbClr val="09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82512" y="1700784"/>
            <a:ext cx="5138928" cy="4498848"/>
          </a:xfrm>
          <a:prstGeom prst="roundRect">
            <a:avLst/>
          </a:prstGeom>
          <a:solidFill>
            <a:srgbClr val="0A121F"/>
          </a:solidFill>
          <a:ln w="12700">
            <a:solidFill>
              <a:srgbClr val="32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0" y="1865376"/>
            <a:ext cx="4919472" cy="4197096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latform-systems-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1883664"/>
            <a:ext cx="4882896" cy="416052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1005840" y="6327648"/>
            <a:ext cx="1417320" cy="310896"/>
          </a:xfrm>
          <a:prstGeom prst="roundRect">
            <a:avLst/>
          </a:prstGeom>
          <a:solidFill>
            <a:srgbClr val="0A121F"/>
          </a:solidFill>
          <a:ln w="1270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Окно «Объект»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6327648"/>
            <a:ext cx="1481328" cy="310896"/>
          </a:xfrm>
          <a:prstGeom prst="roundRect">
            <a:avLst/>
          </a:prstGeom>
          <a:solidFill>
            <a:srgbClr val="0A121F"/>
          </a:solidFill>
          <a:ln w="12700">
            <a:solidFill>
              <a:srgbClr val="FF8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Окно «Системы»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6419088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637389"/>
                </a:solidFill>
                <a:latin typeface="Aptos"/>
              </a:rPr>
              <a:t>Project.Core™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92256" y="641908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637389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platform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4114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Функционал платформы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5394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8EEF5"/>
                </a:solidFill>
                <a:latin typeface="Aptos"/>
              </a:rPr>
              <a:t>Платформа не только считает сумму, но и показывает логику, риски и выходные артефакты проекта.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645920"/>
            <a:ext cx="3017520" cy="4526280"/>
          </a:xfrm>
          <a:prstGeom prst="roundRect">
            <a:avLst/>
          </a:prstGeom>
          <a:solidFill>
            <a:srgbClr val="111F3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2514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0">
                <a:solidFill>
                  <a:srgbClr val="E8EEF5"/>
                </a:solidFill>
                <a:latin typeface="Aptos"/>
              </a:rPr>
              <a:t>• объект, адрес, площадь, этажность, регион</a:t>
            </a:r>
          </a:p>
          <a:p>
            <a:pPr algn="l">
              <a:spcAft>
                <a:spcPts val="0"/>
              </a:spcAft>
            </a:pPr>
            <a:r>
              <a:rPr sz="1420" b="0">
                <a:solidFill>
                  <a:srgbClr val="E8EEF5"/>
                </a:solidFill>
                <a:latin typeface="Aptos"/>
              </a:rPr>
              <a:t>• зоны и шаблоны распределения</a:t>
            </a:r>
          </a:p>
          <a:p>
            <a:pPr algn="l">
              <a:spcAft>
                <a:spcPts val="0"/>
              </a:spcAft>
            </a:pPr>
            <a:r>
              <a:rPr sz="1420" b="0">
                <a:solidFill>
                  <a:srgbClr val="E8EEF5"/>
                </a:solidFill>
                <a:latin typeface="Aptos"/>
              </a:rPr>
              <a:t>• системы, вендоры, PDF APS</a:t>
            </a:r>
          </a:p>
          <a:p>
            <a:pPr algn="l">
              <a:spcAft>
                <a:spcPts val="0"/>
              </a:spcAft>
            </a:pPr>
            <a:r>
              <a:rPr sz="1420" b="0">
                <a:solidFill>
                  <a:srgbClr val="E8EEF5"/>
                </a:solidFill>
                <a:latin typeface="Aptos"/>
              </a:rPr>
              <a:t>• бюджет и коэффициенты</a:t>
            </a:r>
          </a:p>
          <a:p>
            <a:pPr algn="l">
              <a:spcAft>
                <a:spcPts val="0"/>
              </a:spcAft>
            </a:pPr>
            <a:r>
              <a:rPr sz="1420" b="0">
                <a:solidFill>
                  <a:srgbClr val="E8EEF5"/>
                </a:solidFill>
                <a:latin typeface="Aptos"/>
              </a:rPr>
              <a:t>• стоимость проекта</a:t>
            </a:r>
          </a:p>
          <a:p>
            <a:pPr algn="l">
              <a:spcAft>
                <a:spcPts val="0"/>
              </a:spcAft>
            </a:pPr>
            <a:r>
              <a:rPr sz="1420" b="0">
                <a:solidFill>
                  <a:srgbClr val="E8EEF5"/>
                </a:solidFill>
                <a:latin typeface="Aptos"/>
              </a:rPr>
              <a:t>• логика расчёта</a:t>
            </a:r>
          </a:p>
          <a:p>
            <a:pPr algn="l">
              <a:spcAft>
                <a:spcPts val="0"/>
              </a:spcAft>
            </a:pPr>
            <a:r>
              <a:rPr sz="1420" b="0">
                <a:solidFill>
                  <a:srgbClr val="E8EEF5"/>
                </a:solidFill>
                <a:latin typeface="Aptos"/>
              </a:rPr>
              <a:t>• AI-риски проекта</a:t>
            </a:r>
          </a:p>
          <a:p>
            <a:pPr algn="l">
              <a:spcAft>
                <a:spcPts val="0"/>
              </a:spcAft>
            </a:pPr>
            <a:r>
              <a:rPr sz="1420" b="0">
                <a:solidFill>
                  <a:srgbClr val="E8EEF5"/>
                </a:solidFill>
                <a:latin typeface="Aptos"/>
              </a:rPr>
              <a:t>• экспорт ТКП, Excel, план проекта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792224"/>
            <a:ext cx="3611880" cy="1993392"/>
          </a:xfrm>
          <a:prstGeom prst="roundRect">
            <a:avLst/>
          </a:prstGeom>
          <a:solidFill>
            <a:srgbClr val="09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041648" y="1682496"/>
            <a:ext cx="3611880" cy="1993392"/>
          </a:xfrm>
          <a:prstGeom prst="roundRect">
            <a:avLst/>
          </a:prstGeom>
          <a:solidFill>
            <a:srgbClr val="0A121F"/>
          </a:solidFill>
          <a:ln w="12700">
            <a:solidFill>
              <a:srgbClr val="32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51376" y="1847088"/>
            <a:ext cx="3392424" cy="169164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latform-budget-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9663" y="1865376"/>
            <a:ext cx="3355848" cy="165506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900416" y="1792224"/>
            <a:ext cx="3611880" cy="1993392"/>
          </a:xfrm>
          <a:prstGeom prst="roundRect">
            <a:avLst/>
          </a:prstGeom>
          <a:solidFill>
            <a:srgbClr val="09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27264" y="1682496"/>
            <a:ext cx="3611880" cy="1993392"/>
          </a:xfrm>
          <a:prstGeom prst="roundRect">
            <a:avLst/>
          </a:prstGeom>
          <a:solidFill>
            <a:srgbClr val="0A121F"/>
          </a:solidFill>
          <a:ln w="12700">
            <a:solidFill>
              <a:srgbClr val="32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36992" y="1847088"/>
            <a:ext cx="3392424" cy="169164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latform-cost-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1865376"/>
            <a:ext cx="3355848" cy="165506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114800" y="4114800"/>
            <a:ext cx="3611880" cy="1993392"/>
          </a:xfrm>
          <a:prstGeom prst="roundRect">
            <a:avLst/>
          </a:prstGeom>
          <a:solidFill>
            <a:srgbClr val="09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041648" y="4005072"/>
            <a:ext cx="3611880" cy="1993392"/>
          </a:xfrm>
          <a:prstGeom prst="roundRect">
            <a:avLst/>
          </a:prstGeom>
          <a:solidFill>
            <a:srgbClr val="0A121F"/>
          </a:solidFill>
          <a:ln w="12700">
            <a:solidFill>
              <a:srgbClr val="32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151376" y="4169663"/>
            <a:ext cx="3392424" cy="169164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latform-logic-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9663" y="4187952"/>
            <a:ext cx="3355848" cy="1655064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7900416" y="4114800"/>
            <a:ext cx="3611880" cy="1993392"/>
          </a:xfrm>
          <a:prstGeom prst="roundRect">
            <a:avLst/>
          </a:prstGeom>
          <a:solidFill>
            <a:srgbClr val="09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827264" y="4005072"/>
            <a:ext cx="3611880" cy="1993392"/>
          </a:xfrm>
          <a:prstGeom prst="roundRect">
            <a:avLst/>
          </a:prstGeom>
          <a:solidFill>
            <a:srgbClr val="0A121F"/>
          </a:solidFill>
          <a:ln w="12700">
            <a:solidFill>
              <a:srgbClr val="32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36992" y="4169663"/>
            <a:ext cx="3392424" cy="169164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latform-risks-vie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0" y="4187952"/>
            <a:ext cx="3355848" cy="165506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12064" y="6419088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7B5C8"/>
                </a:solidFill>
                <a:latin typeface="Aptos"/>
              </a:rPr>
              <a:t>Project.Core™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92256" y="641908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A7B5C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road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4114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Планы по доработкам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8EEF5"/>
                </a:solidFill>
                <a:latin typeface="Aptos"/>
              </a:rPr>
              <a:t>Следующий этап после завершения процесса написания основного кода.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664208"/>
            <a:ext cx="10588752" cy="987552"/>
          </a:xfrm>
          <a:prstGeom prst="roundRect">
            <a:avLst/>
          </a:prstGeom>
          <a:solidFill>
            <a:srgbClr val="111F33"/>
          </a:solidFill>
          <a:ln w="1270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865376"/>
            <a:ext cx="411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AD6F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1828800"/>
            <a:ext cx="3931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Завершение core-функционала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837944"/>
            <a:ext cx="5303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EEF5"/>
                </a:solidFill>
                <a:latin typeface="Aptos"/>
              </a:rPr>
              <a:t>Стабилизация основного контура сайта и платформы.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2816352"/>
            <a:ext cx="10588752" cy="987552"/>
          </a:xfrm>
          <a:prstGeom prst="roundRect">
            <a:avLst/>
          </a:prstGeom>
          <a:solidFill>
            <a:srgbClr val="111F33"/>
          </a:solidFill>
          <a:ln w="12700">
            <a:solidFill>
              <a:srgbClr val="FF8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017520"/>
            <a:ext cx="411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884A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2980944"/>
            <a:ext cx="3931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Переход на отечественное ПО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990088"/>
            <a:ext cx="5303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EEF5"/>
                </a:solidFill>
                <a:latin typeface="Aptos"/>
              </a:rPr>
              <a:t>Запланирован после завершения основной разработки.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3968496"/>
            <a:ext cx="10588752" cy="987552"/>
          </a:xfrm>
          <a:prstGeom prst="roundRect">
            <a:avLst/>
          </a:prstGeom>
          <a:solidFill>
            <a:srgbClr val="111F33"/>
          </a:solidFill>
          <a:ln w="12700">
            <a:solidFill>
              <a:srgbClr val="6FD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169663"/>
            <a:ext cx="411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FD69D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4133087"/>
            <a:ext cx="3931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Регистрация ТЗ и продукта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4142232"/>
            <a:ext cx="5303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EEF5"/>
                </a:solidFill>
                <a:latin typeface="Aptos"/>
              </a:rPr>
              <a:t>Приведение в соответствие требованиям законодательства РФ.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5120640"/>
            <a:ext cx="10588752" cy="987552"/>
          </a:xfrm>
          <a:prstGeom prst="roundRect">
            <a:avLst/>
          </a:prstGeom>
          <a:solidFill>
            <a:srgbClr val="111F33"/>
          </a:solidFill>
          <a:ln w="12700">
            <a:solidFill>
              <a:srgbClr val="4B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5321807"/>
            <a:ext cx="411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B7A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27632" y="5285231"/>
            <a:ext cx="3931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Корпоративная secure-ветка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5294376"/>
            <a:ext cx="5303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EEF5"/>
                </a:solidFill>
                <a:latin typeface="Aptos"/>
              </a:rPr>
              <a:t>Отдельная доработка для ООО «СТК» (ПАО Сбер).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6419088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7B5C8"/>
                </a:solidFill>
                <a:latin typeface="Aptos"/>
              </a:rPr>
              <a:t>Project.Core™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92256" y="641908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A7B5C8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5669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72133"/>
                </a:solidFill>
                <a:latin typeface="Aptos"/>
              </a:rPr>
              <a:t>Нормативный и технологический контур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50976"/>
            <a:ext cx="7132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40" b="0">
                <a:solidFill>
                  <a:srgbClr val="637389"/>
                </a:solidFill>
                <a:latin typeface="Aptos"/>
              </a:rPr>
              <a:t>Для продукта важны не только функции, но и дальнейшая правовая и технологическая упаковка под требования российского рынка.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" y="1682496"/>
            <a:ext cx="5468112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36208" y="1682496"/>
            <a:ext cx="5248656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993392"/>
            <a:ext cx="3474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72133"/>
                </a:solidFill>
                <a:latin typeface="Aptos"/>
              </a:rPr>
              <a:t>Переход на отечественное ПО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468880"/>
            <a:ext cx="4526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37389"/>
                </a:solidFill>
                <a:latin typeface="Aptos"/>
              </a:rPr>
              <a:t>• Запланирован после завершения процесса написания основного кода.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37389"/>
                </a:solidFill>
                <a:latin typeface="Aptos"/>
              </a:rPr>
              <a:t>• Цель — адаптация продуктового контура под целевой отечественный стек.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37389"/>
                </a:solidFill>
                <a:latin typeface="Aptos"/>
              </a:rPr>
              <a:t>• Переход должен проводиться без потери логики продукта и UX-подачи.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1993392"/>
            <a:ext cx="29260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72133"/>
                </a:solidFill>
                <a:latin typeface="Aptos"/>
              </a:rPr>
              <a:t>Правовая регистрация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468880"/>
            <a:ext cx="4343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37389"/>
                </a:solidFill>
                <a:latin typeface="Aptos"/>
              </a:rPr>
              <a:t>• Регистрация товарного знака.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37389"/>
                </a:solidFill>
                <a:latin typeface="Aptos"/>
              </a:rPr>
              <a:t>• Регистрация самого продукта в соответствии с законодательством РФ.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37389"/>
                </a:solidFill>
                <a:latin typeface="Aptos"/>
              </a:rPr>
              <a:t>• Формирование юридически корректной модели вывода на рынок.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5468112"/>
            <a:ext cx="182880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AD6F2"/>
                </a:solidFill>
                <a:latin typeface="Aptos"/>
              </a:rPr>
              <a:t>Roadmap after core-code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73952" y="5468112"/>
            <a:ext cx="137160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884A"/>
                </a:solidFill>
                <a:latin typeface="Aptos"/>
              </a:rPr>
              <a:t>Legal readiness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6419088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7B5C8"/>
                </a:solidFill>
                <a:latin typeface="Aptos"/>
              </a:rPr>
              <a:t>Project.Core™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92256" y="641908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A7B5C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spl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2926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Два продукта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73152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8EEF5"/>
                </a:solidFill>
                <a:latin typeface="Aptos"/>
              </a:rPr>
              <a:t>Один продукт развивается как корпоративное решение для СТК/ПАО Сбер, второй — как рыночный продукт с доступом к платформе по подписке.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664208"/>
            <a:ext cx="5358384" cy="4535424"/>
          </a:xfrm>
          <a:prstGeom prst="roundRect">
            <a:avLst/>
          </a:prstGeom>
          <a:solidFill>
            <a:srgbClr val="111F33"/>
          </a:solidFill>
          <a:ln w="12700">
            <a:solidFill>
              <a:srgbClr val="FF8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44768" y="1664208"/>
            <a:ext cx="5358384" cy="4535424"/>
          </a:xfrm>
          <a:prstGeom prst="roundRect">
            <a:avLst/>
          </a:prstGeom>
          <a:solidFill>
            <a:srgbClr val="111F33"/>
          </a:solidFill>
          <a:ln w="1270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901952"/>
            <a:ext cx="1024128" cy="310896"/>
          </a:xfrm>
          <a:prstGeom prst="roundRect">
            <a:avLst/>
          </a:prstGeom>
          <a:solidFill>
            <a:srgbClr val="0A121F"/>
          </a:solidFill>
          <a:ln w="12700">
            <a:solidFill>
              <a:srgbClr val="FF8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Продукт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4114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Для ООО «СТК»
(под Генеральное соглашение
с ПАО Сбер)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4343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40" b="0">
                <a:solidFill>
                  <a:srgbClr val="E8EEF5"/>
                </a:solidFill>
                <a:latin typeface="Aptos"/>
              </a:rPr>
              <a:t>• Отдельная разработка под корпоративный контур.</a:t>
            </a:r>
          </a:p>
          <a:p>
            <a:pPr algn="l">
              <a:spcAft>
                <a:spcPts val="0"/>
              </a:spcAft>
            </a:pPr>
            <a:r>
              <a:rPr sz="1440" b="0">
                <a:solidFill>
                  <a:srgbClr val="E8EEF5"/>
                </a:solidFill>
                <a:latin typeface="Aptos"/>
              </a:rPr>
              <a:t>• Приведение в соответствие стандартам по кибербезопасности РФ и ПАО Сбер.</a:t>
            </a:r>
          </a:p>
          <a:p>
            <a:pPr algn="l">
              <a:spcAft>
                <a:spcPts val="0"/>
              </a:spcAft>
            </a:pPr>
            <a:r>
              <a:rPr sz="1440" b="0">
                <a:solidFill>
                  <a:srgbClr val="E8EEF5"/>
                </a:solidFill>
                <a:latin typeface="Aptos"/>
              </a:rPr>
              <a:t>• Отдельная логика внедрения, эксплуатации и сопровождения.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64224" y="1901952"/>
            <a:ext cx="1024128" cy="310896"/>
          </a:xfrm>
          <a:prstGeom prst="roundRect">
            <a:avLst/>
          </a:prstGeom>
          <a:solidFill>
            <a:srgbClr val="0A121F"/>
          </a:solidFill>
          <a:ln w="1270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Продукт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2240280"/>
            <a:ext cx="40690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Для внешнего рынка:
доступ к платформе
как коммерческому сервису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3520440"/>
            <a:ext cx="4343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40" b="0">
                <a:solidFill>
                  <a:srgbClr val="E8EEF5"/>
                </a:solidFill>
                <a:latin typeface="Aptos"/>
              </a:rPr>
              <a:t>• Продажа доступа к платформе в виде подписки.</a:t>
            </a:r>
          </a:p>
          <a:p>
            <a:pPr algn="l">
              <a:spcAft>
                <a:spcPts val="0"/>
              </a:spcAft>
            </a:pPr>
            <a:r>
              <a:rPr sz="1440" b="0">
                <a:solidFill>
                  <a:srgbClr val="E8EEF5"/>
                </a:solidFill>
                <a:latin typeface="Aptos"/>
              </a:rPr>
              <a:t>• Тарифные планы с разным доступом к функционалу.</a:t>
            </a:r>
          </a:p>
          <a:p>
            <a:pPr algn="l">
              <a:spcAft>
                <a:spcPts val="0"/>
              </a:spcAft>
            </a:pPr>
            <a:r>
              <a:rPr sz="1440" b="0">
                <a:solidFill>
                  <a:srgbClr val="E8EEF5"/>
                </a:solidFill>
                <a:latin typeface="Aptos"/>
              </a:rPr>
              <a:t>• Абонентская плата как масштабируемая модель монетизации.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6419088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7B5C8"/>
                </a:solidFill>
                <a:latin typeface="Aptos"/>
              </a:rPr>
              <a:t>Project.Core™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92256" y="641908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A7B5C8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tariff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5852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Модель тарификации для внешнего рынка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6766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8EEF5"/>
                </a:solidFill>
                <a:latin typeface="Aptos"/>
              </a:rPr>
              <a:t>Предварительная продуктовая логика: разные тарифы дают разный объём функционала и, соответственно, разную стоимость доступа.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1700784"/>
            <a:ext cx="2743200" cy="43525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93392"/>
            <a:ext cx="1645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39572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AD6F2"/>
                </a:solidFill>
                <a:latin typeface="Aptos"/>
              </a:rPr>
              <a:t>от 49 000 ₽/мес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999232"/>
            <a:ext cx="2240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60" b="0">
                <a:solidFill>
                  <a:srgbClr val="E8EEF5"/>
                </a:solidFill>
                <a:latin typeface="Aptos"/>
              </a:rPr>
              <a:t>• базовый пресейл</a:t>
            </a:r>
          </a:p>
          <a:p>
            <a:pPr algn="l">
              <a:spcAft>
                <a:spcPts val="0"/>
              </a:spcAft>
            </a:pPr>
            <a:r>
              <a:rPr sz="1360" b="0">
                <a:solidFill>
                  <a:srgbClr val="E8EEF5"/>
                </a:solidFill>
                <a:latin typeface="Aptos"/>
              </a:rPr>
              <a:t>• стандартные выгрузки</a:t>
            </a:r>
          </a:p>
          <a:p>
            <a:pPr algn="l">
              <a:spcAft>
                <a:spcPts val="0"/>
              </a:spcAft>
            </a:pPr>
            <a:r>
              <a:rPr sz="1360" b="0">
                <a:solidFill>
                  <a:srgbClr val="E8EEF5"/>
                </a:solidFill>
                <a:latin typeface="Aptos"/>
              </a:rPr>
              <a:t>• ограниченный объём доступа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" y="5376672"/>
            <a:ext cx="1554480" cy="310896"/>
          </a:xfrm>
          <a:prstGeom prst="roundRect">
            <a:avLst/>
          </a:prstGeom>
          <a:solidFill>
            <a:srgbClr val="0A121F"/>
          </a:solidFill>
          <a:ln w="1270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Абонентская плата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1700784"/>
            <a:ext cx="2743200" cy="43525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9392" y="1993392"/>
            <a:ext cx="1645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9392" y="239572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884A"/>
                </a:solidFill>
                <a:latin typeface="Aptos"/>
              </a:rPr>
              <a:t>от 119 000 ₽/мес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2999232"/>
            <a:ext cx="2240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60" b="0">
                <a:solidFill>
                  <a:srgbClr val="E8EEF5"/>
                </a:solidFill>
                <a:latin typeface="Aptos"/>
              </a:rPr>
              <a:t>• полный расчёт</a:t>
            </a:r>
          </a:p>
          <a:p>
            <a:pPr algn="l">
              <a:spcAft>
                <a:spcPts val="0"/>
              </a:spcAft>
            </a:pPr>
            <a:r>
              <a:rPr sz="1360" b="0">
                <a:solidFill>
                  <a:srgbClr val="E8EEF5"/>
                </a:solidFill>
                <a:latin typeface="Aptos"/>
              </a:rPr>
              <a:t>• AI-модули</a:t>
            </a:r>
          </a:p>
          <a:p>
            <a:pPr algn="l">
              <a:spcAft>
                <a:spcPts val="0"/>
              </a:spcAft>
            </a:pPr>
            <a:r>
              <a:rPr sz="1360" b="0">
                <a:solidFill>
                  <a:srgbClr val="E8EEF5"/>
                </a:solidFill>
                <a:latin typeface="Aptos"/>
              </a:rPr>
              <a:t>• расширенные выходные материалы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9392" y="5376672"/>
            <a:ext cx="1554480" cy="310896"/>
          </a:xfrm>
          <a:prstGeom prst="roundRect">
            <a:avLst/>
          </a:prstGeom>
          <a:solidFill>
            <a:srgbClr val="0A121F"/>
          </a:solidFill>
          <a:ln w="12700">
            <a:solidFill>
              <a:srgbClr val="FF8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Абонентская плата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88352" y="1700784"/>
            <a:ext cx="2743200" cy="43525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FD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71231" y="1993392"/>
            <a:ext cx="1645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Enterprise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1231" y="239572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FD69D"/>
                </a:solidFill>
                <a:latin typeface="Aptos"/>
              </a:rPr>
              <a:t>индивидуально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1231" y="2999232"/>
            <a:ext cx="2240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60" b="0">
                <a:solidFill>
                  <a:srgbClr val="E8EEF5"/>
                </a:solidFill>
                <a:latin typeface="Aptos"/>
              </a:rPr>
              <a:t>• корпоративная конфигурация</a:t>
            </a:r>
          </a:p>
          <a:p>
            <a:pPr algn="l">
              <a:spcAft>
                <a:spcPts val="0"/>
              </a:spcAft>
            </a:pPr>
            <a:r>
              <a:rPr sz="1360" b="0">
                <a:solidFill>
                  <a:srgbClr val="E8EEF5"/>
                </a:solidFill>
                <a:latin typeface="Aptos"/>
              </a:rPr>
              <a:t>• приоритетная поддержка</a:t>
            </a:r>
          </a:p>
          <a:p>
            <a:pPr algn="l">
              <a:spcAft>
                <a:spcPts val="0"/>
              </a:spcAft>
            </a:pPr>
            <a:r>
              <a:rPr sz="1360" b="0">
                <a:solidFill>
                  <a:srgbClr val="E8EEF5"/>
                </a:solidFill>
                <a:latin typeface="Aptos"/>
              </a:rPr>
              <a:t>• интеграции и SLA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71231" y="5376672"/>
            <a:ext cx="1554480" cy="310896"/>
          </a:xfrm>
          <a:prstGeom prst="roundRect">
            <a:avLst/>
          </a:prstGeom>
          <a:solidFill>
            <a:srgbClr val="0A121F"/>
          </a:solidFill>
          <a:ln w="12700">
            <a:solidFill>
              <a:srgbClr val="6FD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Абонентская плата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327648"/>
            <a:ext cx="10515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40" b="0">
                <a:solidFill>
                  <a:srgbClr val="A7B5C8"/>
                </a:solidFill>
                <a:latin typeface="Aptos"/>
              </a:rPr>
              <a:t>Для версии ООО «СТК» (ПАО Сбер) предполагается отдельная договорная модель поставки вне стандартной тарифной линейки.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6419088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7B5C8"/>
                </a:solidFill>
                <a:latin typeface="Aptos"/>
              </a:rPr>
              <a:t>Project.Core™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92256" y="641908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A7B5C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