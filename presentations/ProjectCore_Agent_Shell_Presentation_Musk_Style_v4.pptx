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2331720" cy="329184"/>
          </a:xfrm>
          <a:prstGeom prst="roundRect">
            <a:avLst/>
          </a:prstGeom>
          <a:solidFill>
            <a:srgbClr val="101C2C"/>
          </a:solidFill>
          <a:ln w="12700">
            <a:solidFill>
              <a:srgbClr val="5B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BD6F1"/>
                </a:solidFill>
                <a:latin typeface="Arial"/>
              </a:rPr>
              <a:t>PROJECTCORE AGENT SHELL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17043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Единая рабочая среда
для команды разработки.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60604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EBF1F8"/>
                </a:solidFill>
                <a:latin typeface="Arial"/>
              </a:rPr>
              <a:t>Продукт объединяет сайт, платформу расчёта и инструмент разработчика в одном контуре: понятно для клиента, полезно для команды, готово к развитию.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4901184"/>
            <a:ext cx="2057400" cy="841248"/>
          </a:xfrm>
          <a:prstGeom prst="roundRect">
            <a:avLst/>
          </a:prstGeom>
          <a:solidFill>
            <a:srgbClr val="101C2C"/>
          </a:solidFill>
          <a:ln w="12700">
            <a:solidFill>
              <a:srgbClr val="5B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10235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 слоя продукта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449824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4B2C6"/>
                </a:solidFill>
                <a:latin typeface="Arial"/>
              </a:rPr>
              <a:t>сайт, платформа, dev tool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54096" y="4901184"/>
            <a:ext cx="2057400" cy="841248"/>
          </a:xfrm>
          <a:prstGeom prst="roundRect">
            <a:avLst/>
          </a:prstGeom>
          <a:solidFill>
            <a:srgbClr val="101C2C"/>
          </a:solidFill>
          <a:ln w="12700">
            <a:solidFill>
              <a:srgbClr val="4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510235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 рабочий поток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5449824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4B2C6"/>
                </a:solidFill>
                <a:latin typeface="Arial"/>
              </a:rPr>
              <a:t>контекст, запуск, результат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00800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4B2C6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8" y="658368"/>
            <a:ext cx="1508760" cy="329184"/>
          </a:xfrm>
          <a:prstGeom prst="roundRect">
            <a:avLst/>
          </a:prstGeom>
          <a:solidFill>
            <a:srgbClr val="101C2C"/>
          </a:solidFill>
          <a:ln w="12700">
            <a:solidFill>
              <a:srgbClr val="5B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BD6F1"/>
                </a:solidFill>
                <a:latin typeface="Arial"/>
              </a:rPr>
              <a:t>ПУБЛИЧНЫЙ САЙТ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70432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Сайт объясняет продукт
без участия менеджера.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33172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4B2C6"/>
                </a:solidFill>
                <a:latin typeface="Arial"/>
              </a:rPr>
              <a:t>Он формирует доверие, показывает назначение платформы и даёт понятную точку входа для клиента, партнёра и разработчика.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456432"/>
            <a:ext cx="73152" cy="73152"/>
          </a:xfrm>
          <a:prstGeom prst="rect">
            <a:avLst/>
          </a:prstGeom>
          <a:solidFill>
            <a:srgbClr val="5BD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3383280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1F8"/>
                </a:solidFill>
                <a:latin typeface="Arial"/>
              </a:rPr>
              <a:t>позиционирование продукта и выгоды на первом экране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4005072"/>
            <a:ext cx="73152" cy="73152"/>
          </a:xfrm>
          <a:prstGeom prst="rect">
            <a:avLst/>
          </a:prstGeom>
          <a:solidFill>
            <a:srgbClr val="5BD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931920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1F8"/>
                </a:solidFill>
                <a:latin typeface="Arial"/>
              </a:rPr>
              <a:t>понятное описание системы и сценариев использования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4553712"/>
            <a:ext cx="73152" cy="73152"/>
          </a:xfrm>
          <a:prstGeom prst="rect">
            <a:avLst/>
          </a:prstGeom>
          <a:solidFill>
            <a:srgbClr val="5BD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480559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1F8"/>
                </a:solidFill>
                <a:latin typeface="Arial"/>
              </a:rPr>
              <a:t>отдельный блок с официальной информацией о платформе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877824"/>
            <a:ext cx="5623560" cy="5175504"/>
          </a:xfrm>
          <a:prstGeom prst="rect">
            <a:avLst/>
          </a:prstGeom>
          <a:solidFill>
            <a:srgbClr val="101C2C"/>
          </a:solidFill>
          <a:ln w="12700">
            <a:solidFill>
              <a:srgbClr val="324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79008" y="987552"/>
            <a:ext cx="5404104" cy="4956048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ite-about-preview_top_1_09040590405904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987552"/>
            <a:ext cx="5404104" cy="4956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6400800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4B2C6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8" y="658368"/>
            <a:ext cx="1783080" cy="329184"/>
          </a:xfrm>
          <a:prstGeom prst="roundRect">
            <a:avLst/>
          </a:prstGeom>
          <a:solidFill>
            <a:srgbClr val="101C2C"/>
          </a:solidFill>
          <a:ln w="12700">
            <a:solidFill>
              <a:srgbClr val="4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4A84FF"/>
                </a:solidFill>
                <a:latin typeface="Arial"/>
              </a:rPr>
              <a:t>ПЛАТФОРМА РАСЧЁТА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70432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Главный интерфейс нужно
показывать крупно.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331720"/>
            <a:ext cx="4526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A4B2C6"/>
                </a:solidFill>
                <a:latin typeface="Arial"/>
              </a:rPr>
              <a:t>Здесь пользователь работает с объектом, параметрами, логикой расчёта и структурой бюджета. Поэтому интерфейс должен читаться, а не уменьшаться до превью.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529584"/>
            <a:ext cx="73152" cy="73152"/>
          </a:xfrm>
          <a:prstGeom prst="rect">
            <a:avLst/>
          </a:prstGeom>
          <a:solidFill>
            <a:srgbClr val="4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3456432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1F8"/>
                </a:solidFill>
                <a:latin typeface="Arial"/>
              </a:rPr>
              <a:t>карточка объекта и входные параметры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4078224"/>
            <a:ext cx="73152" cy="73152"/>
          </a:xfrm>
          <a:prstGeom prst="rect">
            <a:avLst/>
          </a:prstGeom>
          <a:solidFill>
            <a:srgbClr val="4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4005072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1F8"/>
                </a:solidFill>
                <a:latin typeface="Arial"/>
              </a:rPr>
              <a:t>визуальная логика формирования оценки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4626864"/>
            <a:ext cx="73152" cy="73152"/>
          </a:xfrm>
          <a:prstGeom prst="rect">
            <a:avLst/>
          </a:prstGeom>
          <a:solidFill>
            <a:srgbClr val="4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553712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1F8"/>
                </a:solidFill>
                <a:latin typeface="Arial"/>
              </a:rPr>
              <a:t>структура бюджета и итоговая стоимость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50992" y="877824"/>
            <a:ext cx="5641848" cy="5175504"/>
          </a:xfrm>
          <a:prstGeom prst="rect">
            <a:avLst/>
          </a:prstGeom>
          <a:solidFill>
            <a:srgbClr val="101C2C"/>
          </a:solidFill>
          <a:ln w="12700">
            <a:solidFill>
              <a:srgbClr val="324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987552"/>
            <a:ext cx="5422392" cy="4956048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latform-object-view_top_1_09409594095940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987552"/>
            <a:ext cx="5422392" cy="4956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6400800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4B2C6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latform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2057400" cy="329184"/>
          </a:xfrm>
          <a:prstGeom prst="roundRect">
            <a:avLst/>
          </a:prstGeom>
          <a:solidFill>
            <a:srgbClr val="101C2C"/>
          </a:solidFill>
          <a:ln w="12700">
            <a:solidFill>
              <a:srgbClr val="78E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78E3B1"/>
                </a:solidFill>
                <a:latin typeface="Arial"/>
              </a:rPr>
              <a:t>ИНСТРУМЕНТ РАЗРАБОТЧИКА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70432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Для команды нужен
не только сайт.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31720"/>
            <a:ext cx="4526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A4B2C6"/>
                </a:solidFill>
                <a:latin typeface="Arial"/>
              </a:rPr>
              <a:t>Нужен рабочий инструмент, в котором разработчик управляет контекстом, выбирает модель, добавляет файлы и доводит задачу до результата.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3529584"/>
            <a:ext cx="73152" cy="73152"/>
          </a:xfrm>
          <a:prstGeom prst="rect">
            <a:avLst/>
          </a:prstGeom>
          <a:solidFill>
            <a:srgbClr val="78E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456432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1F8"/>
                </a:solidFill>
                <a:latin typeface="Arial"/>
              </a:rPr>
              <a:t>выбор GigaChat, Qwen CLI и Qwen API под задачу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4078224"/>
            <a:ext cx="73152" cy="73152"/>
          </a:xfrm>
          <a:prstGeom prst="rect">
            <a:avLst/>
          </a:prstGeom>
          <a:solidFill>
            <a:srgbClr val="78E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4005072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1F8"/>
                </a:solidFill>
                <a:latin typeface="Arial"/>
              </a:rPr>
              <a:t>работа с локальным workspace и вложениями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4626864"/>
            <a:ext cx="73152" cy="73152"/>
          </a:xfrm>
          <a:prstGeom prst="rect">
            <a:avLst/>
          </a:prstGeom>
          <a:solidFill>
            <a:srgbClr val="78E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4553712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1F8"/>
                </a:solidFill>
                <a:latin typeface="Arial"/>
              </a:rPr>
              <a:t>единый контур для prompt → action →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50992" y="877824"/>
            <a:ext cx="5641848" cy="5175504"/>
          </a:xfrm>
          <a:prstGeom prst="rect">
            <a:avLst/>
          </a:prstGeom>
          <a:solidFill>
            <a:srgbClr val="101C2C"/>
          </a:solidFill>
          <a:ln w="12700">
            <a:solidFill>
              <a:srgbClr val="324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987552"/>
            <a:ext cx="5422392" cy="4956048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latform-logic-view_top_1_09409594095940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987552"/>
            <a:ext cx="5422392" cy="4956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" y="6400800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4B2C6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8" y="658368"/>
            <a:ext cx="868680" cy="329184"/>
          </a:xfrm>
          <a:prstGeom prst="roundRect">
            <a:avLst/>
          </a:prstGeom>
          <a:solidFill>
            <a:srgbClr val="101C2C"/>
          </a:solidFill>
          <a:ln w="12700">
            <a:solidFill>
              <a:srgbClr val="FF9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9551"/>
                </a:solidFill>
                <a:latin typeface="Arial"/>
              </a:rPr>
              <a:t>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70432"/>
            <a:ext cx="475488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ProjectCore Agent Shell —
это не набор экранов.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212848"/>
            <a:ext cx="4937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BF1F8"/>
                </a:solidFill>
                <a:latin typeface="Arial"/>
              </a:rPr>
              <a:t>Это цельный продукт для клиента, партнёра и команды разработки.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108960"/>
            <a:ext cx="73152" cy="73152"/>
          </a:xfrm>
          <a:prstGeom prst="rect">
            <a:avLst/>
          </a:prstGeom>
          <a:solidFill>
            <a:srgbClr val="FF9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3035808"/>
            <a:ext cx="4590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BF1F8"/>
                </a:solidFill>
                <a:latin typeface="Arial"/>
              </a:rPr>
              <a:t>сайт объясняет ценность и подтверждает зрелость продукта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3749039"/>
            <a:ext cx="73152" cy="73152"/>
          </a:xfrm>
          <a:prstGeom prst="rect">
            <a:avLst/>
          </a:prstGeom>
          <a:solidFill>
            <a:srgbClr val="FF9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675887"/>
            <a:ext cx="4590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BF1F8"/>
                </a:solidFill>
                <a:latin typeface="Arial"/>
              </a:rPr>
              <a:t>платформа даёт понятный расчёт и рабочий интерфейс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4389120"/>
            <a:ext cx="73152" cy="73152"/>
          </a:xfrm>
          <a:prstGeom prst="rect">
            <a:avLst/>
          </a:prstGeom>
          <a:solidFill>
            <a:srgbClr val="FF9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315968"/>
            <a:ext cx="45902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BF1F8"/>
                </a:solidFill>
                <a:latin typeface="Arial"/>
              </a:rPr>
              <a:t>инструмент разработчика делает систему живой и расширяемой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005840"/>
            <a:ext cx="4892040" cy="2084831"/>
          </a:xfrm>
          <a:prstGeom prst="rect">
            <a:avLst/>
          </a:prstGeom>
          <a:solidFill>
            <a:srgbClr val="101C2C"/>
          </a:solidFill>
          <a:ln w="12700">
            <a:solidFill>
              <a:srgbClr val="324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0528" y="1115568"/>
            <a:ext cx="4672583" cy="1865376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ite-hero_top_2_50490196078431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115568"/>
            <a:ext cx="4672583" cy="186537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400800" y="3511296"/>
            <a:ext cx="4892040" cy="2084831"/>
          </a:xfrm>
          <a:prstGeom prst="rect">
            <a:avLst/>
          </a:prstGeom>
          <a:solidFill>
            <a:srgbClr val="101C2C"/>
          </a:solidFill>
          <a:ln w="12700">
            <a:solidFill>
              <a:srgbClr val="324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0528" y="3621024"/>
            <a:ext cx="4672583" cy="1865376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latform-budget-view_top_2_50490196078431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3621024"/>
            <a:ext cx="4672583" cy="1865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8368" y="6400800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4B2C6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