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202996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PRODUCT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525780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Один интерфейс.
Один агент.
Один рабочий контур.</a:t>
            </a:r>
            <a:endParaRPr sz="27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" y="3273552"/>
            <a:ext cx="4617720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500" b="0" i="0">
                <a:solidFill>
                  <a:srgbClr val="B0BED2"/>
                </a:solidFill>
                <a:latin typeface="Arial"/>
              </a:rPr>
              <a:t>ProjectCore Agent Shell объединяет AI-модели, файлы проекта, вложения, скриншоты и git-сценарии в одном сильном продукте для инженерной команды.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384" y="4983480"/>
            <a:ext cx="2057400" cy="100584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111496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3 модели</a:t>
            </a:r>
            <a:endParaRPr sz="2100" b="1" i="0"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976" y="5550408"/>
            <a:ext cx="1664208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800" b="0" i="0">
                <a:solidFill>
                  <a:srgbClr val="B0BED2"/>
                </a:solidFill>
                <a:latin typeface="Arial"/>
              </a:rPr>
              <a:t>GigaChat, Qwen CLI, Qwen API</a:t>
            </a:r>
            <a:endParaRPr sz="800" b="0" i="0"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99232" y="4983480"/>
            <a:ext cx="2057400" cy="100584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5111496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1 поток</a:t>
            </a:r>
            <a:endParaRPr sz="2100" b="1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63824" y="5550408"/>
            <a:ext cx="1664208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900" b="0" i="0">
                <a:solidFill>
                  <a:srgbClr val="B0BED2"/>
                </a:solidFill>
                <a:latin typeface="Arial"/>
              </a:rPr>
              <a:t>контекст, запуск, результат</a:t>
            </a:r>
            <a:endParaRPr sz="9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900" b="0" i="0">
                <a:solidFill>
                  <a:srgbClr val="D6E0EC"/>
                </a:solidFill>
                <a:latin typeface="Arial"/>
              </a:rPr>
              <a:t>Spider0 | Product presentation</a:t>
            </a:r>
            <a:endParaRPr sz="900" b="0" i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57276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FF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9759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88720"/>
            <a:ext cx="5303520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Не ещё один AI-чат.</a:t>
            </a:r>
            <a:endParaRPr sz="27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713232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А AI-операционная система команды.</a:t>
            </a:r>
            <a:endParaRPr sz="27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" y="2834640"/>
            <a:ext cx="5303520" cy="9692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500" b="0" i="0">
                <a:solidFill>
                  <a:srgbClr val="B0BED2"/>
                </a:solidFill>
                <a:latin typeface="Arial"/>
              </a:rPr>
              <a:t>Смена провайдера, работа с проектом, вложения, промптинг и git больше не расползаются по окнам и утилитам. Всё собрано в одном управляемом интерфейсе.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384" y="461772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78231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Быстрее старт</a:t>
            </a:r>
            <a:endParaRPr sz="1600" b="1" i="0"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9264" y="518464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От задачи до запуска агента без ручной подготовки окружения.</a:t>
            </a:r>
            <a:endParaRPr sz="1100" b="0" i="0"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096512" y="461772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478231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Меньше хаоса</a:t>
            </a:r>
            <a:endParaRPr sz="1600" b="1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79392" y="518464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Файлы, скрины и доступы живут рядом, а не теряются по папкам.</a:t>
            </a:r>
            <a:endParaRPr sz="11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06640" y="461772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478231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Сильнее контроль</a:t>
            </a:r>
            <a:endParaRPr sz="16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19" y="518464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Команда осознанно выбирает модель и git-контур под сценарий.</a:t>
            </a:r>
            <a:endParaRPr sz="11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900" b="0" i="0">
                <a:solidFill>
                  <a:srgbClr val="D6E0EC"/>
                </a:solidFill>
                <a:latin typeface="Arial"/>
              </a:rPr>
              <a:t>Spider0 | Product presentation</a:t>
            </a:r>
            <a:endParaRPr sz="900" b="0" i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40080"/>
            <a:ext cx="138988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REAL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43000"/>
            <a:ext cx="5760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Это уже выглядит как продукт.</a:t>
            </a:r>
            <a:endParaRPr sz="28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65836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600" b="0" i="0">
                <a:solidFill>
                  <a:srgbClr val="B0BED2"/>
                </a:solidFill>
                <a:latin typeface="Arial"/>
              </a:rPr>
              <a:t>Не как админка. Не как прототип. Не как набор скриптов.</a:t>
            </a:r>
            <a:endParaRPr sz="16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9536" y="2350008"/>
            <a:ext cx="5349240" cy="3913632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2240280"/>
            <a:ext cx="5349240" cy="391363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395728"/>
            <a:ext cx="5129783" cy="3621024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153" y="2414016"/>
            <a:ext cx="3857701" cy="35844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28816" y="2286000"/>
            <a:ext cx="4809744" cy="1152144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542032"/>
            <a:ext cx="18288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Публичная подача</a:t>
            </a:r>
            <a:endParaRPr sz="1500" b="1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48272" y="2852928"/>
            <a:ext cx="4224528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С первого экрана понятно, в чём ценность продукта и почему ему можно доверять.</a:t>
            </a:r>
            <a:endParaRPr sz="11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28816" y="3657600"/>
            <a:ext cx="4809744" cy="1152144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3913632"/>
            <a:ext cx="210312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AI-позиционирование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4224528"/>
            <a:ext cx="4279392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Пользователь видит не магию, а понятный AI-движок и сценарий применения.</a:t>
            </a:r>
            <a:endParaRPr sz="1100" b="0" i="0"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28816" y="5029200"/>
            <a:ext cx="4809744" cy="1152144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5285232"/>
            <a:ext cx="22860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Готовность к продаже</a:t>
            </a:r>
            <a:endParaRPr sz="15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48272" y="5596128"/>
            <a:ext cx="4224528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Это уже можно показывать клиенту, партнёру, инвестору и внутренней команде.</a:t>
            </a:r>
            <a:endParaRPr sz="11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900" b="0" i="0">
                <a:solidFill>
                  <a:srgbClr val="D6E0EC"/>
                </a:solidFill>
                <a:latin typeface="Arial"/>
              </a:rPr>
              <a:t>Spider0 | Product presentation</a:t>
            </a:r>
            <a:endParaRPr sz="900" b="0" i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pl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73736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FUNCTIONAL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Что делает продукт сильным</a:t>
            </a:r>
            <a:endParaRPr sz="26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4892040" cy="4572000"/>
          </a:xfrm>
          <a:prstGeom prst="roundRect">
            <a:avLst/>
          </a:prstGeom>
          <a:solidFill>
            <a:srgbClr val="0F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139696"/>
            <a:ext cx="26517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Внутри одного интерфейса:</a:t>
            </a:r>
            <a:endParaRPr sz="14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87552" y="272491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65176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переключение между GigaChat, Qwen OAuth CLI и Qwen API</a:t>
            </a:r>
            <a:endParaRPr sz="14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7552" y="3364991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291839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привязка локальной рабочей папки и просмотр структуры проекта</a:t>
            </a:r>
            <a:endParaRPr sz="14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87552" y="400507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93192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добавление файлов и скриншотов прямо в контекст задачи</a:t>
            </a:r>
            <a:endParaRPr sz="14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87552" y="464515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57200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управление параметрами модели и доступами без ручной рутины</a:t>
            </a:r>
            <a:endParaRPr sz="14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87552" y="528523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21208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переключение git remote между GitHub и GitVerse</a:t>
            </a:r>
            <a:endParaRPr sz="14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87552" y="592531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585216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запуск агента и получение результата в том же окне</a:t>
            </a:r>
            <a:endParaRPr sz="14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629400" y="1993392"/>
            <a:ext cx="4709160" cy="1133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249424"/>
            <a:ext cx="109728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Модели</a:t>
            </a:r>
            <a:endParaRPr sz="1400" b="1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76288" y="2578608"/>
            <a:ext cx="4041648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Команда выбирает нужный интеллект под задачу, бюджет и режим работы.</a:t>
            </a:r>
            <a:endParaRPr sz="1100" b="0" i="0"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629400" y="3401568"/>
            <a:ext cx="4709160" cy="1133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3566160"/>
            <a:ext cx="12801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Контекст</a:t>
            </a:r>
            <a:endParaRPr sz="1400" b="1" i="0"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76288" y="3986784"/>
            <a:ext cx="398678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Промпт, файлы и screenshots соединяются в один цельный сценарий работы.</a:t>
            </a:r>
            <a:endParaRPr sz="11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629400" y="4809744"/>
            <a:ext cx="4709160" cy="1133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882896"/>
            <a:ext cx="2103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Инженерный выход</a:t>
            </a:r>
            <a:endParaRPr sz="1400" b="1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76288" y="5394960"/>
            <a:ext cx="40233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Продукт доводит работу до результата, а не останавливается на красивом диалоге.</a:t>
            </a:r>
            <a:endParaRPr sz="1100" b="0" i="0"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900" b="0" i="0">
                <a:solidFill>
                  <a:srgbClr val="D6E0EC"/>
                </a:solidFill>
                <a:latin typeface="Arial"/>
              </a:rPr>
              <a:t>Spider0 | Product presentation</a:t>
            </a:r>
            <a:endParaRPr sz="900" b="0" i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69164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FF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9759"/>
                </a:solidFill>
                <a:latin typeface="Arial"/>
              </a:rPr>
              <a:t>PRODUCT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6858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Сильная подача строится на реальном интерфейсе.</a:t>
            </a:r>
            <a:endParaRPr sz="20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71323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200" b="0" i="0">
                <a:solidFill>
                  <a:srgbClr val="B0BED2"/>
                </a:solidFill>
                <a:latin typeface="Arial"/>
              </a:rPr>
              <a:t>Поэтому в презентации нужны не абстрактные блоки, а экраны, которые подтверждают зрелость продукта.</a:t>
            </a:r>
            <a:endParaRPr sz="12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9536" y="2414016"/>
            <a:ext cx="3749039" cy="3657600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2304288"/>
            <a:ext cx="3749039" cy="365760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459736"/>
            <a:ext cx="3529583" cy="33649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latform-objec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00273"/>
            <a:ext cx="3493007" cy="24839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663440" y="2414016"/>
            <a:ext cx="2907792" cy="3657600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0288" y="2304288"/>
            <a:ext cx="2907792" cy="365760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0016" y="2459736"/>
            <a:ext cx="2688336" cy="33649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atform-logic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3" y="3199384"/>
            <a:ext cx="2651760" cy="188569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626096" y="2414016"/>
            <a:ext cx="3840480" cy="3657600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52944" y="2304288"/>
            <a:ext cx="3840480" cy="365760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62671" y="2459736"/>
            <a:ext cx="3621024" cy="33649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atform-budget-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867761"/>
            <a:ext cx="3584448" cy="25489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55648" y="6126480"/>
            <a:ext cx="84124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объект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96128" y="6126480"/>
            <a:ext cx="84124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D84FF"/>
                </a:solidFill>
                <a:latin typeface="Arial"/>
              </a:rPr>
              <a:t>логика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6126480"/>
            <a:ext cx="896112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79E6B1"/>
                </a:solidFill>
                <a:latin typeface="Arial"/>
              </a:rPr>
              <a:t>бюджет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900" b="0" i="0">
                <a:solidFill>
                  <a:srgbClr val="D6E0EC"/>
                </a:solidFill>
                <a:latin typeface="Arial"/>
              </a:rPr>
              <a:t>Spider0 | Product presentation</a:t>
            </a:r>
            <a:endParaRPr sz="900" b="0" i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02412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88720"/>
            <a:ext cx="5303520" cy="9692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rial"/>
              </a:rPr>
              <a:t>Рынок уже готов
к такому продукту.</a:t>
            </a:r>
            <a:endParaRPr sz="29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" y="2788920"/>
            <a:ext cx="4754880" cy="8778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500" b="0" i="0">
                <a:solidFill>
                  <a:srgbClr val="B0BED2"/>
                </a:solidFill>
                <a:latin typeface="Arial"/>
              </a:rPr>
              <a:t>AI стал привычным. Но привычным не стал управляемый AI-процесс для команды. ProjectCore Agent Shell закрывает именно этот разрыв.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6384" y="457200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73659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AI есть у всех</a:t>
            </a:r>
            <a:endParaRPr sz="16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" y="513892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Но чаще всего он живёт как отдельный чат, а не как рабочая система.</a:t>
            </a:r>
            <a:endParaRPr sz="11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96512" y="457200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473659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Команды тонут в инструментах</a:t>
            </a:r>
            <a:endParaRPr sz="12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9392" y="513892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Скорость теряется на переключении контекста, а не на сложности задачи.</a:t>
            </a:r>
            <a:endParaRPr sz="11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06640" y="457200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473659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Нужны зрелые интерфейсы</a:t>
            </a:r>
            <a:endParaRPr sz="13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19" y="513892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Побеждает не только модель, а то, как она встроена в реальную работу.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900" b="0" i="0">
                <a:solidFill>
                  <a:srgbClr val="D6E0EC"/>
                </a:solidFill>
                <a:latin typeface="Arial"/>
              </a:rPr>
              <a:t>Spider0 | Product presentation</a:t>
            </a:r>
            <a:endParaRPr sz="900" b="0" i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50876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79E6B1"/>
                </a:solidFill>
                <a:latin typeface="Arial"/>
              </a:rPr>
              <a:t>FINAL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5852160" cy="15727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rial"/>
              </a:rPr>
              <a:t>ProjectCore Agent Shell
выглядит как продукт,
а не как заготовка.</a:t>
            </a:r>
            <a:endParaRPr sz="29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" y="3401568"/>
            <a:ext cx="5257800" cy="8778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500" b="0" i="0">
                <a:solidFill>
                  <a:srgbClr val="B0BED2"/>
                </a:solidFill>
                <a:latin typeface="Arial"/>
              </a:rPr>
              <a:t>Именно так его и нужно показывать: крупно, смело, с реальными экранами и фотофонами, а не с мелкими карточками на пустом фоне.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65392" y="1152144"/>
            <a:ext cx="4754880" cy="4535424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94576" y="1554480"/>
            <a:ext cx="4242816" cy="1700784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21424" y="1444752"/>
            <a:ext cx="4242816" cy="1700784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31152" y="1600200"/>
            <a:ext cx="4023359" cy="140817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te-ai-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740" y="1618488"/>
            <a:ext cx="2116182" cy="1371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94576" y="3493008"/>
            <a:ext cx="4242816" cy="1737360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3383280"/>
            <a:ext cx="4242816" cy="173736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31152" y="3538728"/>
            <a:ext cx="4023359" cy="1444751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ite-about-pre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120" y="3557016"/>
            <a:ext cx="2503424" cy="14081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94576" y="5486400"/>
            <a:ext cx="3986784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1100" b="0" i="0">
                <a:solidFill>
                  <a:srgbClr val="B0BED2"/>
                </a:solidFill>
                <a:latin typeface="Arial"/>
              </a:rPr>
              <a:t>Новая версия презентации собрана в keynote-ритме: сильный тезис, сильный фон, короткий месседж.</a:t>
            </a:r>
            <a:endParaRPr sz="11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noAutofit/>
          </a:bodyPr>
          <a:lstStyle/>
          <a:p>
            <a:pPr algn="l"/>
            <a:r>
              <a:rPr sz="900" b="0" i="0">
                <a:solidFill>
                  <a:srgbClr val="D6E0EC"/>
                </a:solidFill>
                <a:latin typeface="Arial"/>
              </a:rPr>
              <a:t>Spider0 | Product presentation</a:t>
            </a:r>
            <a:endParaRPr sz="900" b="0" i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