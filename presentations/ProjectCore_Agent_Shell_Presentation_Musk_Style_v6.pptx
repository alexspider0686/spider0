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6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133856" cy="329184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5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8D6F5"/>
                </a:solidFill>
                <a:latin typeface="Arial"/>
              </a:rPr>
              <a:t>PROJECTCORE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33856"/>
            <a:ext cx="4572000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Arial"/>
              </a:rPr>
              <a:t>Предварительная бюджетная оценка
систем безопасности за 5–10 минут.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505456"/>
            <a:ext cx="438912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530" b="0">
                <a:solidFill>
                  <a:srgbClr val="E6EDF5"/>
                </a:solidFill>
                <a:latin typeface="Arial"/>
              </a:rPr>
              <a:t>Project.Core объединяет публичный сайт, браузерную платформу расчета и Agent Shell для команды разработки в одном продукте.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3374136"/>
            <a:ext cx="73152" cy="73152"/>
          </a:xfrm>
          <a:prstGeom prst="rect">
            <a:avLst/>
          </a:prstGeom>
          <a:solidFill>
            <a:srgbClr val="58D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310128"/>
            <a:ext cx="436168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E6EDF5"/>
                </a:solidFill>
                <a:latin typeface="Arial"/>
              </a:rPr>
              <a:t>Бюджет по нескольким системам безопасности без Excel-хаоса и недельной подготовки.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3831336"/>
            <a:ext cx="73152" cy="73152"/>
          </a:xfrm>
          <a:prstGeom prst="rect">
            <a:avLst/>
          </a:prstGeom>
          <a:solidFill>
            <a:srgbClr val="58D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767328"/>
            <a:ext cx="436168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E6EDF5"/>
                </a:solidFill>
                <a:latin typeface="Arial"/>
              </a:rPr>
              <a:t>AI-аудит цен, региональный слой по 85+ субъектам РФ и Risk Guard AI для контроля сбалансированности.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4288536"/>
            <a:ext cx="73152" cy="73152"/>
          </a:xfrm>
          <a:prstGeom prst="rect">
            <a:avLst/>
          </a:prstGeom>
          <a:solidFill>
            <a:srgbClr val="58D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224528"/>
            <a:ext cx="436168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E6EDF5"/>
                </a:solidFill>
                <a:latin typeface="Arial"/>
              </a:rPr>
              <a:t>Один продукт для клиента, пресейла, интегратора и команды, которая его развивает.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5230368"/>
            <a:ext cx="1536192" cy="822960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5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394959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Arial"/>
              </a:rPr>
              <a:t>5–10 мин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669279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8B6C9"/>
                </a:solidFill>
                <a:latin typeface="Arial"/>
              </a:rPr>
              <a:t>предварительная оценка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5230368"/>
            <a:ext cx="1536192" cy="822960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4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2616" y="5394959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Arial"/>
              </a:rPr>
              <a:t>85+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6" y="5669279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8B6C9"/>
                </a:solidFill>
                <a:latin typeface="Arial"/>
              </a:rPr>
              <a:t>субъектов РФ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87952" y="5230368"/>
            <a:ext cx="1536192" cy="822960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72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5394959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Arial"/>
              </a:rPr>
              <a:t>Risk Guard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5669279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8B6C9"/>
                </a:solidFill>
                <a:latin typeface="Arial"/>
              </a:rPr>
              <a:t>баланс бюджета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8B6C9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554480" cy="329184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F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9B5C"/>
                </a:solidFill>
                <a:latin typeface="Arial"/>
              </a:rPr>
              <a:t>ПУБЛИЧНЫЙ САЙТ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4343400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Arial"/>
              </a:rPr>
              <a:t>Сайт продает продукт
до первого звонка.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49424"/>
            <a:ext cx="420624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6EDF5"/>
                </a:solidFill>
                <a:latin typeface="Arial"/>
              </a:rPr>
              <a:t>Он объясняет, что именно делает Project.Core, почему расчету можно доверять и где находится официальный вход в платформу.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209544"/>
            <a:ext cx="73152" cy="73152"/>
          </a:xfrm>
          <a:prstGeom prst="rect">
            <a:avLst/>
          </a:prstGeom>
          <a:solidFill>
            <a:srgbClr val="FF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145536"/>
            <a:ext cx="417880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E6EDF5"/>
                </a:solidFill>
                <a:latin typeface="Arial"/>
              </a:rPr>
              <a:t>Фиксирует позиционирование: ранний пресейл, тендер, внутренняя технико-экономическая оценка.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721608"/>
            <a:ext cx="73152" cy="73152"/>
          </a:xfrm>
          <a:prstGeom prst="rect">
            <a:avLst/>
          </a:prstGeom>
          <a:solidFill>
            <a:srgbClr val="FF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657600"/>
            <a:ext cx="417880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E6EDF5"/>
                </a:solidFill>
                <a:latin typeface="Arial"/>
              </a:rPr>
              <a:t>Показывает ценность платформы: состав систем, AI-аудит цен, Risk Guard AI и логику бюджета.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233672"/>
            <a:ext cx="73152" cy="73152"/>
          </a:xfrm>
          <a:prstGeom prst="rect">
            <a:avLst/>
          </a:prstGeom>
          <a:solidFill>
            <a:srgbClr val="FF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169664"/>
            <a:ext cx="417880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E6EDF5"/>
                </a:solidFill>
                <a:latin typeface="Arial"/>
              </a:rPr>
              <a:t>Создает доверие: описание системы, правовая информация и явная точка входа для клиента и партнера.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58384" y="841248"/>
            <a:ext cx="5989320" cy="5376672"/>
          </a:xfrm>
          <a:prstGeom prst="roundRect">
            <a:avLst/>
          </a:prstGeom>
          <a:solidFill>
            <a:srgbClr val="111D2D"/>
          </a:solidFill>
          <a:ln w="15240">
            <a:solidFill>
              <a:srgbClr val="F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969264"/>
            <a:ext cx="5733288" cy="512064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ite-about-pre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17096"/>
            <a:ext cx="5733288" cy="32249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6400800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8B6C9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810512" cy="329184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4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B87FF"/>
                </a:solidFill>
                <a:latin typeface="Arial"/>
              </a:rPr>
              <a:t>ПЛАТФОРМА РАСЧЕТА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15568"/>
            <a:ext cx="4736592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C"/>
                </a:solidFill>
                <a:latin typeface="Arial"/>
              </a:rPr>
              <a:t>Платформа собирает не просто сумму,
а объяснимый бюджет по объекту.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4288"/>
            <a:ext cx="448056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6EDF5"/>
                </a:solidFill>
                <a:latin typeface="Arial"/>
              </a:rPr>
              <a:t>Project.Core заменяет хаотичный ручной расчет управляемым цифровым процессом: объект, зоны, системы, обследование, проектирование, бюджет и логика расчета связаны в одну модель.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429000"/>
            <a:ext cx="73152" cy="73152"/>
          </a:xfrm>
          <a:prstGeom prst="rect">
            <a:avLst/>
          </a:prstGeom>
          <a:solidFill>
            <a:srgbClr val="4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364992"/>
            <a:ext cx="43342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E6EDF5"/>
                </a:solidFill>
                <a:latin typeface="Arial"/>
              </a:rPr>
              <a:t>Карточка объекта, структура зон и выбор состава систем формируют инженерный контур расчета.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22776"/>
            <a:ext cx="73152" cy="73152"/>
          </a:xfrm>
          <a:prstGeom prst="rect">
            <a:avLst/>
          </a:prstGeom>
          <a:solidFill>
            <a:srgbClr val="4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858768"/>
            <a:ext cx="43342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E6EDF5"/>
                </a:solidFill>
                <a:latin typeface="Arial"/>
              </a:rPr>
              <a:t>AI-аудит цен, рыночная верификация и защитные коэффициенты удерживают бюджет в рабочем диапазоне.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416552"/>
            <a:ext cx="73152" cy="73152"/>
          </a:xfrm>
          <a:prstGeom prst="rect">
            <a:avLst/>
          </a:prstGeom>
          <a:solidFill>
            <a:srgbClr val="4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352544"/>
            <a:ext cx="43342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E6EDF5"/>
                </a:solidFill>
                <a:latin typeface="Arial"/>
              </a:rPr>
              <a:t>Пользователь видит, из чего собрана сумма: объемы, единичные расценки, коэффициенты, AI-проверки и ограничения.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31536" y="859536"/>
            <a:ext cx="5888736" cy="5449824"/>
          </a:xfrm>
          <a:prstGeom prst="roundRect">
            <a:avLst/>
          </a:prstGeom>
          <a:solidFill>
            <a:srgbClr val="111D2D"/>
          </a:solidFill>
          <a:ln w="15240">
            <a:solidFill>
              <a:srgbClr val="4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59552" y="987552"/>
            <a:ext cx="5632704" cy="5193792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tform-objec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581708"/>
            <a:ext cx="5632704" cy="400547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6400800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8B6C9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58368"/>
            <a:ext cx="1298448" cy="329184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72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72E2B1"/>
                </a:solidFill>
                <a:latin typeface="Arial"/>
              </a:rPr>
              <a:t>AGENT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452628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C"/>
                </a:solidFill>
                <a:latin typeface="Arial"/>
              </a:rPr>
              <a:t>Инструмент разработчика держит
модель, код и задачу в одном окне.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67712"/>
            <a:ext cx="4462272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E6EDF5"/>
                </a:solidFill>
                <a:latin typeface="Arial"/>
              </a:rPr>
              <a:t>Agent Shell — это рабочая среда команды: выбор AI-провайдера, подключение локального workspace, работа с GitHub и GitVerse, вложения файлов и запуск задачи без переключения между разными инструментами.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465576"/>
            <a:ext cx="73152" cy="73152"/>
          </a:xfrm>
          <a:prstGeom prst="rect">
            <a:avLst/>
          </a:prstGeom>
          <a:solidFill>
            <a:srgbClr val="72E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401568"/>
            <a:ext cx="427939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5"/>
                </a:solidFill>
                <a:latin typeface="Arial"/>
              </a:rPr>
              <a:t>Поддерживает сценарий Qwen OAuth CLI, Qwen API и другие рабочие контуры без потери контекста.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3941064"/>
            <a:ext cx="73152" cy="73152"/>
          </a:xfrm>
          <a:prstGeom prst="rect">
            <a:avLst/>
          </a:prstGeom>
          <a:solidFill>
            <a:srgbClr val="72E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877056"/>
            <a:ext cx="427939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5"/>
                </a:solidFill>
                <a:latin typeface="Arial"/>
              </a:rPr>
              <a:t>Дает разработчику прямой доступ к локальной папке проекта, remote и режиму выполнения задачи.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4416552"/>
            <a:ext cx="73152" cy="73152"/>
          </a:xfrm>
          <a:prstGeom prst="rect">
            <a:avLst/>
          </a:prstGeom>
          <a:solidFill>
            <a:srgbClr val="72E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352544"/>
            <a:ext cx="427939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6EDF5"/>
                </a:solidFill>
                <a:latin typeface="Arial"/>
              </a:rPr>
              <a:t>Ускоряет доработку продукта: экран продукта, кодовая база и AI-исполнитель работают рядом.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841248"/>
            <a:ext cx="5925312" cy="5468112"/>
          </a:xfrm>
          <a:prstGeom prst="roundRect">
            <a:avLst/>
          </a:prstGeom>
          <a:solidFill>
            <a:srgbClr val="111D2D"/>
          </a:solidFill>
          <a:ln w="1524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22976" y="950976"/>
            <a:ext cx="5705856" cy="29260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005840"/>
            <a:ext cx="228600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82E3A"/>
                </a:solidFill>
                <a:latin typeface="Arial"/>
              </a:rPr>
              <a:t>ProjectCore Agent Shell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2976" y="1280160"/>
            <a:ext cx="1463040" cy="4919472"/>
          </a:xfrm>
          <a:prstGeom prst="roundRect">
            <a:avLst/>
          </a:prstGeom>
          <a:solidFill>
            <a:srgbClr val="1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32704" y="1408176"/>
            <a:ext cx="749808" cy="329184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5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8D6F5"/>
                </a:solidFill>
                <a:latin typeface="Arial"/>
              </a:rPr>
              <a:t>LOCAL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4" y="1591056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ProjectCore Agent 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1847088"/>
            <a:ext cx="1078992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8B6C9"/>
                </a:solidFill>
                <a:latin typeface="Arial"/>
              </a:rPr>
              <a:t>Среда для работы с AI, локальной папкой проекта и git-remote в одном окне.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32704" y="2414016"/>
            <a:ext cx="1170432" cy="749808"/>
          </a:xfrm>
          <a:prstGeom prst="roundRect">
            <a:avLst/>
          </a:prstGeom>
          <a:solidFill>
            <a:srgbClr val="162539"/>
          </a:solidFill>
          <a:ln w="12700">
            <a:solidFill>
              <a:srgbClr val="2C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2487168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8FAFC"/>
                </a:solidFill>
                <a:latin typeface="Arial"/>
              </a:rPr>
              <a:t>Модель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87568" y="2670048"/>
            <a:ext cx="914400" cy="1463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36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2697479"/>
            <a:ext cx="80467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Qwen OAuth (CLI)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87568" y="2852928"/>
            <a:ext cx="914400" cy="1463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36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2880360"/>
            <a:ext cx="80467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qwen3-coder-plus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32704" y="3273552"/>
            <a:ext cx="1170432" cy="749808"/>
          </a:xfrm>
          <a:prstGeom prst="roundRect">
            <a:avLst/>
          </a:prstGeom>
          <a:solidFill>
            <a:srgbClr val="162539"/>
          </a:solidFill>
          <a:ln w="12700">
            <a:solidFill>
              <a:srgbClr val="2C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3346704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8FAFC"/>
                </a:solidFill>
                <a:latin typeface="Arial"/>
              </a:rPr>
              <a:t>Workspace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87568" y="3529584"/>
            <a:ext cx="914400" cy="1463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36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2432" y="3557016"/>
            <a:ext cx="80467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C:\project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87568" y="3712464"/>
            <a:ext cx="914400" cy="1463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36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3739896"/>
            <a:ext cx="80467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Выбрать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2704" y="4133088"/>
            <a:ext cx="1170432" cy="749808"/>
          </a:xfrm>
          <a:prstGeom prst="roundRect">
            <a:avLst/>
          </a:prstGeom>
          <a:solidFill>
            <a:srgbClr val="162539"/>
          </a:solidFill>
          <a:ln w="12700">
            <a:solidFill>
              <a:srgbClr val="2C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87568" y="4206240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8FAFC"/>
                </a:solidFill>
                <a:latin typeface="Arial"/>
              </a:rPr>
              <a:t>Git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87568" y="4389120"/>
            <a:ext cx="914400" cy="1463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36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2432" y="4416552"/>
            <a:ext cx="80467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GitHub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87568" y="4572000"/>
            <a:ext cx="914400" cy="1463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36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42432" y="4599432"/>
            <a:ext cx="80467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GitVerse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87568" y="4754880"/>
            <a:ext cx="914400" cy="1463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36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42432" y="4782312"/>
            <a:ext cx="80467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Переключить remote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32704" y="5157216"/>
            <a:ext cx="1170432" cy="749808"/>
          </a:xfrm>
          <a:prstGeom prst="roundRect">
            <a:avLst/>
          </a:prstGeom>
          <a:solidFill>
            <a:srgbClr val="162539"/>
          </a:solidFill>
          <a:ln w="12700">
            <a:solidFill>
              <a:srgbClr val="2C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87568" y="5230368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8FAFC"/>
                </a:solidFill>
                <a:latin typeface="Arial"/>
              </a:rPr>
              <a:t>Доступы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87568" y="5413248"/>
            <a:ext cx="914400" cy="1463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36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42432" y="5440680"/>
            <a:ext cx="80467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qwen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87568" y="5596128"/>
            <a:ext cx="914400" cy="146304"/>
          </a:xfrm>
          <a:prstGeom prst="roundRect">
            <a:avLst/>
          </a:prstGeom>
          <a:solidFill>
            <a:srgbClr val="0E1725"/>
          </a:solidFill>
          <a:ln w="12700">
            <a:solidFill>
              <a:srgbClr val="364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42432" y="5623560"/>
            <a:ext cx="80467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auto-edit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96912" y="1408176"/>
            <a:ext cx="841248" cy="329184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5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8D6F5"/>
                </a:solidFill>
                <a:latin typeface="Arial"/>
              </a:rPr>
              <a:t>AGENT CONSOLE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96912" y="162763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C"/>
                </a:solidFill>
                <a:latin typeface="Arial"/>
              </a:rPr>
              <a:t>Codex-style интерфейс для Qwen OAuth (CLI)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79024" y="1408176"/>
            <a:ext cx="603504" cy="310896"/>
          </a:xfrm>
          <a:prstGeom prst="roundRect">
            <a:avLst/>
          </a:prstGeom>
          <a:solidFill>
            <a:srgbClr val="184644"/>
          </a:solidFill>
          <a:ln w="12700">
            <a:solidFill>
              <a:srgbClr val="4CC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52176" y="1508760"/>
            <a:ext cx="475488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A4F5DE"/>
                </a:solidFill>
                <a:latin typeface="Arial"/>
              </a:rPr>
              <a:t>Готов к работе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96912" y="1920240"/>
            <a:ext cx="3785616" cy="822960"/>
          </a:xfrm>
          <a:prstGeom prst="roundRect">
            <a:avLst/>
          </a:prstGeom>
          <a:solidFill>
            <a:srgbClr val="111C2B"/>
          </a:solidFill>
          <a:ln w="12700">
            <a:solidFill>
              <a:srgbClr val="26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70064" y="2011680"/>
            <a:ext cx="566928" cy="329184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5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8D6F5"/>
                </a:solidFill>
                <a:latin typeface="Arial"/>
              </a:rPr>
              <a:t>СИСТЕМА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70064" y="2231136"/>
            <a:ext cx="351129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E6EDF5"/>
                </a:solidFill>
                <a:latin typeface="Arial"/>
              </a:rPr>
              <a:t>Один интерфейс для выбора модели, подключения локальной папки, вложения файлов и запуска задачи в рабочем контуре команды.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70064" y="2450592"/>
            <a:ext cx="351129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A8B6C9"/>
                </a:solidFill>
                <a:latin typeface="Arial"/>
              </a:rPr>
              <a:t>Без переключения между CLI, чатом, файловым менеджером и настройками remote.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6912" y="2834640"/>
            <a:ext cx="3785616" cy="2578608"/>
          </a:xfrm>
          <a:prstGeom prst="roundRect">
            <a:avLst/>
          </a:prstGeom>
          <a:solidFill>
            <a:srgbClr val="0A111C"/>
          </a:solidFill>
          <a:ln w="12700">
            <a:solidFill>
              <a:srgbClr val="1C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3216" y="2980944"/>
            <a:ext cx="16459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8B6C9"/>
                </a:solidFill>
                <a:latin typeface="Arial"/>
              </a:rPr>
              <a:t>Рабочая область задачи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43216" y="3182112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7C8CA2"/>
                </a:solidFill>
                <a:latin typeface="Arial"/>
              </a:rPr>
              <a:t>Здесь команда ведет диалог с агентом и получает результат по проекту.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6912" y="5504688"/>
            <a:ext cx="237744" cy="713232"/>
          </a:xfrm>
          <a:prstGeom prst="roundRect">
            <a:avLst/>
          </a:prstGeom>
          <a:solidFill>
            <a:srgbClr val="223044"/>
          </a:solidFill>
          <a:ln w="1270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0064" y="5751576"/>
            <a:ext cx="7315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6EDF5"/>
                </a:solidFill>
                <a:latin typeface="Arial"/>
              </a:rPr>
              <a:t>+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89520" y="5504688"/>
            <a:ext cx="2889504" cy="713232"/>
          </a:xfrm>
          <a:prstGeom prst="roundRect">
            <a:avLst/>
          </a:prstGeom>
          <a:solidFill>
            <a:srgbClr val="0C1420"/>
          </a:solidFill>
          <a:ln w="12700">
            <a:solidFill>
              <a:srgbClr val="25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54112" y="5760720"/>
            <a:ext cx="356616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7D8BA0"/>
                </a:solidFill>
                <a:latin typeface="Arial"/>
              </a:rPr>
              <a:t>Опиши задачу простыми словами или добавь скриншот через Ctrl+V.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168128" y="6327648"/>
            <a:ext cx="749808" cy="310896"/>
          </a:xfrm>
          <a:prstGeom prst="roundRect">
            <a:avLst/>
          </a:prstGeom>
          <a:solidFill>
            <a:srgbClr val="27364C"/>
          </a:solidFill>
          <a:ln w="1270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05288" y="6428232"/>
            <a:ext cx="51206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E6EDF5"/>
                </a:solidFill>
                <a:latin typeface="Arial"/>
              </a:rPr>
              <a:t>Показать файлы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972800" y="6327648"/>
            <a:ext cx="804672" cy="310896"/>
          </a:xfrm>
          <a:prstGeom prst="roundRect">
            <a:avLst/>
          </a:prstGeom>
          <a:solidFill>
            <a:srgbClr val="3CA0FF"/>
          </a:solidFill>
          <a:ln w="12700">
            <a:solidFill>
              <a:srgbClr val="6D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00816" y="6428232"/>
            <a:ext cx="566928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50B14"/>
                </a:solidFill>
                <a:latin typeface="Arial"/>
              </a:rPr>
              <a:t>Выполнить задачу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400800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8B6C9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e-ai-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901952" cy="329184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5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8D6F5"/>
                </a:solidFill>
                <a:latin typeface="Arial"/>
              </a:rPr>
              <a:t>ФИНАЛЬНОЕ СООБЩЕНИЕ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33856"/>
            <a:ext cx="411480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Arial"/>
              </a:rPr>
              <a:t>Один продукт.
Три сильных слоя ценности.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860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6EDF5"/>
                </a:solidFill>
                <a:latin typeface="Arial"/>
              </a:rPr>
              <a:t>Сайт объясняет ценность, платформа формирует защищаемый бюджет, Agent Shell ускоряет развитие самого продукта.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3127248"/>
            <a:ext cx="1737360" cy="1042415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5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364992"/>
            <a:ext cx="7315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rial"/>
              </a:rPr>
              <a:t>Сайт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6393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A8B6C9"/>
                </a:solidFill>
                <a:latin typeface="Arial"/>
              </a:rPr>
              <a:t>Продает и объясняет
продукт.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3127248"/>
            <a:ext cx="1737360" cy="1042415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4B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3364992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rial"/>
              </a:rPr>
              <a:t>Платформа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393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A8B6C9"/>
                </a:solidFill>
                <a:latin typeface="Arial"/>
              </a:rPr>
              <a:t>Считает и объясняет
бюджет.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127248"/>
            <a:ext cx="1737360" cy="1042415"/>
          </a:xfrm>
          <a:prstGeom prst="roundRect">
            <a:avLst/>
          </a:prstGeom>
          <a:solidFill>
            <a:srgbClr val="111D2D"/>
          </a:solidFill>
          <a:ln w="12700">
            <a:solidFill>
              <a:srgbClr val="72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3364992"/>
            <a:ext cx="1051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rial"/>
              </a:rPr>
              <a:t>Agent Shell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639312"/>
            <a:ext cx="117043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A8B6C9"/>
                </a:solidFill>
                <a:latin typeface="Arial"/>
              </a:rPr>
              <a:t>Развивает продукт
в рабочем ритме.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4848" y="1078992"/>
            <a:ext cx="4572000" cy="4480560"/>
          </a:xfrm>
          <a:prstGeom prst="roundRect">
            <a:avLst/>
          </a:prstGeom>
          <a:solidFill>
            <a:srgbClr val="111D2D"/>
          </a:solidFill>
          <a:ln w="15240">
            <a:solidFill>
              <a:srgbClr val="5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12864" y="1207007"/>
            <a:ext cx="4315968" cy="4224528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atform-budge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1784705"/>
            <a:ext cx="4315968" cy="30691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8368" y="6400800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8B6C9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