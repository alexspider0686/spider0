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233172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5B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BD6F1"/>
                </a:solidFill>
                <a:latin typeface="Arial"/>
              </a:rPr>
              <a:t>PROJECTCORE AGENT 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Единая рабочая среда
для команды разработки.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060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EBF1F8"/>
                </a:solidFill>
                <a:latin typeface="Arial"/>
              </a:rPr>
              <a:t>Продукт объединяет сайт, платформу расчёта и инструмент разработчика в одном контуре: понятно для клиента, полезно для команды, готово к развитию.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901184"/>
            <a:ext cx="2057400" cy="841248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5B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 слоя продукта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49824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4B2C6"/>
                </a:solidFill>
                <a:latin typeface="Arial"/>
              </a:rPr>
              <a:t>сайт, платформа, dev 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4901184"/>
            <a:ext cx="2057400" cy="841248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4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510235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 рабочий поток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5449824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4B2C6"/>
                </a:solidFill>
                <a:latin typeface="Arial"/>
              </a:rPr>
              <a:t>контекст, запуск,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58368"/>
            <a:ext cx="150876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5B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BD6F1"/>
                </a:solidFill>
                <a:latin typeface="Arial"/>
              </a:rPr>
              <a:t>ПУБЛИЧНЫЙ САЙТ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Сайт объясняет продукт
без участия менеджера.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3317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4B2C6"/>
                </a:solidFill>
                <a:latin typeface="Arial"/>
              </a:rPr>
              <a:t>Он формирует доверие, показывает назначение платформы и даёт понятную точку входа для клиента, партнёра и разработчика.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456432"/>
            <a:ext cx="73152" cy="73152"/>
          </a:xfrm>
          <a:prstGeom prst="rect">
            <a:avLst/>
          </a:prstGeom>
          <a:solidFill>
            <a:srgbClr val="5B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383280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позиционирование продукта и выгоды на первом экране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005072"/>
            <a:ext cx="73152" cy="73152"/>
          </a:xfrm>
          <a:prstGeom prst="rect">
            <a:avLst/>
          </a:prstGeom>
          <a:solidFill>
            <a:srgbClr val="5B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931920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понятное описание системы и сценариев использования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553712"/>
            <a:ext cx="73152" cy="73152"/>
          </a:xfrm>
          <a:prstGeom prst="rect">
            <a:avLst/>
          </a:prstGeom>
          <a:solidFill>
            <a:srgbClr val="5B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480559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отдельный блок с официальной информацией о платформе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877824"/>
            <a:ext cx="5623560" cy="5175504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79008" y="987552"/>
            <a:ext cx="5404104" cy="495604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ite-about-preview_top_1_0904059040590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987552"/>
            <a:ext cx="5404104" cy="4956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58368"/>
            <a:ext cx="178308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4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A84FF"/>
                </a:solidFill>
                <a:latin typeface="Arial"/>
              </a:rPr>
              <a:t>ПЛАТФОРМА РАСЧЁТА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Главный интерфейс нужно
показывать крупно.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331720"/>
            <a:ext cx="4526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A4B2C6"/>
                </a:solidFill>
                <a:latin typeface="Arial"/>
              </a:rPr>
              <a:t>Здесь пользователь работает с объектом, параметрами, логикой расчёта и структурой бюджета. Поэтому интерфейс должен читаться, а не уменьшаться до превью.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529584"/>
            <a:ext cx="73152" cy="73152"/>
          </a:xfrm>
          <a:prstGeom prst="rect">
            <a:avLst/>
          </a:prstGeom>
          <a:solidFill>
            <a:srgbClr val="4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45643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карточка объекта и входные параметры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078224"/>
            <a:ext cx="73152" cy="73152"/>
          </a:xfrm>
          <a:prstGeom prst="rect">
            <a:avLst/>
          </a:prstGeom>
          <a:solidFill>
            <a:srgbClr val="4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00507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визуальная логика формирования оценки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626864"/>
            <a:ext cx="73152" cy="73152"/>
          </a:xfrm>
          <a:prstGeom prst="rect">
            <a:avLst/>
          </a:prstGeom>
          <a:solidFill>
            <a:srgbClr val="4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5371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структура бюджета и итоговая стоимость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50992" y="877824"/>
            <a:ext cx="5641848" cy="5175504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987552"/>
            <a:ext cx="5422392" cy="495604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atform-object-view_top_1_0940959409594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87552"/>
            <a:ext cx="5422392" cy="4956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205740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78E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8E3B1"/>
                </a:solidFill>
                <a:latin typeface="Arial"/>
              </a:rPr>
              <a:t>ИНСТРУМЕНТ РАЗРАБОТЧИКА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Инструмент разработчика
должен читаться сразу.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43891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4B2C6"/>
                </a:solidFill>
                <a:latin typeface="Arial"/>
              </a:rPr>
              <a:t>Это рабочее окно команды: выбор модели, подключение workspace, вложения и запуск задачи в одном контуре.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383280"/>
            <a:ext cx="73152" cy="73152"/>
          </a:xfrm>
          <a:prstGeom prst="rect">
            <a:avLst/>
          </a:prstGeom>
          <a:solidFill>
            <a:srgbClr val="78E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310128"/>
            <a:ext cx="41330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EBF1F8"/>
                </a:solidFill>
                <a:latin typeface="Arial"/>
              </a:rPr>
              <a:t>выбор GigaChat, Qwen CLI и Qwen API под сценарий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895344"/>
            <a:ext cx="73152" cy="73152"/>
          </a:xfrm>
          <a:prstGeom prst="rect">
            <a:avLst/>
          </a:prstGeom>
          <a:solidFill>
            <a:srgbClr val="78E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822191"/>
            <a:ext cx="41330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EBF1F8"/>
                </a:solidFill>
                <a:latin typeface="Arial"/>
              </a:rPr>
              <a:t>работа с локальным workspace и вложениями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407408"/>
            <a:ext cx="73152" cy="73152"/>
          </a:xfrm>
          <a:prstGeom prst="rect">
            <a:avLst/>
          </a:prstGeom>
          <a:solidFill>
            <a:srgbClr val="78E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334256"/>
            <a:ext cx="41330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EBF1F8"/>
                </a:solidFill>
                <a:latin typeface="Arial"/>
              </a:rPr>
              <a:t>запуск задачи и получение результата без смены окна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66944" y="877824"/>
            <a:ext cx="6025896" cy="5413248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76672" y="987552"/>
            <a:ext cx="5806440" cy="5193792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tform-logic-view_top_1_11795774647887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987552"/>
            <a:ext cx="5806440" cy="51937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58368"/>
            <a:ext cx="86868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FF9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551"/>
                </a:solidFill>
                <a:latin typeface="Arial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47548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ProjectCore Agent Shell —
это не набор экранов.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12848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BF1F8"/>
                </a:solidFill>
                <a:latin typeface="Arial"/>
              </a:rPr>
              <a:t>Это цельный продукт для клиента, партнёра и команды разработки.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108960"/>
            <a:ext cx="73152" cy="73152"/>
          </a:xfrm>
          <a:prstGeom prst="rect">
            <a:avLst/>
          </a:prstGeom>
          <a:solidFill>
            <a:srgbClr val="FF9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035808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BF1F8"/>
                </a:solidFill>
                <a:latin typeface="Arial"/>
              </a:rPr>
              <a:t>сайт объясняет ценность и подтверждает зрелость продукта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749039"/>
            <a:ext cx="73152" cy="73152"/>
          </a:xfrm>
          <a:prstGeom prst="rect">
            <a:avLst/>
          </a:prstGeom>
          <a:solidFill>
            <a:srgbClr val="FF9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675887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BF1F8"/>
                </a:solidFill>
                <a:latin typeface="Arial"/>
              </a:rPr>
              <a:t>платформа даёт понятный расчёт и рабочий интерфейс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389120"/>
            <a:ext cx="73152" cy="73152"/>
          </a:xfrm>
          <a:prstGeom prst="rect">
            <a:avLst/>
          </a:prstGeom>
          <a:solidFill>
            <a:srgbClr val="FF9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315968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BF1F8"/>
                </a:solidFill>
                <a:latin typeface="Arial"/>
              </a:rPr>
              <a:t>инструмент разработчика делает систему живой и расширяемой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4892040" cy="2084831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8" y="1115568"/>
            <a:ext cx="4672583" cy="1865376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ite-hero_top_2_5049019607843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115568"/>
            <a:ext cx="4672583" cy="186537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00800" y="3511296"/>
            <a:ext cx="4892040" cy="2084831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3621024"/>
            <a:ext cx="4672583" cy="1865376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latform-budget-view_top_2_5049019607843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621024"/>
            <a:ext cx="4672583" cy="1865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