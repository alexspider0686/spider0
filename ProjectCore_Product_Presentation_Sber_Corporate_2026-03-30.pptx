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658368"/>
            <a:ext cx="5303520" cy="5468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0" y="658368"/>
            <a:ext cx="5157216" cy="5468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" y="877824"/>
            <a:ext cx="1225296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Титульный лист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316736"/>
            <a:ext cx="4023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62C"/>
                </a:solidFill>
                <a:latin typeface="Aptos"/>
              </a:rPr>
              <a:t>Project.Core™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73936"/>
            <a:ext cx="44805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262C"/>
                </a:solidFill>
                <a:latin typeface="Aptos"/>
              </a:rPr>
              <a:t>Сайт и платформа
предварительной бюджетной оценки
систем безопасности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80944"/>
            <a:ext cx="44988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60" b="0">
                <a:solidFill>
                  <a:srgbClr val="637178"/>
                </a:solidFill>
                <a:latin typeface="Aptos"/>
              </a:rPr>
              <a:t>Корпоративная продуктовая презентация в более строгой подаче: акцент на надёжность, структуру решения, применимость для enterprise-заказчика и отдельный контур для ООО «СТК» / ПАО Сбер.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407408"/>
            <a:ext cx="1444752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4407408"/>
            <a:ext cx="73152" cy="969264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4517136"/>
            <a:ext cx="121615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62C"/>
                </a:solidFill>
                <a:latin typeface="Aptos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937760"/>
            <a:ext cx="12161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37178"/>
                </a:solidFill>
                <a:latin typeface="Aptos"/>
              </a:rPr>
              <a:t>подсистем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87168" y="4407408"/>
            <a:ext cx="1572768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87168" y="4407408"/>
            <a:ext cx="73152" cy="969264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4517136"/>
            <a:ext cx="1344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62C"/>
                </a:solidFill>
                <a:latin typeface="Aptos"/>
              </a:rPr>
              <a:t>5–10 мин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937760"/>
            <a:ext cx="13441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37178"/>
                </a:solidFill>
                <a:latin typeface="Aptos"/>
              </a:rPr>
              <a:t>предварительная оценка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407408"/>
            <a:ext cx="1463040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4407408"/>
            <a:ext cx="73152" cy="969264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4517136"/>
            <a:ext cx="1234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62C"/>
                </a:solidFill>
                <a:latin typeface="Aptos"/>
              </a:rPr>
              <a:t>85+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1" y="493776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37178"/>
                </a:solidFill>
                <a:latin typeface="Aptos"/>
              </a:rPr>
              <a:t>субъектов РФ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01968" y="896112"/>
            <a:ext cx="4864608" cy="5120640"/>
          </a:xfrm>
          <a:prstGeom prst="roundRect">
            <a:avLst/>
          </a:prstGeom>
          <a:solidFill>
            <a:srgbClr val="C6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47104" y="822960"/>
            <a:ext cx="4864608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38544" y="950976"/>
            <a:ext cx="4681728" cy="4882896"/>
          </a:xfrm>
          <a:prstGeom prst="roundRect">
            <a:avLst/>
          </a:prstGeom>
          <a:solidFill>
            <a:srgbClr val="F1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latform-object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969264"/>
            <a:ext cx="4645152" cy="4846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12064" y="6419088"/>
            <a:ext cx="1463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37178"/>
                </a:solidFill>
                <a:latin typeface="Aptos"/>
              </a:rPr>
              <a:t>Project.Core™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19088"/>
            <a:ext cx="274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371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386584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262C"/>
                </a:solidFill>
                <a:latin typeface="Aptos"/>
              </a:rPr>
              <a:t>Project.Core™ — единый контур для презентации продукта и расчёта бюджета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8138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37178"/>
                </a:solidFill>
                <a:latin typeface="Aptos"/>
              </a:rPr>
              <a:t>Продукт объединяет публичный сайт и платформу расчёта, чтобы быстро подготовить предварительный бюджет, объяснить его происхождение и перевести обсуждение в рабочий диалог с заказчиком.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2084831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969264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65376"/>
            <a:ext cx="185623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62C"/>
                </a:solidFill>
                <a:latin typeface="Aptos"/>
              </a:rPr>
              <a:t>Сайт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86000"/>
            <a:ext cx="185623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37178"/>
                </a:solidFill>
                <a:latin typeface="Aptos"/>
              </a:rPr>
              <a:t>демонстрация ценности и вход в демо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755648"/>
            <a:ext cx="2084831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2" y="1755648"/>
            <a:ext cx="73152" cy="969264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1865376"/>
            <a:ext cx="185623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62C"/>
                </a:solidFill>
                <a:latin typeface="Aptos"/>
              </a:rPr>
              <a:t>Платформа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2286000"/>
            <a:ext cx="185623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37178"/>
                </a:solidFill>
                <a:latin typeface="Aptos"/>
              </a:rPr>
              <a:t>объект, системы, бюджет,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7216" y="1755648"/>
            <a:ext cx="2084831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57216" y="1755648"/>
            <a:ext cx="73152" cy="969264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7" y="1865376"/>
            <a:ext cx="185623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62C"/>
                </a:solidFill>
                <a:latin typeface="Aptos"/>
              </a:rP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7" y="2286000"/>
            <a:ext cx="185623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37178"/>
                </a:solidFill>
                <a:latin typeface="Aptos"/>
              </a:rPr>
              <a:t>корпоративный контур для СТК/Сбер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755648"/>
            <a:ext cx="2084831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755648"/>
            <a:ext cx="73152" cy="969264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1" y="1865376"/>
            <a:ext cx="1856231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62C"/>
                </a:solidFill>
                <a:latin typeface="Aptos"/>
              </a:rPr>
              <a:t>SaaS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2286000"/>
            <a:ext cx="185623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37178"/>
                </a:solidFill>
                <a:latin typeface="Aptos"/>
              </a:rPr>
              <a:t>внешний рынок и тарифная модель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999232"/>
            <a:ext cx="5394960" cy="3054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63056" y="2999232"/>
            <a:ext cx="5376672" cy="3054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27355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262C"/>
                </a:solidFill>
                <a:latin typeface="Aptos"/>
              </a:rPr>
              <a:t>Основной результат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712463"/>
            <a:ext cx="4526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37178"/>
                </a:solidFill>
                <a:latin typeface="Aptos"/>
              </a:rPr>
              <a:t>• ускорение подготовки предварительного бюджета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37178"/>
                </a:solidFill>
                <a:latin typeface="Aptos"/>
              </a:rPr>
              <a:t>• снижение риска недооценки работ и трудозатрат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37178"/>
                </a:solidFill>
                <a:latin typeface="Aptos"/>
              </a:rPr>
              <a:t>• повышение прозрачности расчёта для заказчика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37178"/>
                </a:solidFill>
                <a:latin typeface="Aptos"/>
              </a:rPr>
              <a:t>• готовность к enterprise- и рыночному контуру поставки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73552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262C"/>
                </a:solidFill>
                <a:latin typeface="Aptos"/>
              </a:rPr>
              <a:t>Текущая архитектура продукта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12463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37178"/>
                </a:solidFill>
                <a:latin typeface="Aptos"/>
              </a:rPr>
              <a:t>• публичный сайт с продуктовой и правовой подачей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37178"/>
                </a:solidFill>
                <a:latin typeface="Aptos"/>
              </a:rPr>
              <a:t>• рабочая платформа с поэтапным процессом расчёта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37178"/>
                </a:solidFill>
                <a:latin typeface="Aptos"/>
              </a:rPr>
              <a:t>• AI-модули аудита цен, логики и риск-контура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37178"/>
                </a:solidFill>
                <a:latin typeface="Aptos"/>
              </a:rPr>
              <a:t>• экспорт ТКП, плана проекта и рабочих материалов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6419088"/>
            <a:ext cx="1463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37178"/>
                </a:solidFill>
                <a:latin typeface="Aptos"/>
              </a:rPr>
              <a:t>Project.Core™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19088"/>
            <a:ext cx="274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371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1883664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Проблематика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262C"/>
                </a:solidFill>
                <a:latin typeface="Aptos"/>
              </a:rPr>
              <a:t>Предварительный расчёт по системам безопасности остаётся медленным и фрагментированным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8138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37178"/>
                </a:solidFill>
                <a:latin typeface="Aptos"/>
              </a:rPr>
              <a:t>На рынке преобладают тяжёлые сметные системы, Excel-модели и разрозненные калькуляторы отдельных вендоров.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93392"/>
            <a:ext cx="2743200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993392"/>
            <a:ext cx="73152" cy="2231136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4942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62C"/>
                </a:solidFill>
                <a:latin typeface="Aptos"/>
              </a:rPr>
              <a:t>Тяжёлые сметные системы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816352"/>
            <a:ext cx="22677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178"/>
                </a:solidFill>
                <a:latin typeface="Aptos"/>
              </a:rPr>
              <a:t>Подходят для детальной сметы, но избыточны для быстрого пресейла.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78224" y="1993392"/>
            <a:ext cx="2743200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78224" y="1993392"/>
            <a:ext cx="73152" cy="2231136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224942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62C"/>
                </a:solidFill>
                <a:latin typeface="Aptos"/>
              </a:rPr>
              <a:t>Excel-модели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2816" y="2816352"/>
            <a:ext cx="22677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178"/>
                </a:solidFill>
                <a:latin typeface="Aptos"/>
              </a:rPr>
              <a:t>Гибкие, но несут риск ошибки, зависят от автора и плохо масштабируются.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0064" y="1993392"/>
            <a:ext cx="2743200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70064" y="1993392"/>
            <a:ext cx="73152" cy="2231136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4656" y="224942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62C"/>
                </a:solidFill>
                <a:latin typeface="Aptos"/>
              </a:rPr>
              <a:t>Локальные калькуляторы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6" y="2816352"/>
            <a:ext cx="22677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178"/>
                </a:solidFill>
                <a:latin typeface="Aptos"/>
              </a:rPr>
              <a:t>Решают частную задачу, но не дают целостной картины проекта.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4681728"/>
            <a:ext cx="10698480" cy="969264"/>
          </a:xfrm>
          <a:prstGeom prst="roundRect">
            <a:avLst/>
          </a:prstGeom>
          <a:solidFill>
            <a:srgbClr val="19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956048"/>
            <a:ext cx="10058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Следствие: подготовка предварительного бюджета требует лишнего времени, а качество расчёта и защита суммы на переговорах зависят от ручного процесса.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6419088"/>
            <a:ext cx="1463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37178"/>
                </a:solidFill>
                <a:latin typeface="Aptos"/>
              </a:rPr>
              <a:t>Project.Core™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19088"/>
            <a:ext cx="274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371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286000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Ценность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262C"/>
                </a:solidFill>
                <a:latin typeface="Aptos"/>
              </a:rPr>
              <a:t>Project.Core™ переводит сложный расчёт в понятный и управляемый процесс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8138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37178"/>
                </a:solidFill>
                <a:latin typeface="Aptos"/>
              </a:rPr>
              <a:t>В корпоративной подаче важны не отдельные функции, а прикладная ценность для заказчика и пресейл-команды.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28800"/>
            <a:ext cx="5175504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828800"/>
            <a:ext cx="73152" cy="1609344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4297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62C"/>
                </a:solidFill>
                <a:latin typeface="Aptos"/>
              </a:rPr>
              <a:t>Единая бюджетная картина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44805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0">
                <a:solidFill>
                  <a:srgbClr val="637178"/>
                </a:solidFill>
                <a:latin typeface="Aptos"/>
              </a:rPr>
              <a:t>Расчёт по нескольким подсистемам формируется в одном сценарии по объекту.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828800"/>
            <a:ext cx="5175504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1828800"/>
            <a:ext cx="73152" cy="1609344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2029968"/>
            <a:ext cx="4297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62C"/>
                </a:solidFill>
                <a:latin typeface="Aptos"/>
              </a:rPr>
              <a:t>Снижение риска недооценки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487168"/>
            <a:ext cx="44805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0">
                <a:solidFill>
                  <a:srgbClr val="637178"/>
                </a:solidFill>
                <a:latin typeface="Aptos"/>
              </a:rPr>
              <a:t>AI-аудит цен и трудозатрат защищает предложение от занижения.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913632"/>
            <a:ext cx="5175504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3913632"/>
            <a:ext cx="73152" cy="1609344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114800"/>
            <a:ext cx="4297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62C"/>
                </a:solidFill>
                <a:latin typeface="Aptos"/>
              </a:rPr>
              <a:t>Прозрачность суммы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72000"/>
            <a:ext cx="44805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0">
                <a:solidFill>
                  <a:srgbClr val="637178"/>
                </a:solidFill>
                <a:latin typeface="Aptos"/>
              </a:rPr>
              <a:t>Пользователь видит, как сформировались объёмы, коэффициенты и итоговый бюджет.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913632"/>
            <a:ext cx="5175504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3913632"/>
            <a:ext cx="73152" cy="1609344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114800"/>
            <a:ext cx="4297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62C"/>
                </a:solidFill>
                <a:latin typeface="Aptos"/>
              </a:rPr>
              <a:t>Готовность к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572000"/>
            <a:ext cx="44805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10" b="0">
                <a:solidFill>
                  <a:srgbClr val="637178"/>
                </a:solidFill>
                <a:latin typeface="Aptos"/>
              </a:rPr>
              <a:t>Продукт уже укладывается в логику корпоративной и рыночной поставки.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419088"/>
            <a:ext cx="1463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37178"/>
                </a:solidFill>
                <a:latin typeface="Aptos"/>
              </a:rPr>
              <a:t>Project.Core™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274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371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084832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Публичный сайт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262C"/>
                </a:solidFill>
                <a:latin typeface="Aptos"/>
              </a:rPr>
              <a:t>Сайт формирует доверие к продукту и открывает вход в рабочий 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8138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37178"/>
                </a:solidFill>
                <a:latin typeface="Aptos"/>
              </a:rPr>
              <a:t>Публичная часть продукта показывает основное предложение, логику решения и правовой контур использования.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" y="1865376"/>
            <a:ext cx="3822191" cy="4389120"/>
          </a:xfrm>
          <a:prstGeom prst="roundRect">
            <a:avLst/>
          </a:prstGeom>
          <a:solidFill>
            <a:srgbClr val="C6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92224"/>
            <a:ext cx="3822191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7" y="1920240"/>
            <a:ext cx="3639311" cy="4151376"/>
          </a:xfrm>
          <a:prstGeom prst="roundRect">
            <a:avLst/>
          </a:prstGeom>
          <a:solidFill>
            <a:srgbClr val="F1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938528"/>
            <a:ext cx="3602735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773168" y="1865376"/>
            <a:ext cx="2980944" cy="4389120"/>
          </a:xfrm>
          <a:prstGeom prst="roundRect">
            <a:avLst/>
          </a:prstGeom>
          <a:solidFill>
            <a:srgbClr val="C6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18304" y="1792224"/>
            <a:ext cx="298094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9744" y="1920240"/>
            <a:ext cx="2798063" cy="4151376"/>
          </a:xfrm>
          <a:prstGeom prst="roundRect">
            <a:avLst/>
          </a:prstGeom>
          <a:solidFill>
            <a:srgbClr val="F1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ite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938528"/>
            <a:ext cx="2761487" cy="41148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900416" y="1865376"/>
            <a:ext cx="3438144" cy="4389120"/>
          </a:xfrm>
          <a:prstGeom prst="roundRect">
            <a:avLst/>
          </a:prstGeom>
          <a:solidFill>
            <a:srgbClr val="C6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45552" y="1792224"/>
            <a:ext cx="343814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36992" y="1920240"/>
            <a:ext cx="3255263" cy="4151376"/>
          </a:xfrm>
          <a:prstGeom prst="roundRect">
            <a:avLst/>
          </a:prstGeom>
          <a:solidFill>
            <a:srgbClr val="F1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ite-ai-eng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938528"/>
            <a:ext cx="3218687" cy="41148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408176" y="6327648"/>
            <a:ext cx="1572768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Главный экран и УТП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58384" y="6327648"/>
            <a:ext cx="1371600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Позиционирование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50224" y="6327648"/>
            <a:ext cx="1773936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AI-логика и доверие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6419088"/>
            <a:ext cx="1463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37178"/>
                </a:solidFill>
                <a:latin typeface="Aptos"/>
              </a:rPr>
              <a:t>Project.Core™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274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371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1581912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Платформа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262C"/>
                </a:solidFill>
                <a:latin typeface="Aptos"/>
              </a:rPr>
              <a:t>Платформа расчёта выстроена как поэтапный рабочий контур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8138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37178"/>
                </a:solidFill>
                <a:latin typeface="Aptos"/>
              </a:rPr>
              <a:t>Пользователь проходит от параметров объекта и систем до бюджетной картины, логики расчёта и риск-контуров проекта.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828800"/>
            <a:ext cx="5486400" cy="4443984"/>
          </a:xfrm>
          <a:prstGeom prst="roundRect">
            <a:avLst/>
          </a:prstGeom>
          <a:solidFill>
            <a:srgbClr val="C6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55648"/>
            <a:ext cx="548640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883664"/>
            <a:ext cx="5303520" cy="4206240"/>
          </a:xfrm>
          <a:prstGeom prst="roundRect">
            <a:avLst/>
          </a:prstGeom>
          <a:solidFill>
            <a:srgbClr val="F1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tform-object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01952"/>
            <a:ext cx="5266944" cy="41696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19088" y="1828800"/>
            <a:ext cx="5102352" cy="4443984"/>
          </a:xfrm>
          <a:prstGeom prst="roundRect">
            <a:avLst/>
          </a:prstGeom>
          <a:solidFill>
            <a:srgbClr val="C6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64224" y="1755648"/>
            <a:ext cx="5102352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55664" y="1883664"/>
            <a:ext cx="4919472" cy="4206240"/>
          </a:xfrm>
          <a:prstGeom prst="roundRect">
            <a:avLst/>
          </a:prstGeom>
          <a:solidFill>
            <a:srgbClr val="F1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atform-systems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901952"/>
            <a:ext cx="4882896" cy="41696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78992" y="6327648"/>
            <a:ext cx="1975104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Объект, зоны, обследование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6327648"/>
            <a:ext cx="2267712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Системы, вендоры, спецификация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6419088"/>
            <a:ext cx="1463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37178"/>
                </a:solidFill>
                <a:latin typeface="Aptos"/>
              </a:rPr>
              <a:t>Project.Core™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19088"/>
            <a:ext cx="274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371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3593591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Ключевой функционал платформы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262C"/>
                </a:solidFill>
                <a:latin typeface="Aptos"/>
              </a:rPr>
              <a:t>Платформа сочетает расчёт, explainability и экспортные сценарии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8138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37178"/>
                </a:solidFill>
                <a:latin typeface="Aptos"/>
              </a:rPr>
              <a:t>Слайд показывает не полный список опций, а основные функциональные контуры, важные для B2B-поставки.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10512"/>
            <a:ext cx="2852928" cy="433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66543"/>
            <a:ext cx="23408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637178"/>
                </a:solidFill>
                <a:latin typeface="Aptos"/>
              </a:rPr>
              <a:t>• объект, адрес, площадь, этажность, регион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637178"/>
                </a:solidFill>
                <a:latin typeface="Aptos"/>
              </a:rPr>
              <a:t>• распределение зон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637178"/>
                </a:solidFill>
                <a:latin typeface="Aptos"/>
              </a:rPr>
              <a:t>• реестр систем и вендоров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637178"/>
                </a:solidFill>
                <a:latin typeface="Aptos"/>
              </a:rPr>
              <a:t>• PDF APS и спецификации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637178"/>
                </a:solidFill>
                <a:latin typeface="Aptos"/>
              </a:rPr>
              <a:t>• бюджет и коэффициенты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637178"/>
                </a:solidFill>
                <a:latin typeface="Aptos"/>
              </a:rPr>
              <a:t>• стоимость проекта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637178"/>
                </a:solidFill>
                <a:latin typeface="Aptos"/>
              </a:rPr>
              <a:t>• логика расчёта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637178"/>
                </a:solidFill>
                <a:latin typeface="Aptos"/>
              </a:rPr>
              <a:t>• AI-риски проекта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637178"/>
                </a:solidFill>
                <a:latin typeface="Aptos"/>
              </a:rPr>
              <a:t>• экспорт ТКП, плана, Excel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68496" y="1883664"/>
            <a:ext cx="3657600" cy="1956816"/>
          </a:xfrm>
          <a:prstGeom prst="roundRect">
            <a:avLst/>
          </a:prstGeom>
          <a:solidFill>
            <a:srgbClr val="C6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13632" y="1810512"/>
            <a:ext cx="365760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05072" y="1938528"/>
            <a:ext cx="3474720" cy="1719072"/>
          </a:xfrm>
          <a:prstGeom prst="roundRect">
            <a:avLst/>
          </a:prstGeom>
          <a:solidFill>
            <a:srgbClr val="F1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atform-budget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956816"/>
            <a:ext cx="3438144" cy="16824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08976" y="1883664"/>
            <a:ext cx="3657600" cy="1956816"/>
          </a:xfrm>
          <a:prstGeom prst="roundRect">
            <a:avLst/>
          </a:prstGeom>
          <a:solidFill>
            <a:srgbClr val="C6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54112" y="1810512"/>
            <a:ext cx="365760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45552" y="1938528"/>
            <a:ext cx="3474720" cy="1719072"/>
          </a:xfrm>
          <a:prstGeom prst="roundRect">
            <a:avLst/>
          </a:prstGeom>
          <a:solidFill>
            <a:srgbClr val="F1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latform-cost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956816"/>
            <a:ext cx="3438144" cy="168249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968496" y="4187952"/>
            <a:ext cx="3657600" cy="1956816"/>
          </a:xfrm>
          <a:prstGeom prst="roundRect">
            <a:avLst/>
          </a:prstGeom>
          <a:solidFill>
            <a:srgbClr val="C6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13632" y="4114800"/>
            <a:ext cx="365760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05072" y="4242816"/>
            <a:ext cx="3474720" cy="1719072"/>
          </a:xfrm>
          <a:prstGeom prst="roundRect">
            <a:avLst/>
          </a:prstGeom>
          <a:solidFill>
            <a:srgbClr val="F1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latform-logic-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4261104"/>
            <a:ext cx="3438144" cy="168249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808976" y="4187952"/>
            <a:ext cx="3657600" cy="1956816"/>
          </a:xfrm>
          <a:prstGeom prst="roundRect">
            <a:avLst/>
          </a:prstGeom>
          <a:solidFill>
            <a:srgbClr val="C6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54112" y="4114800"/>
            <a:ext cx="365760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45552" y="4242816"/>
            <a:ext cx="3474720" cy="1719072"/>
          </a:xfrm>
          <a:prstGeom prst="roundRect">
            <a:avLst/>
          </a:prstGeom>
          <a:solidFill>
            <a:srgbClr val="F1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latform-risks-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4261104"/>
            <a:ext cx="3438144" cy="16824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2064" y="6419088"/>
            <a:ext cx="1463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37178"/>
                </a:solidFill>
                <a:latin typeface="Aptos"/>
              </a:rPr>
              <a:t>Project.Core™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19088"/>
            <a:ext cx="274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371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889504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План развития продукта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262C"/>
                </a:solidFill>
                <a:latin typeface="Aptos"/>
              </a:rPr>
              <a:t>Следующий этап — enterprise-готовность и нормативная упаковка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8138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37178"/>
                </a:solidFill>
                <a:latin typeface="Aptos"/>
              </a:rPr>
              <a:t>После завершения основного кода развитие продукта включает технологический, правовой и корпоративный контуры.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773936"/>
            <a:ext cx="1057046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56816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683A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920240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1B262C"/>
                </a:solidFill>
                <a:latin typeface="Aptos"/>
              </a:rPr>
              <a:t>Завершение основного контура разработки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9552" y="193852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637178"/>
                </a:solidFill>
                <a:latin typeface="Aptos"/>
              </a:rPr>
              <a:t>Стабилизация сайта и платформы как единого продукта.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852928"/>
            <a:ext cx="1057046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035808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683A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999232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1B262C"/>
                </a:solidFill>
                <a:latin typeface="Aptos"/>
              </a:rPr>
              <a:t>Переход на отечественное ПО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9552" y="301752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637178"/>
                </a:solidFill>
                <a:latin typeface="Aptos"/>
              </a:rPr>
              <a:t>Запланирован после завершения процесса написания основного кода.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931920"/>
            <a:ext cx="1057046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114800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683A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078224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1B262C"/>
                </a:solidFill>
                <a:latin typeface="Aptos"/>
              </a:rPr>
              <a:t>Регистрация товарного знака и продукта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9552" y="4096511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637178"/>
                </a:solidFill>
                <a:latin typeface="Aptos"/>
              </a:rPr>
              <a:t>Правовое оформление в соответствии с законодательством РФ.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5010912"/>
            <a:ext cx="1057046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193792"/>
            <a:ext cx="3474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683A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5157216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1B262C"/>
                </a:solidFill>
                <a:latin typeface="Aptos"/>
              </a:rPr>
              <a:t>Корпоративный secure-контур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552" y="5175503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637178"/>
                </a:solidFill>
                <a:latin typeface="Aptos"/>
              </a:rPr>
              <a:t>Адаптация под требования стандартов кибербезопасности РФ и ПАО Сбер.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419088"/>
            <a:ext cx="1463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37178"/>
                </a:solidFill>
                <a:latin typeface="Aptos"/>
              </a:rPr>
              <a:t>Project.Core™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274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371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2788920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Две продуктовые линии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262C"/>
                </a:solidFill>
                <a:latin typeface="Aptos"/>
              </a:rPr>
              <a:t>Корпоративный контур для СТК/ПАО Сбер и отдельный внешний рынок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8138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37178"/>
                </a:solidFill>
                <a:latin typeface="Aptos"/>
              </a:rPr>
              <a:t>Продукт целесообразно развивать в двух самостоятельных направлениях поставки и эксплуатации.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28800"/>
            <a:ext cx="5230368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30368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76" y="2048256"/>
            <a:ext cx="1755648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Корпоративный контур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432304"/>
            <a:ext cx="43159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62C"/>
                </a:solidFill>
                <a:latin typeface="Aptos"/>
              </a:rPr>
              <a:t>Отдельный продукт для ООО «СТК»
под Генеральное соглашение с ПАО Сбер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493008"/>
            <a:ext cx="449884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37178"/>
                </a:solidFill>
                <a:latin typeface="Aptos"/>
              </a:rPr>
              <a:t>• соответствие требованиям стандартов по кибербезопасности РФ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37178"/>
                </a:solidFill>
                <a:latin typeface="Aptos"/>
              </a:rPr>
              <a:t>• приведение в соответствие стандартам ПАО Сбер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37178"/>
                </a:solidFill>
                <a:latin typeface="Aptos"/>
              </a:rPr>
              <a:t>• отдельный сценарий внедрения, эксплуатации и сопровождения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2048256"/>
            <a:ext cx="1243584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Внешний рынок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432304"/>
            <a:ext cx="413308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62C"/>
                </a:solidFill>
                <a:latin typeface="Aptos"/>
              </a:rPr>
              <a:t>Коммерческий продукт
с доступом к платформе
по подписке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3493008"/>
            <a:ext cx="449884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37178"/>
                </a:solidFill>
                <a:latin typeface="Aptos"/>
              </a:rPr>
              <a:t>• продажа доступа к платформе как сервису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37178"/>
                </a:solidFill>
                <a:latin typeface="Aptos"/>
              </a:rPr>
              <a:t>• тарифные планы с разным уровнем функционала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37178"/>
                </a:solidFill>
                <a:latin typeface="Aptos"/>
              </a:rPr>
              <a:t>• абонентская плата как масштабируемая модель монетизации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6419088"/>
            <a:ext cx="1463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37178"/>
                </a:solidFill>
                <a:latin typeface="Aptos"/>
              </a:rPr>
              <a:t>Project.Core™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274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371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3694176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Тарифная модель внешнего рынка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262C"/>
                </a:solidFill>
                <a:latin typeface="Aptos"/>
              </a:rPr>
              <a:t>Разный объём функционала — разный уровень доступа и стоимости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8138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37178"/>
                </a:solidFill>
                <a:latin typeface="Aptos"/>
              </a:rPr>
              <a:t>Внешний рынок предполагает подписочную модель доступа к платформе, тогда как корпоративный контур поставляется отдельно.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10512"/>
            <a:ext cx="2743200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84831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262C"/>
                </a:solidFill>
                <a:latin typeface="Aptos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8716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19683A"/>
                </a:solidFill>
                <a:latin typeface="Aptos"/>
              </a:rPr>
              <a:t>от 49 000 ₽/мес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60" b="0">
                <a:solidFill>
                  <a:srgbClr val="637178"/>
                </a:solidFill>
                <a:latin typeface="Aptos"/>
              </a:rPr>
              <a:t>• базовый пресейл</a:t>
            </a:r>
          </a:p>
          <a:p>
            <a:pPr algn="l">
              <a:spcAft>
                <a:spcPts val="0"/>
              </a:spcAft>
            </a:pPr>
            <a:r>
              <a:rPr sz="1360" b="0">
                <a:solidFill>
                  <a:srgbClr val="637178"/>
                </a:solidFill>
                <a:latin typeface="Aptos"/>
              </a:rPr>
              <a:t>• стандартные выгрузки</a:t>
            </a:r>
          </a:p>
          <a:p>
            <a:pPr algn="l">
              <a:spcAft>
                <a:spcPts val="0"/>
              </a:spcAft>
            </a:pPr>
            <a:r>
              <a:rPr sz="1360" b="0">
                <a:solidFill>
                  <a:srgbClr val="637178"/>
                </a:solidFill>
                <a:latin typeface="Aptos"/>
              </a:rPr>
              <a:t>• ограниченный доступ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413248"/>
            <a:ext cx="1554480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Абонентская плата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810512"/>
            <a:ext cx="2743200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084831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262C"/>
                </a:solidFill>
                <a:latin typeface="Aptos"/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8716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19683A"/>
                </a:solidFill>
                <a:latin typeface="Aptos"/>
              </a:rPr>
              <a:t>от 119 000 ₽/мес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0175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60" b="0">
                <a:solidFill>
                  <a:srgbClr val="637178"/>
                </a:solidFill>
                <a:latin typeface="Aptos"/>
              </a:rPr>
              <a:t>• полный расчёт</a:t>
            </a:r>
          </a:p>
          <a:p>
            <a:pPr algn="l">
              <a:spcAft>
                <a:spcPts val="0"/>
              </a:spcAft>
            </a:pPr>
            <a:r>
              <a:rPr sz="1360" b="0">
                <a:solidFill>
                  <a:srgbClr val="637178"/>
                </a:solidFill>
                <a:latin typeface="Aptos"/>
              </a:rPr>
              <a:t>• AI-модули</a:t>
            </a:r>
          </a:p>
          <a:p>
            <a:pPr algn="l">
              <a:spcAft>
                <a:spcPts val="0"/>
              </a:spcAft>
            </a:pPr>
            <a:r>
              <a:rPr sz="1360" b="0">
                <a:solidFill>
                  <a:srgbClr val="637178"/>
                </a:solidFill>
                <a:latin typeface="Aptos"/>
              </a:rPr>
              <a:t>• расширенные материалы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5413248"/>
            <a:ext cx="1554480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Абонентская плата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810512"/>
            <a:ext cx="2743200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2084831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262C"/>
                </a:solidFill>
                <a:latin typeface="Aptos"/>
              </a:rPr>
              <a:t>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248716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19683A"/>
                </a:solidFill>
                <a:latin typeface="Aptos"/>
              </a:rPr>
              <a:t>индивидуально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30175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60" b="0">
                <a:solidFill>
                  <a:srgbClr val="637178"/>
                </a:solidFill>
                <a:latin typeface="Aptos"/>
              </a:rPr>
              <a:t>• корпоративная конфигурация</a:t>
            </a:r>
          </a:p>
          <a:p>
            <a:pPr algn="l">
              <a:spcAft>
                <a:spcPts val="0"/>
              </a:spcAft>
            </a:pPr>
            <a:r>
              <a:rPr sz="1360" b="0">
                <a:solidFill>
                  <a:srgbClr val="637178"/>
                </a:solidFill>
                <a:latin typeface="Aptos"/>
              </a:rPr>
              <a:t>• поддержка и SLA</a:t>
            </a:r>
          </a:p>
          <a:p>
            <a:pPr algn="l">
              <a:spcAft>
                <a:spcPts val="0"/>
              </a:spcAft>
            </a:pPr>
            <a:r>
              <a:rPr sz="1360" b="0">
                <a:solidFill>
                  <a:srgbClr val="637178"/>
                </a:solidFill>
                <a:latin typeface="Aptos"/>
              </a:rPr>
              <a:t>• интеграции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19" y="5413248"/>
            <a:ext cx="1554480" cy="310896"/>
          </a:xfrm>
          <a:prstGeom prst="roundRect">
            <a:avLst/>
          </a:prstGeom>
          <a:solidFill>
            <a:srgbClr val="E5F3E9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19653"/>
                </a:solidFill>
                <a:latin typeface="Aptos"/>
              </a:rPr>
              <a:t>Абонентская плата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364224"/>
            <a:ext cx="10332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37178"/>
                </a:solidFill>
                <a:latin typeface="Aptos"/>
              </a:rPr>
              <a:t>Для версии ООО «СТК» / ПАО Сбер предполагается отдельная договорная модель поставки вне стандартной тарифной линейки.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419088"/>
            <a:ext cx="1463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37178"/>
                </a:solidFill>
                <a:latin typeface="Aptos"/>
              </a:rPr>
              <a:t>Project.Core™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274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371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