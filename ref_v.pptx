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6" r:id="rId11"/>
    <p:sldId id="267" r:id="rId12"/>
  </p:sldIdLst>
  <p:sldSz cx="12192000" cy="6858000"/>
  <p:notesSz cx="7010400" cy="92964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0" d="100"/>
          <a:sy n="110" d="100"/>
        </p:scale>
        <p:origin x="51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Доля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1-BE75-4276-A6A5-F6C3CA9BCC83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3-BE75-4276-A6A5-F6C3CA9BCC83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5-BE75-4276-A6A5-F6C3CA9BCC83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7-BE75-4276-A6A5-F6C3CA9BCC83}"/>
              </c:ext>
            </c:extLst>
          </c:dPt>
          <c:dLbls>
            <c:dLbl>
              <c:idx val="3"/>
              <c:layout>
                <c:manualLayout>
                  <c:x val="4.1467022429779128E-2"/>
                  <c:y val="0.15196673043377967"/>
                </c:manualLayout>
              </c:layout>
              <c:dLblPos val="bestFit"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BE75-4276-A6A5-F6C3CA9BCC83}"/>
                </c:ext>
              </c:extLst>
            </c:dLbl>
            <c:spPr>
              <a:pattFill prst="pct75">
                <a:fgClr>
                  <a:schemeClr val="dk1">
                    <a:lumMod val="75000"/>
                    <a:lumOff val="25000"/>
                  </a:schemeClr>
                </a:fgClr>
                <a:bgClr>
                  <a:schemeClr val="dk1">
                    <a:lumMod val="65000"/>
                    <a:lumOff val="35000"/>
                  </a:schemeClr>
                </a:bgClr>
              </a:patt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33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dLblPos val="ctr"/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>
                  <a:solidFill>
                    <a:schemeClr val="dk1">
                      <a:lumMod val="50000"/>
                      <a:lumOff val="50000"/>
                    </a:schemeClr>
                  </a:solidFill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4"/>
                <c:pt idx="0">
                  <c:v>Оборудование</c:v>
                </c:pt>
                <c:pt idx="1">
                  <c:v>Материалы</c:v>
                </c:pt>
                <c:pt idx="2">
                  <c:v>Работы</c:v>
                </c:pt>
                <c:pt idx="3">
                  <c:v>Проектирование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141227930</c:v>
                </c:pt>
                <c:pt idx="1">
                  <c:v>52185500</c:v>
                </c:pt>
                <c:pt idx="2">
                  <c:v>128374466</c:v>
                </c:pt>
                <c:pt idx="3">
                  <c:v>26191107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6A5-D140-9453-8168C13EB418}"/>
            </c:ext>
          </c:extLst>
        </c:ser>
        <c:dLbls>
          <c:dLblPos val="ctr"/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6610312837786948"/>
          <c:y val="0.33713069324818606"/>
          <c:w val="0.32595465881906482"/>
          <c:h val="0.32573828016796119"/>
        </c:manualLayout>
      </c:layout>
      <c:overlay val="0"/>
      <c:spPr>
        <a:solidFill>
          <a:schemeClr val="lt1">
            <a:lumMod val="95000"/>
            <a:alpha val="39000"/>
          </a:schemeClr>
        </a:solidFill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showDLblsOverMax val="1"/>
  </c:chart>
  <c:spPr>
    <a:gradFill flip="none" rotWithShape="1">
      <a:gsLst>
        <a:gs pos="0">
          <a:schemeClr val="lt1"/>
        </a:gs>
        <a:gs pos="39000">
          <a:schemeClr val="lt1"/>
        </a:gs>
        <a:gs pos="100000">
          <a:schemeClr val="lt1">
            <a:lumMod val="75000"/>
          </a:schemeClr>
        </a:gs>
      </a:gsLst>
      <a:path path="circle">
        <a:fillToRect l="50000" t="-80000" r="50000" b="180000"/>
      </a:path>
      <a:tileRect/>
    </a:gradFill>
    <a:ln w="9525" cap="flat" cmpd="sng" algn="ctr">
      <a:solidFill>
        <a:schemeClr val="dk1">
          <a:lumMod val="25000"/>
          <a:lumOff val="75000"/>
        </a:schemeClr>
      </a:solidFill>
      <a:round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3">
  <cs:axisTitle>
    <cs:lnRef idx="0"/>
    <cs:fillRef idx="0"/>
    <cs:effectRef idx="0"/>
    <cs:fontRef idx="minor">
      <a:schemeClr val="dk1">
        <a:lumMod val="75000"/>
        <a:lumOff val="25000"/>
      </a:schemeClr>
    </cs:fontRef>
    <cs:defRPr sz="1197" b="1" kern="1200"/>
  </cs:axisTitle>
  <cs:categoryAxis>
    <cs:lnRef idx="0"/>
    <cs:fillRef idx="0"/>
    <cs:effectRef idx="0"/>
    <cs:fontRef idx="minor">
      <a:schemeClr val="dk1">
        <a:lumMod val="75000"/>
        <a:lumOff val="25000"/>
      </a:schemeClr>
    </cs:fontRef>
    <cs:spPr>
      <a:ln w="190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1197" kern="1200" cap="all" baseline="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39000">
            <a:schemeClr val="lt1"/>
          </a:gs>
          <a:gs pos="100000">
            <a:schemeClr val="lt1">
              <a:lumMod val="75000"/>
            </a:schemeClr>
          </a:gs>
        </a:gsLst>
        <a:path path="circle">
          <a:fillToRect l="50000" t="-80000" r="50000" b="180000"/>
        </a:path>
        <a:tileRect/>
      </a:gradFill>
      <a:ln w="9525" cap="flat" cmpd="sng" algn="ctr">
        <a:solidFill>
          <a:schemeClr val="dk1">
            <a:lumMod val="25000"/>
            <a:lumOff val="7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lt1"/>
    </cs:fontRef>
    <cs:spPr>
      <a:pattFill prst="pct75">
        <a:fgClr>
          <a:schemeClr val="dk1">
            <a:lumMod val="75000"/>
            <a:lumOff val="25000"/>
          </a:schemeClr>
        </a:fgClr>
        <a:bgClr>
          <a:schemeClr val="dk1">
            <a:lumMod val="65000"/>
            <a:lumOff val="35000"/>
          </a:schemeClr>
        </a:bgClr>
      </a:pattFill>
      <a:effectLst>
        <a:outerShdw blurRad="50800" dist="38100" dir="2700000" algn="tl" rotWithShape="0">
          <a:prstClr val="black">
            <a:alpha val="40000"/>
          </a:prstClr>
        </a:outerShdw>
      </a:effectLst>
    </cs:spPr>
    <cs:defRPr sz="1330" b="1" i="0" u="none" strike="noStrike" kern="1200" baseline="0"/>
  </cs:dataLabel>
  <cs:dataLabelCallout>
    <cs:lnRef idx="0"/>
    <cs:fillRef idx="0"/>
    <cs:effectRef idx="0"/>
    <cs:fontRef idx="minor">
      <a:schemeClr val="lt1"/>
    </cs:fontRef>
    <cs:spPr>
      <a:pattFill prst="pct75">
        <a:fgClr>
          <a:schemeClr val="dk1">
            <a:lumMod val="75000"/>
            <a:lumOff val="25000"/>
          </a:schemeClr>
        </a:fgClr>
        <a:bgClr>
          <a:schemeClr val="dk1">
            <a:lumMod val="65000"/>
            <a:lumOff val="35000"/>
          </a:schemeClr>
        </a:bgClr>
      </a:pattFill>
      <a:effectLst>
        <a:outerShdw blurRad="50800" dist="38100" dir="2700000" algn="tl" rotWithShape="0">
          <a:prstClr val="black">
            <a:alpha val="40000"/>
          </a:prstClr>
        </a:outerShdw>
      </a:effectLst>
    </cs:spPr>
    <cs:defRPr sz="1330" b="1" i="0" u="none" strike="noStrike" kern="1200" baseline="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254000" sx="102000" sy="102000" algn="ctr" rotWithShape="0">
          <a:prstClr val="black">
            <a:alpha val="20000"/>
          </a:prstClr>
        </a:out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254000" sx="102000" sy="102000" algn="ctr" rotWithShape="0">
          <a:prstClr val="black">
            <a:alpha val="20000"/>
          </a:prstClr>
        </a:outerShdw>
      </a:effectLst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1750" cap="rnd">
        <a:solidFill>
          <a:schemeClr val="phClr">
            <a:alpha val="85000"/>
          </a:schemeClr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75000"/>
        <a:lumOff val="25000"/>
      </a:schemeClr>
    </cs:fontRef>
    <cs:spPr>
      <a:ln w="9525">
        <a:solidFill>
          <a:schemeClr val="dk1">
            <a:lumMod val="35000"/>
            <a:lumOff val="6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lt1">
          <a:lumMod val="95000"/>
          <a:alpha val="39000"/>
        </a:schemeClr>
      </a:solidFill>
    </cs:spPr>
    <cs:defRPr sz="1197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75000"/>
        <a:lumOff val="25000"/>
      </a:schemeClr>
    </cs:fontRef>
    <cs:spPr>
      <a:ln w="317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75000"/>
        <a:lumOff val="25000"/>
      </a:schemeClr>
    </cs:fontRef>
    <cs:defRPr sz="2200" b="1" kern="120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75000"/>
        <a:lumOff val="2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75000"/>
        <a:lumOff val="25000"/>
      </a:schemeClr>
    </cs:fontRef>
    <cs:spPr>
      <a:ln>
        <a:noFill/>
      </a:ln>
    </cs:spPr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03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603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847CD7-F83C-1C4A-8579-09C2D340BDB3}" type="datetimeFigureOut">
              <a:rPr lang="ru-RU" smtClean="0"/>
              <a:t>19.03.2026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701040" y="4473892"/>
            <a:ext cx="5608320" cy="366045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830370"/>
            <a:ext cx="3037840" cy="46603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970938" y="8830370"/>
            <a:ext cx="3037840" cy="46603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D9970A5-71C9-A64B-B97F-8EC85CC2D5F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725101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digital_illustration_in_a_futuristic_and_profess.png"/>
          <p:cNvPicPr>
            <a:picLocks noChangeAspect="1"/>
          </p:cNvPicPr>
          <p:nvPr/>
        </p:nvPicPr>
        <p:blipFill>
          <a:blip r:embed="rId3"/>
          <a:srcRect l="10520" r="10520"/>
          <a:stretch/>
        </p:blipFill>
        <p:spPr>
          <a:xfrm>
            <a:off x="4069080" y="0"/>
            <a:ext cx="812261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-1" y="0"/>
            <a:ext cx="5824729" cy="6858000"/>
          </a:xfrm>
          <a:prstGeom prst="rect">
            <a:avLst/>
          </a:prstGeom>
          <a:solidFill>
            <a:srgbClr val="0F2F53"/>
          </a:solidFill>
          <a:ln w="12700">
            <a:solidFill>
              <a:srgbClr val="0F2F53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5824728" y="0"/>
            <a:ext cx="502920" cy="6858000"/>
          </a:xfrm>
          <a:prstGeom prst="rect">
            <a:avLst/>
          </a:prstGeom>
          <a:solidFill>
            <a:srgbClr val="0F2F53">
              <a:alpha val="64000"/>
            </a:srgbClr>
          </a:solidFill>
          <a:ln w="12700">
            <a:solidFill>
              <a:srgbClr val="0F2F53">
                <a:alpha val="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85216" y="1901952"/>
            <a:ext cx="3154680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ru-RU" sz="2150" b="1">
                <a:solidFill>
                  <a:srgbClr val="FFFFFF"/>
                </a:solidFill>
              </a:rPr>
              <a:t>Проект:</a:t>
            </a:r>
          </a:p>
          <a:p>
            <a:pPr marL="0" indent="0">
              <a:buNone/>
            </a:pPr>
            <a:r>
              <a:rPr lang="ru-RU" sz="2150" b="1">
                <a:solidFill>
                  <a:srgbClr val="FFFFFF"/>
                </a:solidFill>
              </a:rPr>
              <a:t>модернизация ко</a:t>
            </a:r>
            <a:r>
              <a:rPr lang="en-US" sz="2150" b="1">
                <a:solidFill>
                  <a:srgbClr val="FFFFFF"/>
                </a:solidFill>
              </a:rPr>
              <a:t>мплексн</a:t>
            </a:r>
            <a:r>
              <a:rPr lang="ru-RU" sz="2150" b="1">
                <a:solidFill>
                  <a:srgbClr val="FFFFFF"/>
                </a:solidFill>
              </a:rPr>
              <a:t>ой</a:t>
            </a:r>
            <a:r>
              <a:rPr lang="en-US" sz="2150" b="1">
                <a:solidFill>
                  <a:srgbClr val="FFFFFF"/>
                </a:solidFill>
              </a:rPr>
              <a:t> систем</a:t>
            </a:r>
            <a:r>
              <a:rPr lang="ru-RU" sz="2150" b="1">
                <a:solidFill>
                  <a:srgbClr val="FFFFFF"/>
                </a:solidFill>
              </a:rPr>
              <a:t>ы</a:t>
            </a:r>
            <a:endParaRPr lang="en-US" sz="2150"/>
          </a:p>
          <a:p>
            <a:pPr marL="0" indent="0">
              <a:buNone/>
            </a:pPr>
            <a:r>
              <a:rPr lang="en-US" sz="2150" b="1">
                <a:solidFill>
                  <a:srgbClr val="FFFFFF"/>
                </a:solidFill>
              </a:rPr>
              <a:t>безопасности</a:t>
            </a:r>
            <a:r>
              <a:rPr lang="ru-RU" sz="2150" b="1">
                <a:solidFill>
                  <a:srgbClr val="FFFFFF"/>
                </a:solidFill>
              </a:rPr>
              <a:t> объекта</a:t>
            </a:r>
            <a:endParaRPr lang="en-US" sz="2150"/>
          </a:p>
          <a:p>
            <a:pPr marL="0" indent="0">
              <a:buNone/>
            </a:pPr>
            <a:r>
              <a:rPr lang="en-US" sz="2150" b="1">
                <a:solidFill>
                  <a:srgbClr val="FFFFFF"/>
                </a:solidFill>
              </a:rPr>
              <a:t>Кутузовский 32, башня В</a:t>
            </a:r>
            <a:endParaRPr lang="en-US" sz="2150"/>
          </a:p>
        </p:txBody>
      </p:sp>
      <p:sp>
        <p:nvSpPr>
          <p:cNvPr id="6" name="Text 3"/>
          <p:cNvSpPr/>
          <p:nvPr/>
        </p:nvSpPr>
        <p:spPr>
          <a:xfrm>
            <a:off x="585215" y="3493008"/>
            <a:ext cx="4613801" cy="7498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ru-RU" sz="1000">
                <a:solidFill>
                  <a:srgbClr val="D8E4F1"/>
                </a:solidFill>
              </a:rPr>
              <a:t>Предварительная финансовая</a:t>
            </a:r>
            <a:r>
              <a:rPr lang="en-US" sz="1000">
                <a:solidFill>
                  <a:srgbClr val="D8E4F1"/>
                </a:solidFill>
              </a:rPr>
              <a:t> модель </a:t>
            </a:r>
            <a:r>
              <a:rPr lang="ru-RU" sz="1000">
                <a:solidFill>
                  <a:srgbClr val="D8E4F1"/>
                </a:solidFill>
              </a:rPr>
              <a:t>проекта рассчитана </a:t>
            </a:r>
            <a:r>
              <a:rPr lang="en-US" sz="1000">
                <a:solidFill>
                  <a:srgbClr val="D8E4F1"/>
                </a:solidFill>
              </a:rPr>
              <a:t>с учетом проектирования, </a:t>
            </a:r>
            <a:r>
              <a:rPr lang="ru-RU" sz="1000">
                <a:solidFill>
                  <a:srgbClr val="D8E4F1"/>
                </a:solidFill>
              </a:rPr>
              <a:t>стоимости </a:t>
            </a:r>
            <a:r>
              <a:rPr lang="en-US" sz="1000">
                <a:solidFill>
                  <a:srgbClr val="D8E4F1"/>
                </a:solidFill>
              </a:rPr>
              <a:t>оборудования, материалов, строительно-монтажных и пусконаладочных работ.</a:t>
            </a:r>
            <a:endParaRPr lang="en-US" sz="1000"/>
          </a:p>
        </p:txBody>
      </p:sp>
      <p:sp>
        <p:nvSpPr>
          <p:cNvPr id="7" name="Shape 4"/>
          <p:cNvSpPr/>
          <p:nvPr/>
        </p:nvSpPr>
        <p:spPr>
          <a:xfrm>
            <a:off x="585216" y="4544568"/>
            <a:ext cx="1024128" cy="768096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8DFE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67512" y="4608576"/>
            <a:ext cx="85953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90" b="1">
                <a:solidFill>
                  <a:srgbClr val="667789"/>
                </a:solidFill>
              </a:rPr>
              <a:t>Площадь</a:t>
            </a:r>
            <a:endParaRPr lang="en-US" sz="790"/>
          </a:p>
        </p:txBody>
      </p:sp>
      <p:sp>
        <p:nvSpPr>
          <p:cNvPr id="9" name="Shape 6"/>
          <p:cNvSpPr/>
          <p:nvPr/>
        </p:nvSpPr>
        <p:spPr>
          <a:xfrm>
            <a:off x="667512" y="4727448"/>
            <a:ext cx="411480" cy="0"/>
          </a:xfrm>
          <a:prstGeom prst="line">
            <a:avLst/>
          </a:prstGeom>
          <a:noFill/>
          <a:ln w="12700">
            <a:solidFill>
              <a:srgbClr val="2C7FE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67512" y="4809744"/>
            <a:ext cx="8595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b="1">
                <a:solidFill>
                  <a:srgbClr val="223042"/>
                </a:solidFill>
              </a:rPr>
              <a:t>120 804 м²</a:t>
            </a:r>
            <a:endParaRPr lang="en-US" sz="1120"/>
          </a:p>
        </p:txBody>
      </p:sp>
      <p:sp>
        <p:nvSpPr>
          <p:cNvPr id="11" name="Shape 8"/>
          <p:cNvSpPr/>
          <p:nvPr/>
        </p:nvSpPr>
        <p:spPr>
          <a:xfrm>
            <a:off x="1792224" y="4544568"/>
            <a:ext cx="896112" cy="768096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8DFE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874520" y="4608576"/>
            <a:ext cx="7315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90" b="1">
                <a:solidFill>
                  <a:srgbClr val="667789"/>
                </a:solidFill>
              </a:rPr>
              <a:t>Системы</a:t>
            </a:r>
            <a:endParaRPr lang="en-US" sz="790"/>
          </a:p>
        </p:txBody>
      </p:sp>
      <p:sp>
        <p:nvSpPr>
          <p:cNvPr id="13" name="Shape 10"/>
          <p:cNvSpPr/>
          <p:nvPr/>
        </p:nvSpPr>
        <p:spPr>
          <a:xfrm>
            <a:off x="1874520" y="4727448"/>
            <a:ext cx="411480" cy="0"/>
          </a:xfrm>
          <a:prstGeom prst="line">
            <a:avLst/>
          </a:prstGeom>
          <a:noFill/>
          <a:ln w="12700">
            <a:solidFill>
              <a:srgbClr val="21985D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847088" y="4754880"/>
            <a:ext cx="731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20" b="1">
                <a:solidFill>
                  <a:srgbClr val="223042"/>
                </a:solidFill>
              </a:rPr>
              <a:t>5</a:t>
            </a:r>
            <a:endParaRPr lang="en-US" sz="1320"/>
          </a:p>
        </p:txBody>
      </p:sp>
      <p:sp>
        <p:nvSpPr>
          <p:cNvPr id="15" name="Shape 12"/>
          <p:cNvSpPr/>
          <p:nvPr/>
        </p:nvSpPr>
        <p:spPr>
          <a:xfrm>
            <a:off x="2871216" y="4544568"/>
            <a:ext cx="1362456" cy="768096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8DFE8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2944368" y="4599432"/>
            <a:ext cx="11247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90" b="1">
                <a:solidFill>
                  <a:srgbClr val="667789"/>
                </a:solidFill>
              </a:rPr>
              <a:t>Смета прямых</a:t>
            </a:r>
            <a:r>
              <a:rPr lang="ru-RU" sz="790" b="1">
                <a:solidFill>
                  <a:srgbClr val="667789"/>
                </a:solidFill>
              </a:rPr>
              <a:t> </a:t>
            </a:r>
            <a:r>
              <a:rPr lang="en-US" sz="790" b="1">
                <a:solidFill>
                  <a:srgbClr val="667789"/>
                </a:solidFill>
              </a:rPr>
              <a:t>затрат</a:t>
            </a:r>
            <a:endParaRPr lang="en-US" sz="790"/>
          </a:p>
        </p:txBody>
      </p:sp>
      <p:sp>
        <p:nvSpPr>
          <p:cNvPr id="17" name="Shape 14"/>
          <p:cNvSpPr/>
          <p:nvPr/>
        </p:nvSpPr>
        <p:spPr>
          <a:xfrm>
            <a:off x="2944368" y="4733417"/>
            <a:ext cx="411480" cy="0"/>
          </a:xfrm>
          <a:prstGeom prst="line">
            <a:avLst/>
          </a:prstGeom>
          <a:noFill/>
          <a:ln w="12700">
            <a:solidFill>
              <a:srgbClr val="C8851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2978767" y="4748784"/>
            <a:ext cx="10332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sz="1250" b="1">
                <a:solidFill>
                  <a:srgbClr val="223042"/>
                </a:solidFill>
              </a:rPr>
              <a:t>348,0 </a:t>
            </a:r>
            <a:r>
              <a:rPr sz="1250" b="1" err="1">
                <a:solidFill>
                  <a:srgbClr val="223042"/>
                </a:solidFill>
              </a:rPr>
              <a:t>млн</a:t>
            </a:r>
            <a:r>
              <a:rPr sz="1250" b="1">
                <a:solidFill>
                  <a:srgbClr val="223042"/>
                </a:solidFill>
              </a:rPr>
              <a:t> ₽</a:t>
            </a:r>
            <a:endParaRPr lang="en-US" sz="1100"/>
          </a:p>
        </p:txBody>
      </p:sp>
      <p:sp>
        <p:nvSpPr>
          <p:cNvPr id="19" name="Shape 16"/>
          <p:cNvSpPr/>
          <p:nvPr/>
        </p:nvSpPr>
        <p:spPr>
          <a:xfrm>
            <a:off x="585216" y="5404104"/>
            <a:ext cx="1536192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8DFE8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67512" y="5468112"/>
            <a:ext cx="13716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90" b="1">
                <a:solidFill>
                  <a:srgbClr val="667789"/>
                </a:solidFill>
              </a:rPr>
              <a:t>Собственный ресурс</a:t>
            </a:r>
            <a:endParaRPr lang="en-US" sz="790"/>
          </a:p>
        </p:txBody>
      </p:sp>
      <p:sp>
        <p:nvSpPr>
          <p:cNvPr id="21" name="Shape 18"/>
          <p:cNvSpPr/>
          <p:nvPr/>
        </p:nvSpPr>
        <p:spPr>
          <a:xfrm>
            <a:off x="667512" y="5586984"/>
            <a:ext cx="411480" cy="0"/>
          </a:xfrm>
          <a:prstGeom prst="line">
            <a:avLst/>
          </a:prstGeom>
          <a:noFill/>
          <a:ln w="12700">
            <a:solidFill>
              <a:srgbClr val="21985D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67512" y="5669280"/>
            <a:ext cx="1371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sz="1300" b="1">
                <a:solidFill>
                  <a:srgbClr val="223042"/>
                </a:solidFill>
              </a:rPr>
              <a:t>573,3 </a:t>
            </a:r>
            <a:r>
              <a:rPr sz="1300" b="1" err="1">
                <a:solidFill>
                  <a:srgbClr val="223042"/>
                </a:solidFill>
              </a:rPr>
              <a:t>млн</a:t>
            </a:r>
            <a:r>
              <a:rPr sz="1300" b="1">
                <a:solidFill>
                  <a:srgbClr val="223042"/>
                </a:solidFill>
              </a:rPr>
              <a:t> ₽</a:t>
            </a:r>
            <a:endParaRPr lang="en-US" sz="1120"/>
          </a:p>
        </p:txBody>
      </p:sp>
      <p:sp>
        <p:nvSpPr>
          <p:cNvPr id="23" name="Shape 20"/>
          <p:cNvSpPr/>
          <p:nvPr/>
        </p:nvSpPr>
        <p:spPr>
          <a:xfrm>
            <a:off x="2267712" y="5404104"/>
            <a:ext cx="1536192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8DFE8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2350008" y="5468112"/>
            <a:ext cx="13716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90" b="1">
                <a:solidFill>
                  <a:srgbClr val="667789"/>
                </a:solidFill>
              </a:rPr>
              <a:t>Подрядный ресурс</a:t>
            </a:r>
            <a:endParaRPr lang="en-US" sz="790"/>
          </a:p>
        </p:txBody>
      </p:sp>
      <p:sp>
        <p:nvSpPr>
          <p:cNvPr id="25" name="Shape 22"/>
          <p:cNvSpPr/>
          <p:nvPr/>
        </p:nvSpPr>
        <p:spPr>
          <a:xfrm>
            <a:off x="2350008" y="5586984"/>
            <a:ext cx="411480" cy="0"/>
          </a:xfrm>
          <a:prstGeom prst="line">
            <a:avLst/>
          </a:prstGeom>
          <a:noFill/>
          <a:ln w="12700">
            <a:solidFill>
              <a:srgbClr val="C88518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2350008" y="5669280"/>
            <a:ext cx="1371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sz="1300" b="1">
                <a:solidFill>
                  <a:srgbClr val="223042"/>
                </a:solidFill>
              </a:rPr>
              <a:t>429,5 млн ₽</a:t>
            </a:r>
            <a:endParaRPr lang="en-US" sz="1120"/>
          </a:p>
        </p:txBody>
      </p:sp>
      <p:sp>
        <p:nvSpPr>
          <p:cNvPr id="30" name="Text 27"/>
          <p:cNvSpPr/>
          <p:nvPr/>
        </p:nvSpPr>
        <p:spPr>
          <a:xfrm>
            <a:off x="384048" y="6510528"/>
            <a:ext cx="75895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>
                <a:solidFill>
                  <a:srgbClr val="718196"/>
                </a:solidFill>
              </a:rPr>
              <a:t>Кутузовский 32 • ИТСО • все цены приведены с НДС 22%</a:t>
            </a:r>
            <a:r>
              <a:rPr lang="ru-RU" sz="700">
                <a:solidFill>
                  <a:srgbClr val="718196"/>
                </a:solidFill>
              </a:rPr>
              <a:t>. Не является публичной офертой. </a:t>
            </a:r>
            <a:endParaRPr lang="en-US" sz="700"/>
          </a:p>
        </p:txBody>
      </p:sp>
      <p:sp>
        <p:nvSpPr>
          <p:cNvPr id="31" name="Text 28"/>
          <p:cNvSpPr/>
          <p:nvPr/>
        </p:nvSpPr>
        <p:spPr>
          <a:xfrm>
            <a:off x="11612880" y="6492240"/>
            <a:ext cx="2011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>
                <a:solidFill>
                  <a:srgbClr val="718196"/>
                </a:solidFill>
              </a:rPr>
              <a:t>1</a:t>
            </a:r>
            <a:endParaRPr lang="en-US" sz="700"/>
          </a:p>
        </p:txBody>
      </p:sp>
      <p:pic>
        <p:nvPicPr>
          <p:cNvPr id="32" name="Рисунок 31">
            <a:extLst>
              <a:ext uri="{FF2B5EF4-FFF2-40B4-BE49-F238E27FC236}">
                <a16:creationId xmlns:a16="http://schemas.microsoft.com/office/drawing/2014/main" id="{AFDDAE32-3782-4D1D-A7CE-B955CEA4A41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5230" y="278549"/>
            <a:ext cx="1729318" cy="7185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F2F53"/>
          </a:solidFill>
          <a:ln w="12700">
            <a:solidFill>
              <a:srgbClr val="0F2F5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384048" y="310896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50" b="1">
                <a:solidFill>
                  <a:srgbClr val="223042"/>
                </a:solidFill>
              </a:rPr>
              <a:t>Параметры объекта и методология</a:t>
            </a:r>
            <a:endParaRPr lang="en-US" sz="2150"/>
          </a:p>
        </p:txBody>
      </p:sp>
      <p:sp>
        <p:nvSpPr>
          <p:cNvPr id="4" name="Text 2"/>
          <p:cNvSpPr/>
          <p:nvPr/>
        </p:nvSpPr>
        <p:spPr>
          <a:xfrm>
            <a:off x="384048" y="630936"/>
            <a:ext cx="111099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>
                <a:solidFill>
                  <a:srgbClr val="667789"/>
                </a:solidFill>
              </a:rPr>
              <a:t>В основе модели </a:t>
            </a:r>
            <a:r>
              <a:rPr lang="ru-RU" sz="880">
                <a:solidFill>
                  <a:srgbClr val="667789"/>
                </a:solidFill>
              </a:rPr>
              <a:t>предварительные </a:t>
            </a:r>
            <a:r>
              <a:rPr lang="en-US" sz="880">
                <a:solidFill>
                  <a:srgbClr val="667789"/>
                </a:solidFill>
              </a:rPr>
              <a:t>расчеты </a:t>
            </a:r>
            <a:r>
              <a:rPr lang="ru-RU" sz="880">
                <a:solidFill>
                  <a:srgbClr val="667789"/>
                </a:solidFill>
              </a:rPr>
              <a:t>стоимости </a:t>
            </a:r>
            <a:r>
              <a:rPr lang="en-US" sz="880">
                <a:solidFill>
                  <a:srgbClr val="667789"/>
                </a:solidFill>
              </a:rPr>
              <a:t>оборудовани</a:t>
            </a:r>
            <a:r>
              <a:rPr lang="ru-RU" sz="880">
                <a:solidFill>
                  <a:srgbClr val="667789"/>
                </a:solidFill>
              </a:rPr>
              <a:t>я</a:t>
            </a:r>
            <a:r>
              <a:rPr lang="en-US" sz="880">
                <a:solidFill>
                  <a:srgbClr val="667789"/>
                </a:solidFill>
              </a:rPr>
              <a:t>, материал</a:t>
            </a:r>
            <a:r>
              <a:rPr lang="ru-RU" sz="880">
                <a:solidFill>
                  <a:srgbClr val="667789"/>
                </a:solidFill>
              </a:rPr>
              <a:t>ов</a:t>
            </a:r>
            <a:r>
              <a:rPr lang="en-US" sz="880">
                <a:solidFill>
                  <a:srgbClr val="667789"/>
                </a:solidFill>
              </a:rPr>
              <a:t>, работ</a:t>
            </a:r>
            <a:r>
              <a:rPr lang="ru-RU" sz="880">
                <a:solidFill>
                  <a:srgbClr val="667789"/>
                </a:solidFill>
              </a:rPr>
              <a:t> (СМР/ПНР)</a:t>
            </a:r>
            <a:r>
              <a:rPr lang="en-US" sz="880">
                <a:solidFill>
                  <a:srgbClr val="667789"/>
                </a:solidFill>
              </a:rPr>
              <a:t> и проектировани</a:t>
            </a:r>
            <a:r>
              <a:rPr lang="ru-RU" sz="880">
                <a:solidFill>
                  <a:srgbClr val="667789"/>
                </a:solidFill>
              </a:rPr>
              <a:t>я</a:t>
            </a:r>
            <a:r>
              <a:rPr lang="en-US" sz="880">
                <a:solidFill>
                  <a:srgbClr val="667789"/>
                </a:solidFill>
              </a:rPr>
              <a:t>.</a:t>
            </a:r>
            <a:endParaRPr lang="en-US" sz="880"/>
          </a:p>
        </p:txBody>
      </p:sp>
      <p:sp>
        <p:nvSpPr>
          <p:cNvPr id="5" name="Shape 3"/>
          <p:cNvSpPr/>
          <p:nvPr/>
        </p:nvSpPr>
        <p:spPr>
          <a:xfrm>
            <a:off x="384048" y="868680"/>
            <a:ext cx="11292840" cy="0"/>
          </a:xfrm>
          <a:prstGeom prst="line">
            <a:avLst/>
          </a:prstGeom>
          <a:noFill/>
          <a:ln w="12700">
            <a:solidFill>
              <a:srgbClr val="2C7FE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384047" y="1005840"/>
            <a:ext cx="3663695" cy="2926080"/>
          </a:xfrm>
          <a:prstGeom prst="roundRect">
            <a:avLst>
              <a:gd name="adj" fmla="val 1875"/>
            </a:avLst>
          </a:prstGeom>
          <a:solidFill>
            <a:srgbClr val="FFFFFF"/>
          </a:solidFill>
          <a:ln w="12700">
            <a:solidFill>
              <a:srgbClr val="D8DF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7955280" y="1005840"/>
            <a:ext cx="3840480" cy="804672"/>
          </a:xfrm>
          <a:prstGeom prst="roundRect">
            <a:avLst>
              <a:gd name="adj" fmla="val 6818"/>
            </a:avLst>
          </a:prstGeom>
          <a:solidFill>
            <a:srgbClr val="123A66"/>
          </a:solidFill>
          <a:ln w="12700">
            <a:solidFill>
              <a:srgbClr val="123A6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8037576" y="1069848"/>
            <a:ext cx="367588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DCE7F3"/>
                </a:solidFill>
              </a:rPr>
              <a:t>Итог модели</a:t>
            </a:r>
            <a:r>
              <a:rPr lang="ru-RU" sz="1200" b="1">
                <a:solidFill>
                  <a:srgbClr val="DCE7F3"/>
                </a:solidFill>
              </a:rPr>
              <a:t> (сметная стоимость)</a:t>
            </a:r>
            <a:endParaRPr lang="en-US" sz="1200"/>
          </a:p>
        </p:txBody>
      </p:sp>
      <p:sp>
        <p:nvSpPr>
          <p:cNvPr id="14" name="Shape 12"/>
          <p:cNvSpPr/>
          <p:nvPr/>
        </p:nvSpPr>
        <p:spPr>
          <a:xfrm>
            <a:off x="8037576" y="1196340"/>
            <a:ext cx="411480" cy="0"/>
          </a:xfrm>
          <a:prstGeom prst="line">
            <a:avLst/>
          </a:prstGeom>
          <a:noFill/>
          <a:ln w="12700">
            <a:solidFill>
              <a:srgbClr val="2C7FE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8037576" y="1271016"/>
            <a:ext cx="367588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sz="2000" b="1">
                <a:solidFill>
                  <a:srgbClr val="FFFFFF"/>
                </a:solidFill>
              </a:rPr>
              <a:t>347,98 </a:t>
            </a:r>
            <a:r>
              <a:rPr sz="2000" b="1" err="1">
                <a:solidFill>
                  <a:srgbClr val="FFFFFF"/>
                </a:solidFill>
              </a:rPr>
              <a:t>млн</a:t>
            </a:r>
            <a:r>
              <a:rPr sz="2000" b="1">
                <a:solidFill>
                  <a:srgbClr val="FFFFFF"/>
                </a:solidFill>
              </a:rPr>
              <a:t> ₽</a:t>
            </a:r>
            <a:endParaRPr lang="en-US" sz="2000"/>
          </a:p>
        </p:txBody>
      </p:sp>
      <p:sp>
        <p:nvSpPr>
          <p:cNvPr id="16" name="Shape 14"/>
          <p:cNvSpPr/>
          <p:nvPr/>
        </p:nvSpPr>
        <p:spPr>
          <a:xfrm>
            <a:off x="7955280" y="2011680"/>
            <a:ext cx="877824" cy="676656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 w="12700">
            <a:solidFill>
              <a:srgbClr val="D8DF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8037576" y="2075688"/>
            <a:ext cx="78181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90" b="1">
                <a:solidFill>
                  <a:srgbClr val="667789"/>
                </a:solidFill>
              </a:rPr>
              <a:t>Оборуд</a:t>
            </a:r>
            <a:r>
              <a:rPr lang="ru-RU" sz="790" b="1">
                <a:solidFill>
                  <a:srgbClr val="667789"/>
                </a:solidFill>
              </a:rPr>
              <a:t>ование</a:t>
            </a:r>
            <a:endParaRPr lang="en-US" sz="790"/>
          </a:p>
        </p:txBody>
      </p:sp>
      <p:sp>
        <p:nvSpPr>
          <p:cNvPr id="18" name="Shape 16"/>
          <p:cNvSpPr/>
          <p:nvPr/>
        </p:nvSpPr>
        <p:spPr>
          <a:xfrm>
            <a:off x="8037576" y="2194560"/>
            <a:ext cx="411480" cy="0"/>
          </a:xfrm>
          <a:prstGeom prst="line">
            <a:avLst/>
          </a:prstGeom>
          <a:noFill/>
          <a:ln w="12700">
            <a:solidFill>
              <a:srgbClr val="21985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7968996" y="2204418"/>
            <a:ext cx="8778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sz="1200" b="1">
                <a:solidFill>
                  <a:srgbClr val="223042"/>
                </a:solidFill>
              </a:rPr>
              <a:t>141,2 </a:t>
            </a:r>
            <a:r>
              <a:rPr sz="1200" b="1" err="1">
                <a:solidFill>
                  <a:srgbClr val="223042"/>
                </a:solidFill>
              </a:rPr>
              <a:t>млн</a:t>
            </a:r>
            <a:r>
              <a:rPr sz="1200" b="1">
                <a:solidFill>
                  <a:srgbClr val="223042"/>
                </a:solidFill>
              </a:rPr>
              <a:t> ₽</a:t>
            </a:r>
            <a:endParaRPr lang="en-US" sz="1030"/>
          </a:p>
        </p:txBody>
      </p:sp>
      <p:sp>
        <p:nvSpPr>
          <p:cNvPr id="20" name="Shape 18"/>
          <p:cNvSpPr/>
          <p:nvPr/>
        </p:nvSpPr>
        <p:spPr>
          <a:xfrm>
            <a:off x="8915400" y="2011680"/>
            <a:ext cx="877824" cy="676656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 w="12700">
            <a:solidFill>
              <a:srgbClr val="D8DF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8997696" y="2075688"/>
            <a:ext cx="71323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90" b="1">
                <a:solidFill>
                  <a:srgbClr val="667789"/>
                </a:solidFill>
              </a:rPr>
              <a:t>Матер</a:t>
            </a:r>
            <a:r>
              <a:rPr lang="ru-RU" sz="790" b="1">
                <a:solidFill>
                  <a:srgbClr val="667789"/>
                </a:solidFill>
              </a:rPr>
              <a:t>иалы</a:t>
            </a:r>
            <a:endParaRPr lang="en-US" sz="790"/>
          </a:p>
        </p:txBody>
      </p:sp>
      <p:sp>
        <p:nvSpPr>
          <p:cNvPr id="22" name="Shape 20"/>
          <p:cNvSpPr/>
          <p:nvPr/>
        </p:nvSpPr>
        <p:spPr>
          <a:xfrm>
            <a:off x="8997696" y="2194560"/>
            <a:ext cx="411480" cy="0"/>
          </a:xfrm>
          <a:prstGeom prst="line">
            <a:avLst/>
          </a:prstGeom>
          <a:noFill/>
          <a:ln w="12700">
            <a:solidFill>
              <a:srgbClr val="C8851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Text 21"/>
          <p:cNvSpPr/>
          <p:nvPr/>
        </p:nvSpPr>
        <p:spPr>
          <a:xfrm>
            <a:off x="8987409" y="2198322"/>
            <a:ext cx="84353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sz="1200" b="1">
                <a:solidFill>
                  <a:srgbClr val="223042"/>
                </a:solidFill>
              </a:rPr>
              <a:t>52,2 </a:t>
            </a:r>
            <a:r>
              <a:rPr sz="1200" b="1" err="1">
                <a:solidFill>
                  <a:srgbClr val="223042"/>
                </a:solidFill>
              </a:rPr>
              <a:t>млн</a:t>
            </a:r>
            <a:r>
              <a:rPr sz="1200" b="1">
                <a:solidFill>
                  <a:srgbClr val="223042"/>
                </a:solidFill>
              </a:rPr>
              <a:t> ₽</a:t>
            </a:r>
            <a:endParaRPr lang="en-US" sz="1030"/>
          </a:p>
        </p:txBody>
      </p:sp>
      <p:sp>
        <p:nvSpPr>
          <p:cNvPr id="24" name="Shape 22"/>
          <p:cNvSpPr/>
          <p:nvPr/>
        </p:nvSpPr>
        <p:spPr>
          <a:xfrm>
            <a:off x="9875520" y="2011680"/>
            <a:ext cx="877824" cy="676656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 w="12700">
            <a:solidFill>
              <a:srgbClr val="D8DF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23"/>
          <p:cNvSpPr/>
          <p:nvPr/>
        </p:nvSpPr>
        <p:spPr>
          <a:xfrm>
            <a:off x="9957816" y="2075688"/>
            <a:ext cx="71323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90" b="1">
                <a:solidFill>
                  <a:srgbClr val="667789"/>
                </a:solidFill>
              </a:rPr>
              <a:t>Работы</a:t>
            </a:r>
            <a:endParaRPr lang="en-US" sz="790"/>
          </a:p>
        </p:txBody>
      </p:sp>
      <p:sp>
        <p:nvSpPr>
          <p:cNvPr id="26" name="Shape 24"/>
          <p:cNvSpPr/>
          <p:nvPr/>
        </p:nvSpPr>
        <p:spPr>
          <a:xfrm>
            <a:off x="9957816" y="2194560"/>
            <a:ext cx="411480" cy="0"/>
          </a:xfrm>
          <a:prstGeom prst="line">
            <a:avLst/>
          </a:prstGeom>
          <a:noFill/>
          <a:ln w="12700">
            <a:solidFill>
              <a:srgbClr val="2C7FE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Text 25"/>
          <p:cNvSpPr/>
          <p:nvPr/>
        </p:nvSpPr>
        <p:spPr>
          <a:xfrm>
            <a:off x="9875520" y="2210514"/>
            <a:ext cx="8778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sz="1200" b="1">
                <a:solidFill>
                  <a:srgbClr val="223042"/>
                </a:solidFill>
              </a:rPr>
              <a:t>128,4 </a:t>
            </a:r>
            <a:r>
              <a:rPr sz="1200" b="1" err="1">
                <a:solidFill>
                  <a:srgbClr val="223042"/>
                </a:solidFill>
              </a:rPr>
              <a:t>млн</a:t>
            </a:r>
            <a:r>
              <a:rPr sz="1200" b="1">
                <a:solidFill>
                  <a:srgbClr val="223042"/>
                </a:solidFill>
              </a:rPr>
              <a:t> ₽</a:t>
            </a:r>
            <a:endParaRPr lang="en-US" sz="1030"/>
          </a:p>
        </p:txBody>
      </p:sp>
      <p:sp>
        <p:nvSpPr>
          <p:cNvPr id="28" name="Shape 26"/>
          <p:cNvSpPr/>
          <p:nvPr/>
        </p:nvSpPr>
        <p:spPr>
          <a:xfrm>
            <a:off x="10835640" y="2011680"/>
            <a:ext cx="960120" cy="676656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 w="12700">
            <a:solidFill>
              <a:srgbClr val="D8DF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Text 27"/>
          <p:cNvSpPr/>
          <p:nvPr/>
        </p:nvSpPr>
        <p:spPr>
          <a:xfrm>
            <a:off x="10917936" y="2057403"/>
            <a:ext cx="890016" cy="1371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90" b="1">
                <a:solidFill>
                  <a:srgbClr val="667789"/>
                </a:solidFill>
              </a:rPr>
              <a:t>Проект</a:t>
            </a:r>
            <a:r>
              <a:rPr lang="ru-RU" sz="790" b="1">
                <a:solidFill>
                  <a:srgbClr val="667789"/>
                </a:solidFill>
              </a:rPr>
              <a:t>ирование</a:t>
            </a:r>
            <a:endParaRPr lang="en-US" sz="790"/>
          </a:p>
        </p:txBody>
      </p:sp>
      <p:sp>
        <p:nvSpPr>
          <p:cNvPr id="30" name="Shape 28"/>
          <p:cNvSpPr/>
          <p:nvPr/>
        </p:nvSpPr>
        <p:spPr>
          <a:xfrm>
            <a:off x="10917936" y="2194560"/>
            <a:ext cx="411480" cy="0"/>
          </a:xfrm>
          <a:prstGeom prst="line">
            <a:avLst/>
          </a:prstGeom>
          <a:noFill/>
          <a:ln w="12700">
            <a:solidFill>
              <a:srgbClr val="119DA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Text 29"/>
          <p:cNvSpPr/>
          <p:nvPr/>
        </p:nvSpPr>
        <p:spPr>
          <a:xfrm>
            <a:off x="10917936" y="2216610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sz="1200" b="1">
                <a:solidFill>
                  <a:srgbClr val="223042"/>
                </a:solidFill>
              </a:rPr>
              <a:t>26,2 </a:t>
            </a:r>
            <a:r>
              <a:rPr sz="1200" b="1" err="1">
                <a:solidFill>
                  <a:srgbClr val="223042"/>
                </a:solidFill>
              </a:rPr>
              <a:t>млн</a:t>
            </a:r>
            <a:r>
              <a:rPr sz="1200" b="1">
                <a:solidFill>
                  <a:srgbClr val="223042"/>
                </a:solidFill>
              </a:rPr>
              <a:t> ₽</a:t>
            </a:r>
            <a:endParaRPr lang="en-US" sz="1030"/>
          </a:p>
        </p:txBody>
      </p:sp>
      <p:sp>
        <p:nvSpPr>
          <p:cNvPr id="33" name="Text 31"/>
          <p:cNvSpPr/>
          <p:nvPr/>
        </p:nvSpPr>
        <p:spPr>
          <a:xfrm>
            <a:off x="530352" y="1152144"/>
            <a:ext cx="1828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223042"/>
                </a:solidFill>
              </a:rPr>
              <a:t>Параметры объекта</a:t>
            </a:r>
            <a:endParaRPr lang="en-US" sz="1400"/>
          </a:p>
        </p:txBody>
      </p:sp>
      <p:sp>
        <p:nvSpPr>
          <p:cNvPr id="34" name="Text 32"/>
          <p:cNvSpPr/>
          <p:nvPr/>
        </p:nvSpPr>
        <p:spPr>
          <a:xfrm>
            <a:off x="530351" y="1426464"/>
            <a:ext cx="3314699" cy="22402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marL="0" indent="0">
              <a:buNone/>
            </a:pPr>
            <a:r>
              <a:rPr sz="1200">
                <a:solidFill>
                  <a:srgbClr val="223042"/>
                </a:solidFill>
              </a:rPr>
              <a:t>• ПАО </a:t>
            </a:r>
            <a:r>
              <a:rPr sz="1200" err="1">
                <a:solidFill>
                  <a:srgbClr val="223042"/>
                </a:solidFill>
              </a:rPr>
              <a:t>Сбер</a:t>
            </a:r>
            <a:r>
              <a:rPr sz="1200">
                <a:solidFill>
                  <a:srgbClr val="223042"/>
                </a:solidFill>
              </a:rPr>
              <a:t>, </a:t>
            </a:r>
            <a:r>
              <a:rPr sz="1200" err="1">
                <a:solidFill>
                  <a:srgbClr val="223042"/>
                </a:solidFill>
              </a:rPr>
              <a:t>Кутузовский</a:t>
            </a:r>
            <a:r>
              <a:rPr sz="1200">
                <a:solidFill>
                  <a:srgbClr val="223042"/>
                </a:solidFill>
              </a:rPr>
              <a:t> </a:t>
            </a:r>
            <a:r>
              <a:rPr sz="1200" err="1">
                <a:solidFill>
                  <a:srgbClr val="223042"/>
                </a:solidFill>
              </a:rPr>
              <a:t>пр</a:t>
            </a:r>
            <a:r>
              <a:rPr sz="1200">
                <a:solidFill>
                  <a:srgbClr val="223042"/>
                </a:solidFill>
              </a:rPr>
              <a:t>-т, 32,</a:t>
            </a:r>
            <a:r>
              <a:rPr lang="ru-RU" sz="1200">
                <a:solidFill>
                  <a:srgbClr val="223042"/>
                </a:solidFill>
              </a:rPr>
              <a:t> </a:t>
            </a:r>
            <a:r>
              <a:rPr sz="1200">
                <a:solidFill>
                  <a:srgbClr val="223042"/>
                </a:solidFill>
              </a:rPr>
              <a:t>башня В</a:t>
            </a:r>
          </a:p>
          <a:p>
            <a:endParaRPr sz="1200">
              <a:solidFill>
                <a:srgbClr val="223042"/>
              </a:solidFill>
            </a:endParaRPr>
          </a:p>
          <a:p>
            <a:r>
              <a:rPr sz="1200">
                <a:solidFill>
                  <a:srgbClr val="223042"/>
                </a:solidFill>
              </a:rPr>
              <a:t>• </a:t>
            </a:r>
            <a:r>
              <a:rPr sz="1200" err="1">
                <a:solidFill>
                  <a:srgbClr val="223042"/>
                </a:solidFill>
              </a:rPr>
              <a:t>Защищаемая</a:t>
            </a:r>
            <a:r>
              <a:rPr sz="1200">
                <a:solidFill>
                  <a:srgbClr val="223042"/>
                </a:solidFill>
              </a:rPr>
              <a:t> </a:t>
            </a:r>
            <a:r>
              <a:rPr sz="1200" err="1">
                <a:solidFill>
                  <a:srgbClr val="223042"/>
                </a:solidFill>
              </a:rPr>
              <a:t>площадь</a:t>
            </a:r>
            <a:r>
              <a:rPr sz="1200">
                <a:solidFill>
                  <a:srgbClr val="223042"/>
                </a:solidFill>
              </a:rPr>
              <a:t> — 120 804 м²</a:t>
            </a:r>
          </a:p>
          <a:p>
            <a:endParaRPr sz="1200">
              <a:solidFill>
                <a:srgbClr val="223042"/>
              </a:solidFill>
            </a:endParaRPr>
          </a:p>
          <a:p>
            <a:r>
              <a:rPr sz="1200">
                <a:solidFill>
                  <a:srgbClr val="223042"/>
                </a:solidFill>
              </a:rPr>
              <a:t>• </a:t>
            </a:r>
            <a:r>
              <a:rPr sz="1200" err="1">
                <a:solidFill>
                  <a:srgbClr val="223042"/>
                </a:solidFill>
              </a:rPr>
              <a:t>Этажность</a:t>
            </a:r>
            <a:r>
              <a:rPr sz="1200">
                <a:solidFill>
                  <a:srgbClr val="223042"/>
                </a:solidFill>
              </a:rPr>
              <a:t> — 17 </a:t>
            </a:r>
            <a:r>
              <a:rPr sz="1200" err="1">
                <a:solidFill>
                  <a:srgbClr val="223042"/>
                </a:solidFill>
              </a:rPr>
              <a:t>надземных</a:t>
            </a:r>
            <a:r>
              <a:rPr sz="1200">
                <a:solidFill>
                  <a:srgbClr val="223042"/>
                </a:solidFill>
              </a:rPr>
              <a:t>, 18-й</a:t>
            </a:r>
          </a:p>
          <a:p>
            <a:r>
              <a:rPr sz="1200" err="1">
                <a:solidFill>
                  <a:srgbClr val="223042"/>
                </a:solidFill>
              </a:rPr>
              <a:t>уровень</a:t>
            </a:r>
            <a:r>
              <a:rPr sz="1200">
                <a:solidFill>
                  <a:srgbClr val="223042"/>
                </a:solidFill>
              </a:rPr>
              <a:t> — </a:t>
            </a:r>
            <a:r>
              <a:rPr sz="1200" err="1">
                <a:solidFill>
                  <a:srgbClr val="223042"/>
                </a:solidFill>
              </a:rPr>
              <a:t>ресторан</a:t>
            </a:r>
            <a:r>
              <a:rPr sz="1200">
                <a:solidFill>
                  <a:srgbClr val="223042"/>
                </a:solidFill>
              </a:rPr>
              <a:t>, 5 </a:t>
            </a:r>
            <a:r>
              <a:rPr sz="1200" err="1">
                <a:solidFill>
                  <a:srgbClr val="223042"/>
                </a:solidFill>
              </a:rPr>
              <a:t>подземных</a:t>
            </a:r>
            <a:endParaRPr sz="1200">
              <a:solidFill>
                <a:srgbClr val="223042"/>
              </a:solidFill>
            </a:endParaRPr>
          </a:p>
          <a:p>
            <a:endParaRPr sz="1200">
              <a:solidFill>
                <a:srgbClr val="223042"/>
              </a:solidFill>
            </a:endParaRPr>
          </a:p>
          <a:p>
            <a:r>
              <a:rPr sz="1200">
                <a:solidFill>
                  <a:srgbClr val="223042"/>
                </a:solidFill>
              </a:rPr>
              <a:t>• </a:t>
            </a:r>
            <a:r>
              <a:rPr sz="1200" err="1">
                <a:solidFill>
                  <a:srgbClr val="223042"/>
                </a:solidFill>
              </a:rPr>
              <a:t>Подсистемы</a:t>
            </a:r>
            <a:r>
              <a:rPr sz="1200">
                <a:solidFill>
                  <a:srgbClr val="223042"/>
                </a:solidFill>
              </a:rPr>
              <a:t> — СОТС, СКУД, ТСВ,</a:t>
            </a:r>
            <a:r>
              <a:rPr lang="ru-RU" sz="1200">
                <a:solidFill>
                  <a:srgbClr val="223042"/>
                </a:solidFill>
              </a:rPr>
              <a:t> </a:t>
            </a:r>
            <a:r>
              <a:rPr sz="1200">
                <a:solidFill>
                  <a:srgbClr val="223042"/>
                </a:solidFill>
              </a:rPr>
              <a:t>КНС, ССОИ</a:t>
            </a:r>
          </a:p>
          <a:p>
            <a:endParaRPr sz="1200">
              <a:solidFill>
                <a:srgbClr val="223042"/>
              </a:solidFill>
            </a:endParaRPr>
          </a:p>
          <a:p>
            <a:r>
              <a:rPr sz="1200">
                <a:solidFill>
                  <a:srgbClr val="223042"/>
                </a:solidFill>
              </a:rPr>
              <a:t>• </a:t>
            </a:r>
            <a:r>
              <a:rPr sz="1200" err="1">
                <a:solidFill>
                  <a:srgbClr val="223042"/>
                </a:solidFill>
              </a:rPr>
              <a:t>Вендоры</a:t>
            </a:r>
            <a:r>
              <a:rPr sz="1200">
                <a:solidFill>
                  <a:srgbClr val="223042"/>
                </a:solidFill>
              </a:rPr>
              <a:t> — </a:t>
            </a:r>
            <a:r>
              <a:rPr sz="1200" err="1">
                <a:solidFill>
                  <a:srgbClr val="223042"/>
                </a:solidFill>
              </a:rPr>
              <a:t>Бастион</a:t>
            </a:r>
            <a:r>
              <a:rPr sz="1200">
                <a:solidFill>
                  <a:srgbClr val="223042"/>
                </a:solidFill>
              </a:rPr>
              <a:t> (СОТС, СКУД),</a:t>
            </a:r>
          </a:p>
          <a:p>
            <a:r>
              <a:rPr sz="1200">
                <a:solidFill>
                  <a:srgbClr val="223042"/>
                </a:solidFill>
              </a:rPr>
              <a:t>Flow (ТСВ), Huawei (ССОИ)</a:t>
            </a:r>
          </a:p>
        </p:txBody>
      </p:sp>
      <p:sp>
        <p:nvSpPr>
          <p:cNvPr id="51" name="Text 49"/>
          <p:cNvSpPr/>
          <p:nvPr/>
        </p:nvSpPr>
        <p:spPr>
          <a:xfrm>
            <a:off x="384048" y="6510528"/>
            <a:ext cx="75895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>
                <a:solidFill>
                  <a:srgbClr val="718196"/>
                </a:solidFill>
              </a:rPr>
              <a:t>Кутузовский 32 • ИТСО • все цены приведены с НДС 22%</a:t>
            </a:r>
            <a:endParaRPr lang="en-US" sz="700"/>
          </a:p>
        </p:txBody>
      </p:sp>
      <p:sp>
        <p:nvSpPr>
          <p:cNvPr id="52" name="Text 50"/>
          <p:cNvSpPr/>
          <p:nvPr/>
        </p:nvSpPr>
        <p:spPr>
          <a:xfrm>
            <a:off x="11612880" y="6492240"/>
            <a:ext cx="2011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>
                <a:solidFill>
                  <a:srgbClr val="718196"/>
                </a:solidFill>
              </a:rPr>
              <a:t>2</a:t>
            </a:r>
            <a:endParaRPr lang="en-US" sz="700"/>
          </a:p>
        </p:txBody>
      </p:sp>
      <p:sp>
        <p:nvSpPr>
          <p:cNvPr id="53" name="Rounded Rectangle 52"/>
          <p:cNvSpPr/>
          <p:nvPr/>
        </p:nvSpPr>
        <p:spPr>
          <a:xfrm>
            <a:off x="4194047" y="2822354"/>
            <a:ext cx="6431280" cy="3514341"/>
          </a:xfrm>
          <a:prstGeom prst="roundRect">
            <a:avLst>
              <a:gd name="adj" fmla="val 8000"/>
            </a:avLst>
          </a:prstGeom>
          <a:solidFill>
            <a:srgbClr val="F7F9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4562853" y="2820084"/>
            <a:ext cx="406995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>
                <a:solidFill>
                  <a:srgbClr val="5F6D84"/>
                </a:solidFill>
              </a:rPr>
              <a:t>Распределение</a:t>
            </a:r>
            <a:r>
              <a:rPr b="1">
                <a:solidFill>
                  <a:srgbClr val="5F6D84"/>
                </a:solidFill>
              </a:rPr>
              <a:t> прямых затрат</a:t>
            </a:r>
          </a:p>
        </p:txBody>
      </p:sp>
      <p:graphicFrame>
        <p:nvGraphicFramePr>
          <p:cNvPr id="55" name="Chart 5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713497"/>
              </p:ext>
            </p:extLst>
          </p:nvPr>
        </p:nvGraphicFramePr>
        <p:xfrm>
          <a:off x="4514088" y="3164601"/>
          <a:ext cx="5855207" cy="299997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7" name="Shape 24">
            <a:extLst>
              <a:ext uri="{FF2B5EF4-FFF2-40B4-BE49-F238E27FC236}">
                <a16:creationId xmlns:a16="http://schemas.microsoft.com/office/drawing/2014/main" id="{B4821DDC-ABAA-43A3-A52A-D66083332A88}"/>
              </a:ext>
            </a:extLst>
          </p:cNvPr>
          <p:cNvSpPr/>
          <p:nvPr/>
        </p:nvSpPr>
        <p:spPr>
          <a:xfrm>
            <a:off x="4229099" y="1033272"/>
            <a:ext cx="3218688" cy="1243584"/>
          </a:xfrm>
          <a:prstGeom prst="roundRect">
            <a:avLst>
              <a:gd name="adj" fmla="val 7317"/>
            </a:avLst>
          </a:prstGeom>
          <a:solidFill>
            <a:srgbClr val="17385C"/>
          </a:solidFill>
          <a:ln w="12700">
            <a:solidFill>
              <a:srgbClr val="17385C"/>
            </a:solidFill>
            <a:prstDash val="solid"/>
          </a:ln>
        </p:spPr>
      </p:sp>
      <p:sp>
        <p:nvSpPr>
          <p:cNvPr id="58" name="Text 25">
            <a:extLst>
              <a:ext uri="{FF2B5EF4-FFF2-40B4-BE49-F238E27FC236}">
                <a16:creationId xmlns:a16="http://schemas.microsoft.com/office/drawing/2014/main" id="{35E6409A-8118-4E2B-9B6D-49E2C86C4F26}"/>
              </a:ext>
            </a:extLst>
          </p:cNvPr>
          <p:cNvSpPr/>
          <p:nvPr/>
        </p:nvSpPr>
        <p:spPr>
          <a:xfrm>
            <a:off x="4375402" y="1143000"/>
            <a:ext cx="278891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DCE7F3"/>
                </a:solidFill>
              </a:rPr>
              <a:t>Примененные коэффициенты</a:t>
            </a:r>
            <a:endParaRPr lang="en-US" sz="1200"/>
          </a:p>
        </p:txBody>
      </p:sp>
      <p:sp>
        <p:nvSpPr>
          <p:cNvPr id="59" name="Text 26">
            <a:extLst>
              <a:ext uri="{FF2B5EF4-FFF2-40B4-BE49-F238E27FC236}">
                <a16:creationId xmlns:a16="http://schemas.microsoft.com/office/drawing/2014/main" id="{A569F057-14B8-40F0-8F63-D620F080207D}"/>
              </a:ext>
            </a:extLst>
          </p:cNvPr>
          <p:cNvSpPr/>
          <p:nvPr/>
        </p:nvSpPr>
        <p:spPr>
          <a:xfrm>
            <a:off x="4375401" y="1289304"/>
            <a:ext cx="2788920" cy="90525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>
                <a:solidFill>
                  <a:srgbClr val="FFFFFF"/>
                </a:solidFill>
              </a:rPr>
              <a:t>Ночь K=2,0 (20%)   </a:t>
            </a:r>
            <a:endParaRPr lang="ru-RU" sz="1000">
              <a:solidFill>
                <a:srgbClr val="FFFFFF"/>
              </a:solidFill>
            </a:endParaRPr>
          </a:p>
          <a:p>
            <a:pPr marL="0" indent="0">
              <a:buNone/>
            </a:pPr>
            <a:r>
              <a:rPr lang="en-US" sz="1000">
                <a:solidFill>
                  <a:srgbClr val="FFFFFF"/>
                </a:solidFill>
              </a:rPr>
              <a:t>•   </a:t>
            </a:r>
            <a:r>
              <a:rPr lang="ru-RU" sz="1000">
                <a:solidFill>
                  <a:srgbClr val="FFFFFF"/>
                </a:solidFill>
              </a:rPr>
              <a:t> </a:t>
            </a:r>
            <a:r>
              <a:rPr lang="en-US" sz="1000">
                <a:solidFill>
                  <a:srgbClr val="FFFFFF"/>
                </a:solidFill>
              </a:rPr>
              <a:t>Доступ K=1,15 (100%)</a:t>
            </a:r>
            <a:endParaRPr lang="en-US" sz="100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>
                <a:solidFill>
                  <a:srgbClr val="FFFFFF"/>
                </a:solidFill>
              </a:rPr>
              <a:t>Высота K=1,05 (60%)   </a:t>
            </a:r>
            <a:endParaRPr lang="ru-RU" sz="1000">
              <a:solidFill>
                <a:srgbClr val="FFFFFF"/>
              </a:solidFill>
            </a:endParaRPr>
          </a:p>
          <a:p>
            <a:pPr marL="0" indent="0">
              <a:buNone/>
            </a:pPr>
            <a:r>
              <a:rPr lang="en-US" sz="1000">
                <a:solidFill>
                  <a:srgbClr val="FFFFFF"/>
                </a:solidFill>
              </a:rPr>
              <a:t>•   </a:t>
            </a:r>
            <a:r>
              <a:rPr lang="ru-RU" sz="1000">
                <a:solidFill>
                  <a:srgbClr val="FFFFFF"/>
                </a:solidFill>
              </a:rPr>
              <a:t> </a:t>
            </a:r>
            <a:r>
              <a:rPr lang="en-US" sz="1000">
                <a:solidFill>
                  <a:srgbClr val="FFFFFF"/>
                </a:solidFill>
              </a:rPr>
              <a:t>Выходные K=1,5 (10%)</a:t>
            </a:r>
            <a:endParaRPr lang="en-US" sz="1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F2F53"/>
          </a:solidFill>
          <a:ln w="12700">
            <a:solidFill>
              <a:srgbClr val="0F2F5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310896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50" b="1">
                <a:solidFill>
                  <a:srgbClr val="223042"/>
                </a:solidFill>
              </a:rPr>
              <a:t>Проектирование</a:t>
            </a:r>
            <a:endParaRPr lang="en-US" sz="2150"/>
          </a:p>
        </p:txBody>
      </p:sp>
      <p:sp>
        <p:nvSpPr>
          <p:cNvPr id="4" name="Text 2"/>
          <p:cNvSpPr/>
          <p:nvPr/>
        </p:nvSpPr>
        <p:spPr>
          <a:xfrm>
            <a:off x="384048" y="630936"/>
            <a:ext cx="111099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>
                <a:solidFill>
                  <a:srgbClr val="667789"/>
                </a:solidFill>
              </a:rPr>
              <a:t>Смета проектных работ</a:t>
            </a:r>
            <a:r>
              <a:rPr lang="ru-RU" sz="880">
                <a:solidFill>
                  <a:srgbClr val="667789"/>
                </a:solidFill>
              </a:rPr>
              <a:t> (форма № 2П)</a:t>
            </a:r>
            <a:endParaRPr lang="en-US" sz="880"/>
          </a:p>
        </p:txBody>
      </p:sp>
      <p:sp>
        <p:nvSpPr>
          <p:cNvPr id="5" name="Shape 3"/>
          <p:cNvSpPr/>
          <p:nvPr/>
        </p:nvSpPr>
        <p:spPr>
          <a:xfrm>
            <a:off x="384048" y="868680"/>
            <a:ext cx="11292840" cy="0"/>
          </a:xfrm>
          <a:prstGeom prst="line">
            <a:avLst/>
          </a:prstGeom>
          <a:noFill/>
          <a:ln w="12700">
            <a:solidFill>
              <a:srgbClr val="119DA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84048" y="1005840"/>
            <a:ext cx="6446520" cy="3931919"/>
          </a:xfrm>
          <a:prstGeom prst="roundRect">
            <a:avLst>
              <a:gd name="adj" fmla="val 1026"/>
            </a:avLst>
          </a:prstGeom>
          <a:solidFill>
            <a:srgbClr val="FFFFFF"/>
          </a:solidFill>
          <a:ln w="12700">
            <a:solidFill>
              <a:srgbClr val="D8DF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013448" y="1005840"/>
            <a:ext cx="4782312" cy="804672"/>
          </a:xfrm>
          <a:prstGeom prst="roundRect">
            <a:avLst>
              <a:gd name="adj" fmla="val 6818"/>
            </a:avLst>
          </a:prstGeom>
          <a:solidFill>
            <a:srgbClr val="123A66"/>
          </a:solidFill>
          <a:ln w="12700">
            <a:solidFill>
              <a:srgbClr val="123A6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095744" y="1069848"/>
            <a:ext cx="46177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DCE7F3"/>
                </a:solidFill>
              </a:rPr>
              <a:t>Итого по проектированию</a:t>
            </a:r>
            <a:r>
              <a:rPr lang="ru-RU" sz="1200" b="1">
                <a:solidFill>
                  <a:srgbClr val="DCE7F3"/>
                </a:solidFill>
              </a:rPr>
              <a:t> (сметная стоимость)</a:t>
            </a:r>
            <a:endParaRPr lang="en-US" sz="1200"/>
          </a:p>
        </p:txBody>
      </p:sp>
      <p:sp>
        <p:nvSpPr>
          <p:cNvPr id="9" name="Shape 7"/>
          <p:cNvSpPr/>
          <p:nvPr/>
        </p:nvSpPr>
        <p:spPr>
          <a:xfrm>
            <a:off x="7086600" y="1200912"/>
            <a:ext cx="411480" cy="0"/>
          </a:xfrm>
          <a:prstGeom prst="line">
            <a:avLst/>
          </a:prstGeom>
          <a:noFill/>
          <a:ln w="12700">
            <a:solidFill>
              <a:srgbClr val="119DA2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0" name="Text 8"/>
          <p:cNvSpPr/>
          <p:nvPr/>
        </p:nvSpPr>
        <p:spPr>
          <a:xfrm>
            <a:off x="7095744" y="1271016"/>
            <a:ext cx="4617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2000" b="1">
                <a:solidFill>
                  <a:srgbClr val="FFFFFF"/>
                </a:solidFill>
              </a:rPr>
              <a:t>26,19 млн ₽</a:t>
            </a:r>
          </a:p>
        </p:txBody>
      </p:sp>
      <p:sp>
        <p:nvSpPr>
          <p:cNvPr id="11" name="Shape 9"/>
          <p:cNvSpPr/>
          <p:nvPr/>
        </p:nvSpPr>
        <p:spPr>
          <a:xfrm>
            <a:off x="7013448" y="2011680"/>
            <a:ext cx="1051560" cy="676656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 w="12700">
            <a:solidFill>
              <a:srgbClr val="D8DF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095744" y="2075688"/>
            <a:ext cx="88696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90" b="1">
                <a:solidFill>
                  <a:srgbClr val="667789"/>
                </a:solidFill>
              </a:rPr>
              <a:t>СОТС</a:t>
            </a:r>
            <a:endParaRPr lang="en-US" sz="790"/>
          </a:p>
        </p:txBody>
      </p:sp>
      <p:sp>
        <p:nvSpPr>
          <p:cNvPr id="13" name="Shape 11"/>
          <p:cNvSpPr/>
          <p:nvPr/>
        </p:nvSpPr>
        <p:spPr>
          <a:xfrm>
            <a:off x="7095744" y="2194560"/>
            <a:ext cx="411480" cy="0"/>
          </a:xfrm>
          <a:prstGeom prst="line">
            <a:avLst/>
          </a:prstGeom>
          <a:noFill/>
          <a:ln w="12700">
            <a:solidFill>
              <a:srgbClr val="21985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095744" y="2276856"/>
            <a:ext cx="8869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>
                <a:solidFill>
                  <a:srgbClr val="223042"/>
                </a:solidFill>
              </a:rPr>
              <a:t>1,6 млн ₽</a:t>
            </a:r>
            <a:endParaRPr lang="en-US" sz="1050"/>
          </a:p>
        </p:txBody>
      </p:sp>
      <p:sp>
        <p:nvSpPr>
          <p:cNvPr id="15" name="Shape 13"/>
          <p:cNvSpPr/>
          <p:nvPr/>
        </p:nvSpPr>
        <p:spPr>
          <a:xfrm>
            <a:off x="8211312" y="2011680"/>
            <a:ext cx="1051560" cy="676656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 w="12700">
            <a:solidFill>
              <a:srgbClr val="D8DFE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93608" y="2075688"/>
            <a:ext cx="88696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90" b="1">
                <a:solidFill>
                  <a:srgbClr val="667789"/>
                </a:solidFill>
              </a:rPr>
              <a:t>СКУД</a:t>
            </a:r>
            <a:endParaRPr lang="en-US" sz="790"/>
          </a:p>
        </p:txBody>
      </p:sp>
      <p:sp>
        <p:nvSpPr>
          <p:cNvPr id="17" name="Shape 15"/>
          <p:cNvSpPr/>
          <p:nvPr/>
        </p:nvSpPr>
        <p:spPr>
          <a:xfrm>
            <a:off x="8293608" y="2194560"/>
            <a:ext cx="411480" cy="0"/>
          </a:xfrm>
          <a:prstGeom prst="line">
            <a:avLst/>
          </a:prstGeom>
          <a:noFill/>
          <a:ln w="12700">
            <a:solidFill>
              <a:srgbClr val="C8851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93608" y="2276856"/>
            <a:ext cx="8869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>
                <a:solidFill>
                  <a:srgbClr val="223042"/>
                </a:solidFill>
              </a:rPr>
              <a:t>7,5 млн ₽</a:t>
            </a:r>
            <a:endParaRPr lang="en-US" sz="1050"/>
          </a:p>
        </p:txBody>
      </p:sp>
      <p:sp>
        <p:nvSpPr>
          <p:cNvPr id="19" name="Shape 17"/>
          <p:cNvSpPr/>
          <p:nvPr/>
        </p:nvSpPr>
        <p:spPr>
          <a:xfrm>
            <a:off x="9409176" y="2011680"/>
            <a:ext cx="1051560" cy="676656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 w="12700">
            <a:solidFill>
              <a:srgbClr val="D8DFE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491472" y="2075688"/>
            <a:ext cx="88696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90" b="1">
                <a:solidFill>
                  <a:srgbClr val="667789"/>
                </a:solidFill>
              </a:rPr>
              <a:t>ТСВ</a:t>
            </a:r>
            <a:endParaRPr lang="en-US" sz="790"/>
          </a:p>
        </p:txBody>
      </p:sp>
      <p:sp>
        <p:nvSpPr>
          <p:cNvPr id="21" name="Shape 19"/>
          <p:cNvSpPr/>
          <p:nvPr/>
        </p:nvSpPr>
        <p:spPr>
          <a:xfrm>
            <a:off x="9491472" y="2194560"/>
            <a:ext cx="411480" cy="0"/>
          </a:xfrm>
          <a:prstGeom prst="line">
            <a:avLst/>
          </a:prstGeom>
          <a:noFill/>
          <a:ln w="12700">
            <a:solidFill>
              <a:srgbClr val="2C7FE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491472" y="2276856"/>
            <a:ext cx="8869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>
                <a:solidFill>
                  <a:srgbClr val="223042"/>
                </a:solidFill>
              </a:rPr>
              <a:t>3,8 млн ₽</a:t>
            </a:r>
            <a:endParaRPr lang="en-US" sz="1050"/>
          </a:p>
        </p:txBody>
      </p:sp>
      <p:sp>
        <p:nvSpPr>
          <p:cNvPr id="23" name="Shape 21"/>
          <p:cNvSpPr/>
          <p:nvPr/>
        </p:nvSpPr>
        <p:spPr>
          <a:xfrm>
            <a:off x="10607040" y="2011680"/>
            <a:ext cx="1188720" cy="676656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 w="12700">
            <a:solidFill>
              <a:srgbClr val="D8DFE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689336" y="2075688"/>
            <a:ext cx="102412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90" b="1">
                <a:solidFill>
                  <a:srgbClr val="667789"/>
                </a:solidFill>
              </a:rPr>
              <a:t>ССОИ</a:t>
            </a:r>
            <a:endParaRPr lang="en-US" sz="790"/>
          </a:p>
        </p:txBody>
      </p:sp>
      <p:sp>
        <p:nvSpPr>
          <p:cNvPr id="25" name="Shape 23"/>
          <p:cNvSpPr/>
          <p:nvPr/>
        </p:nvSpPr>
        <p:spPr>
          <a:xfrm>
            <a:off x="10689336" y="2194560"/>
            <a:ext cx="411480" cy="0"/>
          </a:xfrm>
          <a:prstGeom prst="line">
            <a:avLst/>
          </a:prstGeom>
          <a:noFill/>
          <a:ln w="12700">
            <a:solidFill>
              <a:srgbClr val="119DA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689336" y="2276856"/>
            <a:ext cx="10241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>
                <a:solidFill>
                  <a:srgbClr val="223042"/>
                </a:solidFill>
              </a:rPr>
              <a:t>13,3 млн ₽</a:t>
            </a:r>
            <a:endParaRPr lang="en-US" sz="1050"/>
          </a:p>
        </p:txBody>
      </p:sp>
      <p:sp>
        <p:nvSpPr>
          <p:cNvPr id="27" name="Shape 25"/>
          <p:cNvSpPr/>
          <p:nvPr/>
        </p:nvSpPr>
        <p:spPr>
          <a:xfrm>
            <a:off x="7013448" y="2907792"/>
            <a:ext cx="4782312" cy="859536"/>
          </a:xfrm>
          <a:prstGeom prst="roundRect">
            <a:avLst>
              <a:gd name="adj" fmla="val 6383"/>
            </a:avLst>
          </a:prstGeom>
          <a:solidFill>
            <a:srgbClr val="FFFFFF"/>
          </a:solidFill>
          <a:ln w="12700">
            <a:solidFill>
              <a:srgbClr val="D8DFE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104888" y="2980944"/>
            <a:ext cx="459943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90" b="1">
                <a:solidFill>
                  <a:srgbClr val="667789"/>
                </a:solidFill>
              </a:rPr>
              <a:t>Структура стоимости</a:t>
            </a:r>
            <a:endParaRPr lang="en-US" sz="790"/>
          </a:p>
        </p:txBody>
      </p:sp>
      <p:sp>
        <p:nvSpPr>
          <p:cNvPr id="29" name="Shape 27"/>
          <p:cNvSpPr/>
          <p:nvPr/>
        </p:nvSpPr>
        <p:spPr>
          <a:xfrm>
            <a:off x="7104888" y="3191256"/>
            <a:ext cx="4599432" cy="164592"/>
          </a:xfrm>
          <a:prstGeom prst="rect">
            <a:avLst/>
          </a:prstGeom>
          <a:solidFill>
            <a:srgbClr val="E8EDF3"/>
          </a:solidFill>
          <a:ln w="12700">
            <a:solidFill>
              <a:srgbClr val="E8EDF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104888" y="3191256"/>
            <a:ext cx="282533" cy="164592"/>
          </a:xfrm>
          <a:prstGeom prst="rect">
            <a:avLst/>
          </a:prstGeom>
          <a:solidFill>
            <a:srgbClr val="21985D"/>
          </a:solidFill>
          <a:ln w="12700">
            <a:solidFill>
              <a:srgbClr val="21985D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387421" y="3191256"/>
            <a:ext cx="1320932" cy="164592"/>
          </a:xfrm>
          <a:prstGeom prst="rect">
            <a:avLst/>
          </a:prstGeom>
          <a:solidFill>
            <a:srgbClr val="C88518"/>
          </a:solidFill>
          <a:ln w="12700">
            <a:solidFill>
              <a:srgbClr val="C8851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708354" y="3191256"/>
            <a:ext cx="664241" cy="164592"/>
          </a:xfrm>
          <a:prstGeom prst="rect">
            <a:avLst/>
          </a:prstGeom>
          <a:solidFill>
            <a:srgbClr val="2C7FE3"/>
          </a:solidFill>
          <a:ln w="12700">
            <a:solidFill>
              <a:srgbClr val="2C7FE3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372595" y="3191256"/>
            <a:ext cx="2331725" cy="164592"/>
          </a:xfrm>
          <a:prstGeom prst="rect">
            <a:avLst/>
          </a:prstGeom>
          <a:solidFill>
            <a:srgbClr val="119DA2"/>
          </a:solidFill>
          <a:ln w="12700">
            <a:solidFill>
              <a:srgbClr val="119DA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104888" y="3429000"/>
            <a:ext cx="45994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80">
                <a:solidFill>
                  <a:srgbClr val="223042"/>
                </a:solidFill>
              </a:rPr>
              <a:t>СОТС 6,1% • СКУД 28,7% • ТСВ 14,4% • ССОИ 50,7%</a:t>
            </a:r>
            <a:endParaRPr lang="en-US" sz="780"/>
          </a:p>
        </p:txBody>
      </p:sp>
      <p:sp>
        <p:nvSpPr>
          <p:cNvPr id="35" name="Text 33"/>
          <p:cNvSpPr/>
          <p:nvPr/>
        </p:nvSpPr>
        <p:spPr>
          <a:xfrm>
            <a:off x="530352" y="1170432"/>
            <a:ext cx="60807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70" b="1">
                <a:solidFill>
                  <a:srgbClr val="119DA2"/>
                </a:solidFill>
              </a:rPr>
              <a:t>Состав и логика расчета</a:t>
            </a:r>
            <a:endParaRPr lang="en-US" sz="1070"/>
          </a:p>
        </p:txBody>
      </p:sp>
      <p:sp>
        <p:nvSpPr>
          <p:cNvPr id="36" name="Text 34"/>
          <p:cNvSpPr/>
          <p:nvPr/>
        </p:nvSpPr>
        <p:spPr>
          <a:xfrm>
            <a:off x="530352" y="1353312"/>
            <a:ext cx="6080760" cy="43251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marL="0" indent="0">
              <a:buNone/>
            </a:pPr>
            <a:r>
              <a:rPr lang="en-US" sz="895">
                <a:solidFill>
                  <a:srgbClr val="223042"/>
                </a:solidFill>
              </a:rPr>
              <a:t>• СОТС: расчет по защищаемой площади 120 804,6 м²; применены коэффициенты Ктек = 1,65, K = 1,2 на скрытую прокладку и K = 1,1 на три рубежа защиты.</a:t>
            </a:r>
            <a:endParaRPr lang="ru-RU" sz="895">
              <a:solidFill>
                <a:srgbClr val="223042"/>
              </a:solidFill>
            </a:endParaRPr>
          </a:p>
          <a:p>
            <a:pPr marL="0" indent="0">
              <a:buNone/>
            </a:pPr>
            <a:endParaRPr lang="en-US" sz="895"/>
          </a:p>
          <a:p>
            <a:pPr marL="0" indent="0">
              <a:buNone/>
            </a:pPr>
            <a:r>
              <a:rPr lang="en-US" sz="895">
                <a:solidFill>
                  <a:srgbClr val="223042"/>
                </a:solidFill>
              </a:rPr>
              <a:t>• СКУД: базовый показатель — 575 мест контроля доступа; дополнительно учтены АРМ оператора ИТСО и серверный комплекс раздела.</a:t>
            </a:r>
            <a:endParaRPr lang="ru-RU" sz="895">
              <a:solidFill>
                <a:srgbClr val="223042"/>
              </a:solidFill>
            </a:endParaRPr>
          </a:p>
          <a:p>
            <a:pPr marL="0" indent="0">
              <a:buNone/>
            </a:pPr>
            <a:endParaRPr lang="en-US" sz="895"/>
          </a:p>
          <a:p>
            <a:pPr marL="0" indent="0">
              <a:buNone/>
            </a:pPr>
            <a:r>
              <a:rPr lang="en-US" sz="895">
                <a:solidFill>
                  <a:srgbClr val="223042"/>
                </a:solidFill>
              </a:rPr>
              <a:t>• ТСВ: базовый показатель — 890 видеокамер; применен коэффициент K = 1,2 на скрытую прокладку инженерных коммуникаций.</a:t>
            </a:r>
            <a:endParaRPr lang="ru-RU" sz="895">
              <a:solidFill>
                <a:srgbClr val="223042"/>
              </a:solidFill>
            </a:endParaRPr>
          </a:p>
          <a:p>
            <a:pPr marL="0" indent="0">
              <a:buNone/>
            </a:pPr>
            <a:endParaRPr lang="en-US" sz="895"/>
          </a:p>
          <a:p>
            <a:pPr marL="0" indent="0">
              <a:buNone/>
            </a:pPr>
            <a:r>
              <a:rPr lang="en-US" sz="895">
                <a:solidFill>
                  <a:srgbClr val="223042"/>
                </a:solidFill>
              </a:rPr>
              <a:t>• ССОИ: учтены АРМ, аппаратные и серверная часть; применены коэффициенты на последующие аналогичные объекты и скрытую прокладку.</a:t>
            </a:r>
            <a:endParaRPr lang="en-US" sz="895"/>
          </a:p>
          <a:p>
            <a:pPr marL="0" indent="0">
              <a:buNone/>
            </a:pPr>
            <a:endParaRPr lang="en-US" sz="895"/>
          </a:p>
          <a:p>
            <a:pPr marL="0" indent="0">
              <a:buNone/>
            </a:pPr>
            <a:r>
              <a:rPr lang="en-US" sz="895">
                <a:solidFill>
                  <a:srgbClr val="223042"/>
                </a:solidFill>
              </a:rPr>
              <a:t>В проектной смете сохранено раздельное представление стоимости по СОТС, СКУД, ТСВ и ССОИ, что позволяет напрямую увязать проектирование с бюджетом реализации по системам.</a:t>
            </a:r>
            <a:endParaRPr lang="en-US" sz="895"/>
          </a:p>
        </p:txBody>
      </p:sp>
      <p:sp>
        <p:nvSpPr>
          <p:cNvPr id="37" name="Shape 35"/>
          <p:cNvSpPr/>
          <p:nvPr/>
        </p:nvSpPr>
        <p:spPr>
          <a:xfrm>
            <a:off x="7013448" y="3968496"/>
            <a:ext cx="2240280" cy="822960"/>
          </a:xfrm>
          <a:prstGeom prst="roundRect">
            <a:avLst>
              <a:gd name="adj" fmla="val 6667"/>
            </a:avLst>
          </a:prstGeom>
          <a:solidFill>
            <a:srgbClr val="EFF3F7"/>
          </a:solidFill>
          <a:ln w="12700">
            <a:solidFill>
              <a:srgbClr val="D8DFE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086600" y="4032504"/>
            <a:ext cx="209397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900" b="1">
                <a:solidFill>
                  <a:srgbClr val="667789"/>
                </a:solidFill>
              </a:rPr>
              <a:t>Основание СОТС</a:t>
            </a:r>
            <a:endParaRPr lang="en-US" sz="900"/>
          </a:p>
        </p:txBody>
      </p:sp>
      <p:sp>
        <p:nvSpPr>
          <p:cNvPr id="39" name="Text 37"/>
          <p:cNvSpPr/>
          <p:nvPr/>
        </p:nvSpPr>
        <p:spPr>
          <a:xfrm>
            <a:off x="7086600" y="4215384"/>
            <a:ext cx="2093976" cy="5486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915">
                <a:solidFill>
                  <a:srgbClr val="223042"/>
                </a:solidFill>
              </a:rPr>
              <a:t>120 804,6 м²</a:t>
            </a:r>
            <a:endParaRPr lang="en-US" sz="915"/>
          </a:p>
          <a:p>
            <a:pPr marL="0" indent="0">
              <a:buNone/>
            </a:pPr>
            <a:r>
              <a:rPr lang="en-US" sz="915">
                <a:solidFill>
                  <a:srgbClr val="223042"/>
                </a:solidFill>
              </a:rPr>
              <a:t>Ктек 1,65 • K 1,2 • K 1,1</a:t>
            </a:r>
            <a:endParaRPr lang="en-US" sz="915"/>
          </a:p>
        </p:txBody>
      </p:sp>
      <p:sp>
        <p:nvSpPr>
          <p:cNvPr id="40" name="Shape 38"/>
          <p:cNvSpPr/>
          <p:nvPr/>
        </p:nvSpPr>
        <p:spPr>
          <a:xfrm>
            <a:off x="9555480" y="3968496"/>
            <a:ext cx="2240280" cy="822960"/>
          </a:xfrm>
          <a:prstGeom prst="roundRect">
            <a:avLst>
              <a:gd name="adj" fmla="val 6667"/>
            </a:avLst>
          </a:prstGeom>
          <a:solidFill>
            <a:srgbClr val="EFF3F7"/>
          </a:solidFill>
          <a:ln w="12700">
            <a:solidFill>
              <a:srgbClr val="D8DFE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9628632" y="4032504"/>
            <a:ext cx="209397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r>
              <a:rPr lang="en-US" sz="900" b="1">
                <a:solidFill>
                  <a:srgbClr val="667789"/>
                </a:solidFill>
              </a:rPr>
              <a:t>Основание СКУД</a:t>
            </a:r>
          </a:p>
        </p:txBody>
      </p:sp>
      <p:sp>
        <p:nvSpPr>
          <p:cNvPr id="42" name="Text 40"/>
          <p:cNvSpPr/>
          <p:nvPr/>
        </p:nvSpPr>
        <p:spPr>
          <a:xfrm>
            <a:off x="9628632" y="4215384"/>
            <a:ext cx="2093976" cy="5486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915">
                <a:solidFill>
                  <a:srgbClr val="223042"/>
                </a:solidFill>
              </a:rPr>
              <a:t>575 мест доступа</a:t>
            </a:r>
            <a:endParaRPr lang="en-US" sz="915"/>
          </a:p>
          <a:p>
            <a:pPr marL="0" indent="0">
              <a:buNone/>
            </a:pPr>
            <a:r>
              <a:rPr lang="en-US" sz="915">
                <a:solidFill>
                  <a:srgbClr val="223042"/>
                </a:solidFill>
              </a:rPr>
              <a:t>АРМ ИТСО + серверный комплекс</a:t>
            </a:r>
            <a:endParaRPr lang="en-US" sz="915"/>
          </a:p>
        </p:txBody>
      </p:sp>
      <p:sp>
        <p:nvSpPr>
          <p:cNvPr id="43" name="Shape 41"/>
          <p:cNvSpPr/>
          <p:nvPr/>
        </p:nvSpPr>
        <p:spPr>
          <a:xfrm>
            <a:off x="7013448" y="4937760"/>
            <a:ext cx="2240280" cy="822960"/>
          </a:xfrm>
          <a:prstGeom prst="roundRect">
            <a:avLst>
              <a:gd name="adj" fmla="val 6667"/>
            </a:avLst>
          </a:prstGeom>
          <a:solidFill>
            <a:srgbClr val="EFF3F7"/>
          </a:solidFill>
          <a:ln w="12700">
            <a:solidFill>
              <a:srgbClr val="D8DFE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086600" y="5001768"/>
            <a:ext cx="209397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r>
              <a:rPr lang="en-US" sz="900" b="1">
                <a:solidFill>
                  <a:srgbClr val="667789"/>
                </a:solidFill>
              </a:rPr>
              <a:t>Основание ТСВ</a:t>
            </a:r>
          </a:p>
        </p:txBody>
      </p:sp>
      <p:sp>
        <p:nvSpPr>
          <p:cNvPr id="45" name="Text 43"/>
          <p:cNvSpPr/>
          <p:nvPr/>
        </p:nvSpPr>
        <p:spPr>
          <a:xfrm>
            <a:off x="7086600" y="5184648"/>
            <a:ext cx="2093976" cy="5486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915">
                <a:solidFill>
                  <a:srgbClr val="223042"/>
                </a:solidFill>
              </a:rPr>
              <a:t>890 камер</a:t>
            </a:r>
            <a:endParaRPr lang="en-US" sz="915"/>
          </a:p>
          <a:p>
            <a:pPr marL="0" indent="0">
              <a:buNone/>
            </a:pPr>
            <a:r>
              <a:rPr lang="en-US" sz="915">
                <a:solidFill>
                  <a:srgbClr val="223042"/>
                </a:solidFill>
              </a:rPr>
              <a:t>Ктек 1,65 • K 1,2</a:t>
            </a:r>
            <a:endParaRPr lang="en-US" sz="915"/>
          </a:p>
        </p:txBody>
      </p:sp>
      <p:sp>
        <p:nvSpPr>
          <p:cNvPr id="46" name="Shape 44"/>
          <p:cNvSpPr/>
          <p:nvPr/>
        </p:nvSpPr>
        <p:spPr>
          <a:xfrm>
            <a:off x="9555480" y="4937760"/>
            <a:ext cx="2240280" cy="822960"/>
          </a:xfrm>
          <a:prstGeom prst="roundRect">
            <a:avLst>
              <a:gd name="adj" fmla="val 6667"/>
            </a:avLst>
          </a:prstGeom>
          <a:solidFill>
            <a:srgbClr val="EFF3F7"/>
          </a:solidFill>
          <a:ln w="12700">
            <a:solidFill>
              <a:srgbClr val="D8DFE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9628632" y="5001768"/>
            <a:ext cx="209397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r>
              <a:rPr lang="en-US" sz="900" b="1">
                <a:solidFill>
                  <a:srgbClr val="667789"/>
                </a:solidFill>
              </a:rPr>
              <a:t>Основание ССОИ</a:t>
            </a:r>
          </a:p>
        </p:txBody>
      </p:sp>
      <p:sp>
        <p:nvSpPr>
          <p:cNvPr id="48" name="Text 46"/>
          <p:cNvSpPr/>
          <p:nvPr/>
        </p:nvSpPr>
        <p:spPr>
          <a:xfrm>
            <a:off x="9628632" y="5184648"/>
            <a:ext cx="2093976" cy="5486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915">
                <a:solidFill>
                  <a:srgbClr val="223042"/>
                </a:solidFill>
              </a:rPr>
              <a:t>АРМ, аппаратные и серверы</a:t>
            </a:r>
            <a:endParaRPr lang="en-US" sz="915"/>
          </a:p>
          <a:p>
            <a:pPr marL="0" indent="0">
              <a:buNone/>
            </a:pPr>
            <a:r>
              <a:rPr lang="en-US" sz="915">
                <a:solidFill>
                  <a:srgbClr val="223042"/>
                </a:solidFill>
              </a:rPr>
              <a:t>Кратность аналогичных объектов</a:t>
            </a:r>
            <a:endParaRPr lang="en-US" sz="915"/>
          </a:p>
        </p:txBody>
      </p:sp>
      <p:sp>
        <p:nvSpPr>
          <p:cNvPr id="49" name="Text 47"/>
          <p:cNvSpPr/>
          <p:nvPr/>
        </p:nvSpPr>
        <p:spPr>
          <a:xfrm>
            <a:off x="384048" y="6510528"/>
            <a:ext cx="75895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>
                <a:solidFill>
                  <a:srgbClr val="718196"/>
                </a:solidFill>
              </a:rPr>
              <a:t>Кутузовский 32 • ИТСО • все цены приведены с НДС 22%</a:t>
            </a:r>
            <a:endParaRPr lang="en-US" sz="700"/>
          </a:p>
        </p:txBody>
      </p:sp>
      <p:sp>
        <p:nvSpPr>
          <p:cNvPr id="50" name="Text 48"/>
          <p:cNvSpPr/>
          <p:nvPr/>
        </p:nvSpPr>
        <p:spPr>
          <a:xfrm>
            <a:off x="11612880" y="6492240"/>
            <a:ext cx="2011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>
                <a:solidFill>
                  <a:srgbClr val="718196"/>
                </a:solidFill>
              </a:rPr>
              <a:t>3</a:t>
            </a:r>
            <a:endParaRPr lang="en-US" sz="7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F2F53"/>
          </a:solidFill>
          <a:ln w="12700">
            <a:solidFill>
              <a:srgbClr val="0F2F5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310896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50" b="1">
                <a:solidFill>
                  <a:srgbClr val="223042"/>
                </a:solidFill>
              </a:rPr>
              <a:t>Система охранной сигнализации (СОТС)</a:t>
            </a:r>
            <a:endParaRPr lang="en-US" sz="2150"/>
          </a:p>
        </p:txBody>
      </p:sp>
      <p:sp>
        <p:nvSpPr>
          <p:cNvPr id="4" name="Text 2"/>
          <p:cNvSpPr/>
          <p:nvPr/>
        </p:nvSpPr>
        <p:spPr>
          <a:xfrm>
            <a:off x="384048" y="630936"/>
            <a:ext cx="111099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>
                <a:solidFill>
                  <a:srgbClr val="667789"/>
                </a:solidFill>
              </a:rPr>
              <a:t>Базис — адресная система «Бастион» (Elsys).</a:t>
            </a:r>
            <a:endParaRPr lang="en-US" sz="880"/>
          </a:p>
        </p:txBody>
      </p:sp>
      <p:sp>
        <p:nvSpPr>
          <p:cNvPr id="5" name="Shape 3"/>
          <p:cNvSpPr/>
          <p:nvPr/>
        </p:nvSpPr>
        <p:spPr>
          <a:xfrm>
            <a:off x="384048" y="868680"/>
            <a:ext cx="11292840" cy="0"/>
          </a:xfrm>
          <a:prstGeom prst="line">
            <a:avLst/>
          </a:prstGeom>
          <a:noFill/>
          <a:ln w="12700">
            <a:solidFill>
              <a:srgbClr val="21985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84048" y="1005840"/>
            <a:ext cx="6355080" cy="3584448"/>
          </a:xfrm>
          <a:prstGeom prst="roundRect">
            <a:avLst>
              <a:gd name="adj" fmla="val 1024"/>
            </a:avLst>
          </a:prstGeom>
          <a:solidFill>
            <a:srgbClr val="FFFFFF"/>
          </a:solidFill>
          <a:ln w="12700">
            <a:solidFill>
              <a:srgbClr val="D8DF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922008" y="1005840"/>
            <a:ext cx="4873752" cy="804672"/>
          </a:xfrm>
          <a:prstGeom prst="roundRect">
            <a:avLst>
              <a:gd name="adj" fmla="val 6818"/>
            </a:avLst>
          </a:prstGeom>
          <a:solidFill>
            <a:srgbClr val="123A66"/>
          </a:solidFill>
          <a:ln w="12700">
            <a:solidFill>
              <a:srgbClr val="123A6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004304" y="1069848"/>
            <a:ext cx="47091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>
                <a:solidFill>
                  <a:srgbClr val="DCE7F3"/>
                </a:solidFill>
              </a:rPr>
              <a:t>Итого по системе</a:t>
            </a:r>
            <a:r>
              <a:rPr lang="ru-RU" sz="1200" b="1">
                <a:solidFill>
                  <a:srgbClr val="DCE7F3"/>
                </a:solidFill>
              </a:rPr>
              <a:t> (сметная стоимость)</a:t>
            </a:r>
            <a:endParaRPr lang="en-US" sz="1200" b="1">
              <a:solidFill>
                <a:srgbClr val="DCE7F3"/>
              </a:solidFill>
            </a:endParaRPr>
          </a:p>
        </p:txBody>
      </p:sp>
      <p:sp>
        <p:nvSpPr>
          <p:cNvPr id="9" name="Shape 7"/>
          <p:cNvSpPr/>
          <p:nvPr/>
        </p:nvSpPr>
        <p:spPr>
          <a:xfrm>
            <a:off x="7004304" y="1205865"/>
            <a:ext cx="411480" cy="0"/>
          </a:xfrm>
          <a:prstGeom prst="line">
            <a:avLst/>
          </a:prstGeom>
          <a:noFill/>
          <a:ln w="12700">
            <a:solidFill>
              <a:srgbClr val="21985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004304" y="1271016"/>
            <a:ext cx="4709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2000" b="1">
                <a:solidFill>
                  <a:srgbClr val="FFFFFF"/>
                </a:solidFill>
              </a:rPr>
              <a:t>46,45 млн ₽</a:t>
            </a:r>
          </a:p>
        </p:txBody>
      </p:sp>
      <p:sp>
        <p:nvSpPr>
          <p:cNvPr id="11" name="Shape 9"/>
          <p:cNvSpPr/>
          <p:nvPr/>
        </p:nvSpPr>
        <p:spPr>
          <a:xfrm>
            <a:off x="6922008" y="2011680"/>
            <a:ext cx="1444752" cy="694944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12700">
            <a:solidFill>
              <a:srgbClr val="D8DF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004304" y="2075688"/>
            <a:ext cx="12801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90" b="1">
                <a:solidFill>
                  <a:srgbClr val="667789"/>
                </a:solidFill>
              </a:rPr>
              <a:t>Оборудование</a:t>
            </a:r>
            <a:endParaRPr lang="en-US" sz="790"/>
          </a:p>
        </p:txBody>
      </p:sp>
      <p:sp>
        <p:nvSpPr>
          <p:cNvPr id="13" name="Shape 11"/>
          <p:cNvSpPr/>
          <p:nvPr/>
        </p:nvSpPr>
        <p:spPr>
          <a:xfrm>
            <a:off x="7004304" y="2194560"/>
            <a:ext cx="411480" cy="0"/>
          </a:xfrm>
          <a:prstGeom prst="line">
            <a:avLst/>
          </a:prstGeom>
          <a:noFill/>
          <a:ln w="12700">
            <a:solidFill>
              <a:srgbClr val="21985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004304" y="2276856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b="1">
                <a:solidFill>
                  <a:srgbClr val="223042"/>
                </a:solidFill>
              </a:rPr>
              <a:t>14,3 млн ₽</a:t>
            </a:r>
            <a:endParaRPr lang="en-US" sz="1080"/>
          </a:p>
        </p:txBody>
      </p:sp>
      <p:sp>
        <p:nvSpPr>
          <p:cNvPr id="15" name="Shape 13"/>
          <p:cNvSpPr/>
          <p:nvPr/>
        </p:nvSpPr>
        <p:spPr>
          <a:xfrm>
            <a:off x="8613648" y="2011680"/>
            <a:ext cx="1444752" cy="694944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12700">
            <a:solidFill>
              <a:srgbClr val="D8DFE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695944" y="2075688"/>
            <a:ext cx="12801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90" b="1">
                <a:solidFill>
                  <a:srgbClr val="667789"/>
                </a:solidFill>
              </a:rPr>
              <a:t>Материалы</a:t>
            </a:r>
            <a:endParaRPr lang="en-US" sz="790"/>
          </a:p>
        </p:txBody>
      </p:sp>
      <p:sp>
        <p:nvSpPr>
          <p:cNvPr id="17" name="Shape 15"/>
          <p:cNvSpPr/>
          <p:nvPr/>
        </p:nvSpPr>
        <p:spPr>
          <a:xfrm>
            <a:off x="8695944" y="2194560"/>
            <a:ext cx="411480" cy="0"/>
          </a:xfrm>
          <a:prstGeom prst="line">
            <a:avLst/>
          </a:prstGeom>
          <a:noFill/>
          <a:ln w="12700">
            <a:solidFill>
              <a:srgbClr val="21985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695944" y="2276856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b="1">
                <a:solidFill>
                  <a:srgbClr val="223042"/>
                </a:solidFill>
              </a:rPr>
              <a:t>4,8 млн ₽</a:t>
            </a:r>
            <a:endParaRPr lang="en-US" sz="1080"/>
          </a:p>
        </p:txBody>
      </p:sp>
      <p:sp>
        <p:nvSpPr>
          <p:cNvPr id="19" name="Shape 17"/>
          <p:cNvSpPr/>
          <p:nvPr/>
        </p:nvSpPr>
        <p:spPr>
          <a:xfrm>
            <a:off x="10305288" y="2011680"/>
            <a:ext cx="1490472" cy="694944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12700">
            <a:solidFill>
              <a:srgbClr val="D8DFE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387584" y="2075688"/>
            <a:ext cx="13258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90" b="1">
                <a:solidFill>
                  <a:srgbClr val="667789"/>
                </a:solidFill>
              </a:rPr>
              <a:t>Работы / ПНР</a:t>
            </a:r>
            <a:endParaRPr lang="en-US" sz="790"/>
          </a:p>
        </p:txBody>
      </p:sp>
      <p:sp>
        <p:nvSpPr>
          <p:cNvPr id="21" name="Shape 19"/>
          <p:cNvSpPr/>
          <p:nvPr/>
        </p:nvSpPr>
        <p:spPr>
          <a:xfrm>
            <a:off x="10387584" y="2194560"/>
            <a:ext cx="411480" cy="0"/>
          </a:xfrm>
          <a:prstGeom prst="line">
            <a:avLst/>
          </a:prstGeom>
          <a:noFill/>
          <a:ln w="12700">
            <a:solidFill>
              <a:srgbClr val="21985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387584" y="2276856"/>
            <a:ext cx="1325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b="1">
                <a:solidFill>
                  <a:srgbClr val="223042"/>
                </a:solidFill>
              </a:rPr>
              <a:t>25,7 млн ₽</a:t>
            </a:r>
            <a:endParaRPr lang="en-US" sz="1080"/>
          </a:p>
        </p:txBody>
      </p:sp>
      <p:sp>
        <p:nvSpPr>
          <p:cNvPr id="23" name="Shape 21"/>
          <p:cNvSpPr/>
          <p:nvPr/>
        </p:nvSpPr>
        <p:spPr>
          <a:xfrm>
            <a:off x="6922008" y="2907792"/>
            <a:ext cx="4873752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D8DFE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013448" y="2980944"/>
            <a:ext cx="469087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90" b="1">
                <a:solidFill>
                  <a:srgbClr val="667789"/>
                </a:solidFill>
              </a:rPr>
              <a:t>Структура стоимости</a:t>
            </a:r>
            <a:endParaRPr lang="en-US" sz="790"/>
          </a:p>
        </p:txBody>
      </p:sp>
      <p:sp>
        <p:nvSpPr>
          <p:cNvPr id="25" name="Shape 23"/>
          <p:cNvSpPr/>
          <p:nvPr/>
        </p:nvSpPr>
        <p:spPr>
          <a:xfrm>
            <a:off x="7013448" y="3191256"/>
            <a:ext cx="4690872" cy="164592"/>
          </a:xfrm>
          <a:prstGeom prst="rect">
            <a:avLst/>
          </a:prstGeom>
          <a:solidFill>
            <a:srgbClr val="E8EDF3"/>
          </a:solidFill>
          <a:ln w="12700">
            <a:solidFill>
              <a:srgbClr val="E8EDF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013448" y="3191256"/>
            <a:ext cx="1447067" cy="164592"/>
          </a:xfrm>
          <a:prstGeom prst="rect">
            <a:avLst/>
          </a:prstGeom>
          <a:solidFill>
            <a:srgbClr val="21985D"/>
          </a:solidFill>
          <a:ln w="12700">
            <a:solidFill>
              <a:srgbClr val="21985D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460515" y="3191256"/>
            <a:ext cx="487263" cy="164592"/>
          </a:xfrm>
          <a:prstGeom prst="rect">
            <a:avLst/>
          </a:prstGeom>
          <a:solidFill>
            <a:srgbClr val="AEBBCA"/>
          </a:solidFill>
          <a:ln w="12700">
            <a:solidFill>
              <a:srgbClr val="AEBBC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947778" y="3191256"/>
            <a:ext cx="2594070" cy="164592"/>
          </a:xfrm>
          <a:prstGeom prst="rect">
            <a:avLst/>
          </a:prstGeom>
          <a:solidFill>
            <a:srgbClr val="123A66"/>
          </a:solidFill>
          <a:ln w="12700">
            <a:solidFill>
              <a:srgbClr val="123A6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1541849" y="3191256"/>
            <a:ext cx="162471" cy="164592"/>
          </a:xfrm>
          <a:prstGeom prst="rect">
            <a:avLst/>
          </a:prstGeom>
          <a:solidFill>
            <a:srgbClr val="89AFCB"/>
          </a:solidFill>
          <a:ln w="12700">
            <a:solidFill>
              <a:srgbClr val="89AFC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013448" y="3429000"/>
            <a:ext cx="46908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80">
                <a:solidFill>
                  <a:srgbClr val="223042"/>
                </a:solidFill>
              </a:rPr>
              <a:t>Обор. 30,8% • Матер. 10,4% • Работы 55,3% • Проект. 3,5%</a:t>
            </a:r>
            <a:endParaRPr lang="en-US" sz="780"/>
          </a:p>
        </p:txBody>
      </p:sp>
      <p:sp>
        <p:nvSpPr>
          <p:cNvPr id="31" name="Text 29"/>
          <p:cNvSpPr/>
          <p:nvPr/>
        </p:nvSpPr>
        <p:spPr>
          <a:xfrm>
            <a:off x="530352" y="1170432"/>
            <a:ext cx="5989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90" b="1">
                <a:solidFill>
                  <a:srgbClr val="21985D"/>
                </a:solidFill>
              </a:rPr>
              <a:t>Состав оборудования, материалов и работ</a:t>
            </a:r>
            <a:endParaRPr lang="en-US" sz="990"/>
          </a:p>
        </p:txBody>
      </p:sp>
      <p:sp>
        <p:nvSpPr>
          <p:cNvPr id="32" name="Text 30"/>
          <p:cNvSpPr/>
          <p:nvPr/>
        </p:nvSpPr>
        <p:spPr>
          <a:xfrm>
            <a:off x="530352" y="1344168"/>
            <a:ext cx="5989320" cy="1828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marL="0" indent="0">
              <a:buNone/>
            </a:pPr>
            <a:r>
              <a:rPr lang="en-US" sz="875">
                <a:solidFill>
                  <a:srgbClr val="223042"/>
                </a:solidFill>
              </a:rPr>
              <a:t>Система охранной сигнализации для внутренних зон и периметра.</a:t>
            </a:r>
            <a:endParaRPr lang="en-US" sz="875"/>
          </a:p>
        </p:txBody>
      </p:sp>
      <p:sp>
        <p:nvSpPr>
          <p:cNvPr id="33" name="Text 31"/>
          <p:cNvSpPr/>
          <p:nvPr/>
        </p:nvSpPr>
        <p:spPr>
          <a:xfrm>
            <a:off x="530352" y="1572768"/>
            <a:ext cx="5989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90" b="1">
                <a:solidFill>
                  <a:srgbClr val="21985D"/>
                </a:solidFill>
              </a:rPr>
              <a:t>Оборудование</a:t>
            </a:r>
            <a:endParaRPr lang="en-US" sz="990"/>
          </a:p>
        </p:txBody>
      </p:sp>
      <p:sp>
        <p:nvSpPr>
          <p:cNvPr id="34" name="Text 32"/>
          <p:cNvSpPr/>
          <p:nvPr/>
        </p:nvSpPr>
        <p:spPr>
          <a:xfrm>
            <a:off x="530352" y="1746504"/>
            <a:ext cx="5989320" cy="8046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marL="0" indent="0">
              <a:buNone/>
            </a:pPr>
            <a:r>
              <a:rPr lang="en-US" sz="875">
                <a:solidFill>
                  <a:srgbClr val="223042"/>
                </a:solidFill>
              </a:rPr>
              <a:t>• Контроллеры адресной линии Elsys-CP — 45 шт.</a:t>
            </a:r>
            <a:endParaRPr lang="en-US" sz="875"/>
          </a:p>
          <a:p>
            <a:pPr marL="0" indent="0">
              <a:buNone/>
            </a:pPr>
            <a:r>
              <a:rPr lang="en-US" sz="875">
                <a:solidFill>
                  <a:srgbClr val="223042"/>
                </a:solidFill>
              </a:rPr>
              <a:t>• Извещатели ИК+РВ и магнитоконтактные — 2 090 шт.</a:t>
            </a:r>
            <a:endParaRPr lang="en-US" sz="875"/>
          </a:p>
          <a:p>
            <a:pPr marL="0" indent="0">
              <a:buNone/>
            </a:pPr>
            <a:r>
              <a:rPr lang="en-US" sz="875">
                <a:solidFill>
                  <a:srgbClr val="223042"/>
                </a:solidFill>
              </a:rPr>
              <a:t>• РИП с АКБ — 35 шт.</a:t>
            </a:r>
            <a:endParaRPr lang="en-US" sz="875"/>
          </a:p>
        </p:txBody>
      </p:sp>
      <p:sp>
        <p:nvSpPr>
          <p:cNvPr id="35" name="Text 33"/>
          <p:cNvSpPr/>
          <p:nvPr/>
        </p:nvSpPr>
        <p:spPr>
          <a:xfrm>
            <a:off x="530352" y="2670048"/>
            <a:ext cx="5989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90" b="1">
                <a:solidFill>
                  <a:srgbClr val="21985D"/>
                </a:solidFill>
              </a:rPr>
              <a:t>Материалы</a:t>
            </a:r>
            <a:endParaRPr lang="en-US" sz="990"/>
          </a:p>
        </p:txBody>
      </p:sp>
      <p:sp>
        <p:nvSpPr>
          <p:cNvPr id="36" name="Text 34"/>
          <p:cNvSpPr/>
          <p:nvPr/>
        </p:nvSpPr>
        <p:spPr>
          <a:xfrm>
            <a:off x="530352" y="2843784"/>
            <a:ext cx="5989320" cy="7772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marL="0" indent="0">
              <a:buNone/>
            </a:pPr>
            <a:r>
              <a:rPr lang="en-US" sz="875">
                <a:solidFill>
                  <a:srgbClr val="223042"/>
                </a:solidFill>
              </a:rPr>
              <a:t>• Кабель КПСнг(А)-FRLS — 18 500 м</a:t>
            </a:r>
            <a:endParaRPr lang="en-US" sz="875"/>
          </a:p>
          <a:p>
            <a:pPr marL="0" indent="0">
              <a:buNone/>
            </a:pPr>
            <a:r>
              <a:rPr lang="en-US" sz="875">
                <a:solidFill>
                  <a:srgbClr val="223042"/>
                </a:solidFill>
              </a:rPr>
              <a:t>• Коробки ОЭК — 420 шт.</a:t>
            </a:r>
            <a:endParaRPr lang="en-US" sz="875"/>
          </a:p>
          <a:p>
            <a:pPr marL="0" indent="0">
              <a:buNone/>
            </a:pPr>
            <a:r>
              <a:rPr lang="en-US" sz="875">
                <a:solidFill>
                  <a:srgbClr val="223042"/>
                </a:solidFill>
              </a:rPr>
              <a:t>• Крепеж, маркировка и мелкая расходка</a:t>
            </a:r>
            <a:endParaRPr lang="en-US" sz="875"/>
          </a:p>
        </p:txBody>
      </p:sp>
      <p:sp>
        <p:nvSpPr>
          <p:cNvPr id="37" name="Text 35"/>
          <p:cNvSpPr/>
          <p:nvPr/>
        </p:nvSpPr>
        <p:spPr>
          <a:xfrm>
            <a:off x="530352" y="3730752"/>
            <a:ext cx="5989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90" b="1">
                <a:solidFill>
                  <a:srgbClr val="21985D"/>
                </a:solidFill>
              </a:rPr>
              <a:t>Работы</a:t>
            </a:r>
            <a:endParaRPr lang="en-US" sz="990"/>
          </a:p>
        </p:txBody>
      </p:sp>
      <p:sp>
        <p:nvSpPr>
          <p:cNvPr id="38" name="Text 36"/>
          <p:cNvSpPr/>
          <p:nvPr/>
        </p:nvSpPr>
        <p:spPr>
          <a:xfrm>
            <a:off x="530352" y="3904488"/>
            <a:ext cx="5989320" cy="8229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marL="0" indent="0">
              <a:buNone/>
            </a:pPr>
            <a:r>
              <a:rPr lang="en-US" sz="875">
                <a:solidFill>
                  <a:srgbClr val="223042"/>
                </a:solidFill>
              </a:rPr>
              <a:t>• Монтаж адресных линий, датчиков и шкафов</a:t>
            </a:r>
            <a:endParaRPr lang="en-US" sz="875"/>
          </a:p>
          <a:p>
            <a:pPr marL="0" indent="0">
              <a:buNone/>
            </a:pPr>
            <a:r>
              <a:rPr lang="en-US" sz="875">
                <a:solidFill>
                  <a:srgbClr val="223042"/>
                </a:solidFill>
              </a:rPr>
              <a:t>• Прокладка кабеля FRLS</a:t>
            </a:r>
            <a:endParaRPr lang="en-US" sz="875"/>
          </a:p>
          <a:p>
            <a:pPr marL="0" indent="0">
              <a:buNone/>
            </a:pPr>
            <a:r>
              <a:rPr lang="en-US" sz="875">
                <a:solidFill>
                  <a:srgbClr val="223042"/>
                </a:solidFill>
              </a:rPr>
              <a:t>• Пусконаладка и интеграция в единое ССОИ</a:t>
            </a:r>
            <a:endParaRPr lang="en-US" sz="875"/>
          </a:p>
        </p:txBody>
      </p:sp>
      <p:sp>
        <p:nvSpPr>
          <p:cNvPr id="40" name="Shape 38"/>
          <p:cNvSpPr/>
          <p:nvPr/>
        </p:nvSpPr>
        <p:spPr>
          <a:xfrm>
            <a:off x="6922008" y="3986784"/>
            <a:ext cx="1463040" cy="676656"/>
          </a:xfrm>
          <a:prstGeom prst="roundRect">
            <a:avLst>
              <a:gd name="adj" fmla="val 8108"/>
            </a:avLst>
          </a:prstGeom>
          <a:solidFill>
            <a:srgbClr val="EAF6EE"/>
          </a:solidFill>
          <a:ln w="12700">
            <a:solidFill>
              <a:srgbClr val="D8DFE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995160" y="4005072"/>
            <a:ext cx="13167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r>
              <a:rPr lang="ru-RU" sz="900" b="1">
                <a:solidFill>
                  <a:srgbClr val="667789"/>
                </a:solidFill>
              </a:rPr>
              <a:t>Стоимость </a:t>
            </a:r>
            <a:r>
              <a:rPr lang="en-US" sz="900" b="1">
                <a:solidFill>
                  <a:srgbClr val="667789"/>
                </a:solidFill>
              </a:rPr>
              <a:t>СМР</a:t>
            </a:r>
            <a:endParaRPr lang="ru-RU" sz="900" b="1">
              <a:solidFill>
                <a:srgbClr val="667789"/>
              </a:solidFill>
            </a:endParaRPr>
          </a:p>
          <a:p>
            <a:r>
              <a:rPr lang="en-US" sz="900" b="1">
                <a:solidFill>
                  <a:srgbClr val="667789"/>
                </a:solidFill>
              </a:rPr>
              <a:t>1 м кабеля</a:t>
            </a:r>
          </a:p>
        </p:txBody>
      </p:sp>
      <p:sp>
        <p:nvSpPr>
          <p:cNvPr id="42" name="Text 40"/>
          <p:cNvSpPr/>
          <p:nvPr/>
        </p:nvSpPr>
        <p:spPr>
          <a:xfrm>
            <a:off x="6995160" y="4233672"/>
            <a:ext cx="1316736" cy="40233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915">
                <a:solidFill>
                  <a:srgbClr val="223042"/>
                </a:solidFill>
              </a:rPr>
              <a:t>886 ₽</a:t>
            </a:r>
            <a:endParaRPr lang="en-US" sz="915"/>
          </a:p>
        </p:txBody>
      </p:sp>
      <p:sp>
        <p:nvSpPr>
          <p:cNvPr id="43" name="Shape 41"/>
          <p:cNvSpPr/>
          <p:nvPr/>
        </p:nvSpPr>
        <p:spPr>
          <a:xfrm>
            <a:off x="8622792" y="3986784"/>
            <a:ext cx="1463040" cy="676656"/>
          </a:xfrm>
          <a:prstGeom prst="roundRect">
            <a:avLst>
              <a:gd name="adj" fmla="val 8108"/>
            </a:avLst>
          </a:prstGeom>
          <a:solidFill>
            <a:srgbClr val="EAF6EE"/>
          </a:solidFill>
          <a:ln w="12700">
            <a:solidFill>
              <a:srgbClr val="D8DFE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695944" y="4005072"/>
            <a:ext cx="13167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r>
              <a:rPr lang="ru-RU" sz="900" b="1">
                <a:solidFill>
                  <a:srgbClr val="667789"/>
                </a:solidFill>
              </a:rPr>
              <a:t>Стоимость </a:t>
            </a:r>
            <a:r>
              <a:rPr lang="en-US" sz="900" b="1">
                <a:solidFill>
                  <a:srgbClr val="667789"/>
                </a:solidFill>
              </a:rPr>
              <a:t>СМР 1 устройства</a:t>
            </a:r>
          </a:p>
        </p:txBody>
      </p:sp>
      <p:sp>
        <p:nvSpPr>
          <p:cNvPr id="45" name="Text 43"/>
          <p:cNvSpPr/>
          <p:nvPr/>
        </p:nvSpPr>
        <p:spPr>
          <a:xfrm>
            <a:off x="8695944" y="4233672"/>
            <a:ext cx="1316736" cy="40233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915">
                <a:solidFill>
                  <a:srgbClr val="223042"/>
                </a:solidFill>
              </a:rPr>
              <a:t>3 618 ₽</a:t>
            </a:r>
            <a:endParaRPr lang="en-US" sz="915"/>
          </a:p>
        </p:txBody>
      </p:sp>
      <p:sp>
        <p:nvSpPr>
          <p:cNvPr id="46" name="Shape 44"/>
          <p:cNvSpPr/>
          <p:nvPr/>
        </p:nvSpPr>
        <p:spPr>
          <a:xfrm>
            <a:off x="10323576" y="3986784"/>
            <a:ext cx="1472184" cy="676656"/>
          </a:xfrm>
          <a:prstGeom prst="roundRect">
            <a:avLst>
              <a:gd name="adj" fmla="val 8108"/>
            </a:avLst>
          </a:prstGeom>
          <a:solidFill>
            <a:srgbClr val="EAF6EE"/>
          </a:solidFill>
          <a:ln w="12700">
            <a:solidFill>
              <a:srgbClr val="D8DFE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0396728" y="4050792"/>
            <a:ext cx="13258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r>
              <a:rPr lang="en-US" sz="900" b="1">
                <a:solidFill>
                  <a:srgbClr val="667789"/>
                </a:solidFill>
              </a:rPr>
              <a:t>45 контроллеров</a:t>
            </a:r>
          </a:p>
        </p:txBody>
      </p:sp>
      <p:sp>
        <p:nvSpPr>
          <p:cNvPr id="48" name="Text 46"/>
          <p:cNvSpPr/>
          <p:nvPr/>
        </p:nvSpPr>
        <p:spPr>
          <a:xfrm>
            <a:off x="10396728" y="4233672"/>
            <a:ext cx="1325880" cy="40233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915">
                <a:solidFill>
                  <a:srgbClr val="223042"/>
                </a:solidFill>
              </a:rPr>
              <a:t>Elsys адресная линия</a:t>
            </a:r>
            <a:endParaRPr lang="en-US" sz="915"/>
          </a:p>
        </p:txBody>
      </p:sp>
      <p:sp>
        <p:nvSpPr>
          <p:cNvPr id="49" name="Shape 47"/>
          <p:cNvSpPr/>
          <p:nvPr/>
        </p:nvSpPr>
        <p:spPr>
          <a:xfrm>
            <a:off x="6922008" y="4809744"/>
            <a:ext cx="1463040" cy="676656"/>
          </a:xfrm>
          <a:prstGeom prst="roundRect">
            <a:avLst>
              <a:gd name="adj" fmla="val 8108"/>
            </a:avLst>
          </a:prstGeom>
          <a:solidFill>
            <a:srgbClr val="EAF6EE"/>
          </a:solidFill>
          <a:ln w="12700">
            <a:solidFill>
              <a:srgbClr val="D8DFE8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995160" y="4873752"/>
            <a:ext cx="131673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r>
              <a:rPr lang="en-US" sz="900" b="1">
                <a:solidFill>
                  <a:srgbClr val="667789"/>
                </a:solidFill>
              </a:rPr>
              <a:t>2 090 извещателей</a:t>
            </a:r>
          </a:p>
        </p:txBody>
      </p:sp>
      <p:sp>
        <p:nvSpPr>
          <p:cNvPr id="51" name="Text 49"/>
          <p:cNvSpPr/>
          <p:nvPr/>
        </p:nvSpPr>
        <p:spPr>
          <a:xfrm>
            <a:off x="6995160" y="5056632"/>
            <a:ext cx="1316736" cy="40233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915">
                <a:solidFill>
                  <a:srgbClr val="223042"/>
                </a:solidFill>
              </a:rPr>
              <a:t>ИК+РВ и магнитоконтактные</a:t>
            </a:r>
            <a:endParaRPr lang="en-US" sz="915"/>
          </a:p>
        </p:txBody>
      </p:sp>
      <p:sp>
        <p:nvSpPr>
          <p:cNvPr id="52" name="Shape 50"/>
          <p:cNvSpPr/>
          <p:nvPr/>
        </p:nvSpPr>
        <p:spPr>
          <a:xfrm>
            <a:off x="8622792" y="4809744"/>
            <a:ext cx="1463040" cy="676656"/>
          </a:xfrm>
          <a:prstGeom prst="roundRect">
            <a:avLst>
              <a:gd name="adj" fmla="val 8108"/>
            </a:avLst>
          </a:prstGeom>
          <a:solidFill>
            <a:srgbClr val="EAF6EE"/>
          </a:solidFill>
          <a:ln w="12700">
            <a:solidFill>
              <a:srgbClr val="D8DFE8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8695944" y="4873752"/>
            <a:ext cx="131673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r>
              <a:rPr lang="ru-RU" sz="900" b="1">
                <a:solidFill>
                  <a:srgbClr val="667789"/>
                </a:solidFill>
              </a:rPr>
              <a:t>Кабель </a:t>
            </a:r>
            <a:r>
              <a:rPr lang="en-US" sz="900" b="1">
                <a:solidFill>
                  <a:srgbClr val="667789"/>
                </a:solidFill>
              </a:rPr>
              <a:t>18 500 м FRLS</a:t>
            </a:r>
          </a:p>
        </p:txBody>
      </p:sp>
      <p:sp>
        <p:nvSpPr>
          <p:cNvPr id="54" name="Text 52"/>
          <p:cNvSpPr/>
          <p:nvPr/>
        </p:nvSpPr>
        <p:spPr>
          <a:xfrm>
            <a:off x="8695944" y="5056632"/>
            <a:ext cx="1316736" cy="40233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915">
                <a:solidFill>
                  <a:srgbClr val="223042"/>
                </a:solidFill>
              </a:rPr>
              <a:t>кабельная группа СОТС</a:t>
            </a:r>
            <a:endParaRPr lang="en-US" sz="915"/>
          </a:p>
        </p:txBody>
      </p:sp>
      <p:sp>
        <p:nvSpPr>
          <p:cNvPr id="55" name="Shape 53"/>
          <p:cNvSpPr/>
          <p:nvPr/>
        </p:nvSpPr>
        <p:spPr>
          <a:xfrm>
            <a:off x="10323576" y="4809744"/>
            <a:ext cx="1472184" cy="676656"/>
          </a:xfrm>
          <a:prstGeom prst="roundRect">
            <a:avLst>
              <a:gd name="adj" fmla="val 8108"/>
            </a:avLst>
          </a:prstGeom>
          <a:solidFill>
            <a:srgbClr val="EAF6EE"/>
          </a:solidFill>
          <a:ln w="12700">
            <a:solidFill>
              <a:srgbClr val="D8DFE8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10396728" y="4873752"/>
            <a:ext cx="13258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r>
              <a:rPr lang="en-US" sz="900" b="1">
                <a:solidFill>
                  <a:srgbClr val="667789"/>
                </a:solidFill>
              </a:rPr>
              <a:t>420 коробок</a:t>
            </a:r>
          </a:p>
        </p:txBody>
      </p:sp>
      <p:sp>
        <p:nvSpPr>
          <p:cNvPr id="57" name="Text 55"/>
          <p:cNvSpPr/>
          <p:nvPr/>
        </p:nvSpPr>
        <p:spPr>
          <a:xfrm>
            <a:off x="10396728" y="5056632"/>
            <a:ext cx="1325880" cy="40233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915">
                <a:solidFill>
                  <a:srgbClr val="223042"/>
                </a:solidFill>
              </a:rPr>
              <a:t>распред. и монтажные</a:t>
            </a:r>
            <a:endParaRPr lang="en-US" sz="915"/>
          </a:p>
        </p:txBody>
      </p:sp>
      <p:sp>
        <p:nvSpPr>
          <p:cNvPr id="58" name="Text 56"/>
          <p:cNvSpPr/>
          <p:nvPr/>
        </p:nvSpPr>
        <p:spPr>
          <a:xfrm>
            <a:off x="384048" y="6510528"/>
            <a:ext cx="75895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>
                <a:solidFill>
                  <a:srgbClr val="718196"/>
                </a:solidFill>
              </a:rPr>
              <a:t>Кутузовский 32 • ИТСО • все цены приведены с НДС 22%</a:t>
            </a:r>
            <a:endParaRPr lang="en-US" sz="700"/>
          </a:p>
        </p:txBody>
      </p:sp>
      <p:sp>
        <p:nvSpPr>
          <p:cNvPr id="59" name="Text 57"/>
          <p:cNvSpPr/>
          <p:nvPr/>
        </p:nvSpPr>
        <p:spPr>
          <a:xfrm>
            <a:off x="11612880" y="6492240"/>
            <a:ext cx="2011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>
                <a:solidFill>
                  <a:srgbClr val="718196"/>
                </a:solidFill>
              </a:rPr>
              <a:t>4</a:t>
            </a:r>
            <a:endParaRPr lang="en-US" sz="7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F2F53"/>
          </a:solidFill>
          <a:ln w="12700">
            <a:solidFill>
              <a:srgbClr val="0F2F5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310896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50" b="1">
                <a:solidFill>
                  <a:srgbClr val="223042"/>
                </a:solidFill>
              </a:rPr>
              <a:t>Система контроля доступа (СКУД)</a:t>
            </a:r>
            <a:endParaRPr lang="en-US" sz="2150"/>
          </a:p>
        </p:txBody>
      </p:sp>
      <p:sp>
        <p:nvSpPr>
          <p:cNvPr id="4" name="Text 2"/>
          <p:cNvSpPr/>
          <p:nvPr/>
        </p:nvSpPr>
        <p:spPr>
          <a:xfrm>
            <a:off x="384048" y="630936"/>
            <a:ext cx="111099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>
                <a:solidFill>
                  <a:srgbClr val="667789"/>
                </a:solidFill>
              </a:rPr>
              <a:t>Базис — интеллектуальный доступ «Бастион».</a:t>
            </a:r>
            <a:endParaRPr lang="en-US" sz="880"/>
          </a:p>
        </p:txBody>
      </p:sp>
      <p:sp>
        <p:nvSpPr>
          <p:cNvPr id="5" name="Shape 3"/>
          <p:cNvSpPr/>
          <p:nvPr/>
        </p:nvSpPr>
        <p:spPr>
          <a:xfrm>
            <a:off x="384048" y="868680"/>
            <a:ext cx="11292840" cy="0"/>
          </a:xfrm>
          <a:prstGeom prst="line">
            <a:avLst/>
          </a:prstGeom>
          <a:noFill/>
          <a:ln w="12700">
            <a:solidFill>
              <a:srgbClr val="C8851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84048" y="1005840"/>
            <a:ext cx="6355080" cy="3584446"/>
          </a:xfrm>
          <a:prstGeom prst="roundRect">
            <a:avLst>
              <a:gd name="adj" fmla="val 1024"/>
            </a:avLst>
          </a:prstGeom>
          <a:solidFill>
            <a:srgbClr val="FFFFFF"/>
          </a:solidFill>
          <a:ln w="12700">
            <a:solidFill>
              <a:srgbClr val="D8DF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922008" y="1005840"/>
            <a:ext cx="4873752" cy="804672"/>
          </a:xfrm>
          <a:prstGeom prst="roundRect">
            <a:avLst>
              <a:gd name="adj" fmla="val 6818"/>
            </a:avLst>
          </a:prstGeom>
          <a:solidFill>
            <a:srgbClr val="123A66"/>
          </a:solidFill>
          <a:ln w="12700">
            <a:solidFill>
              <a:srgbClr val="123A6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004304" y="1069848"/>
            <a:ext cx="47091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>
                <a:solidFill>
                  <a:srgbClr val="DCE7F3"/>
                </a:solidFill>
              </a:rPr>
              <a:t>Итого по системе</a:t>
            </a:r>
            <a:r>
              <a:rPr lang="ru-RU" sz="1200" b="1">
                <a:solidFill>
                  <a:srgbClr val="DCE7F3"/>
                </a:solidFill>
              </a:rPr>
              <a:t> (сметная стоимость)</a:t>
            </a:r>
            <a:endParaRPr lang="en-US" sz="1200" b="1">
              <a:solidFill>
                <a:srgbClr val="DCE7F3"/>
              </a:solidFill>
            </a:endParaRPr>
          </a:p>
        </p:txBody>
      </p:sp>
      <p:sp>
        <p:nvSpPr>
          <p:cNvPr id="9" name="Shape 7"/>
          <p:cNvSpPr/>
          <p:nvPr/>
        </p:nvSpPr>
        <p:spPr>
          <a:xfrm>
            <a:off x="7004304" y="1188720"/>
            <a:ext cx="411480" cy="0"/>
          </a:xfrm>
          <a:prstGeom prst="line">
            <a:avLst/>
          </a:prstGeom>
          <a:noFill/>
          <a:ln w="12700">
            <a:solidFill>
              <a:srgbClr val="C88518"/>
            </a:solidFill>
            <a:prstDash val="solid"/>
          </a:ln>
        </p:spPr>
        <p:txBody>
          <a:bodyPr wrap="square"/>
          <a:lstStyle/>
          <a:p>
            <a:pPr algn="l"/>
            <a:endParaRPr lang="ru-RU" sz="800" b="1" i="0">
              <a:solidFill>
                <a:srgbClr val="FFFFFF"/>
              </a:solidFill>
            </a:endParaRPr>
          </a:p>
          <a:p>
            <a:pPr algn="l"/>
            <a:r>
              <a:rPr sz="2000" b="1" i="0">
                <a:solidFill>
                  <a:srgbClr val="FFFFFF"/>
                </a:solidFill>
              </a:rPr>
              <a:t>110,95 </a:t>
            </a:r>
            <a:r>
              <a:rPr sz="2000" b="1" i="0" err="1">
                <a:solidFill>
                  <a:srgbClr val="FFFFFF"/>
                </a:solidFill>
              </a:rPr>
              <a:t>млн</a:t>
            </a:r>
            <a:r>
              <a:rPr sz="2000" b="1" i="0">
                <a:solidFill>
                  <a:srgbClr val="FFFFFF"/>
                </a:solidFill>
              </a:rPr>
              <a:t> ₽</a:t>
            </a:r>
          </a:p>
        </p:txBody>
      </p:sp>
      <p:sp>
        <p:nvSpPr>
          <p:cNvPr id="11" name="Shape 9"/>
          <p:cNvSpPr/>
          <p:nvPr/>
        </p:nvSpPr>
        <p:spPr>
          <a:xfrm>
            <a:off x="6922008" y="2011680"/>
            <a:ext cx="1444752" cy="694944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12700">
            <a:solidFill>
              <a:srgbClr val="D8DF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004304" y="2075688"/>
            <a:ext cx="12801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90" b="1">
                <a:solidFill>
                  <a:srgbClr val="667789"/>
                </a:solidFill>
              </a:rPr>
              <a:t>Оборудование</a:t>
            </a:r>
            <a:endParaRPr lang="en-US" sz="790"/>
          </a:p>
        </p:txBody>
      </p:sp>
      <p:sp>
        <p:nvSpPr>
          <p:cNvPr id="13" name="Shape 11"/>
          <p:cNvSpPr/>
          <p:nvPr/>
        </p:nvSpPr>
        <p:spPr>
          <a:xfrm>
            <a:off x="7004304" y="2194560"/>
            <a:ext cx="411480" cy="0"/>
          </a:xfrm>
          <a:prstGeom prst="line">
            <a:avLst/>
          </a:prstGeom>
          <a:noFill/>
          <a:ln w="12700">
            <a:solidFill>
              <a:srgbClr val="C8851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004304" y="2276856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b="1">
                <a:solidFill>
                  <a:srgbClr val="223042"/>
                </a:solidFill>
              </a:rPr>
              <a:t>51,2 млн ₽</a:t>
            </a:r>
            <a:endParaRPr lang="en-US" sz="1080"/>
          </a:p>
        </p:txBody>
      </p:sp>
      <p:sp>
        <p:nvSpPr>
          <p:cNvPr id="15" name="Shape 13"/>
          <p:cNvSpPr/>
          <p:nvPr/>
        </p:nvSpPr>
        <p:spPr>
          <a:xfrm>
            <a:off x="8613648" y="2011680"/>
            <a:ext cx="1444752" cy="694944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12700">
            <a:solidFill>
              <a:srgbClr val="D8DFE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695944" y="2075688"/>
            <a:ext cx="12801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90" b="1">
                <a:solidFill>
                  <a:srgbClr val="667789"/>
                </a:solidFill>
              </a:rPr>
              <a:t>Материалы</a:t>
            </a:r>
            <a:endParaRPr lang="en-US" sz="790"/>
          </a:p>
        </p:txBody>
      </p:sp>
      <p:sp>
        <p:nvSpPr>
          <p:cNvPr id="17" name="Shape 15"/>
          <p:cNvSpPr/>
          <p:nvPr/>
        </p:nvSpPr>
        <p:spPr>
          <a:xfrm>
            <a:off x="8695944" y="2194560"/>
            <a:ext cx="411480" cy="0"/>
          </a:xfrm>
          <a:prstGeom prst="line">
            <a:avLst/>
          </a:prstGeom>
          <a:noFill/>
          <a:ln w="12700">
            <a:solidFill>
              <a:srgbClr val="C8851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695944" y="2276856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b="1">
                <a:solidFill>
                  <a:srgbClr val="223042"/>
                </a:solidFill>
              </a:rPr>
              <a:t>8,3 млн ₽</a:t>
            </a:r>
            <a:endParaRPr lang="en-US" sz="1080"/>
          </a:p>
        </p:txBody>
      </p:sp>
      <p:sp>
        <p:nvSpPr>
          <p:cNvPr id="19" name="Shape 17"/>
          <p:cNvSpPr/>
          <p:nvPr/>
        </p:nvSpPr>
        <p:spPr>
          <a:xfrm>
            <a:off x="10305288" y="2011680"/>
            <a:ext cx="1490472" cy="694944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12700">
            <a:solidFill>
              <a:srgbClr val="D8DFE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387584" y="2075688"/>
            <a:ext cx="13258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90" b="1">
                <a:solidFill>
                  <a:srgbClr val="667789"/>
                </a:solidFill>
              </a:rPr>
              <a:t>Работы / ПНР</a:t>
            </a:r>
            <a:endParaRPr lang="en-US" sz="790"/>
          </a:p>
        </p:txBody>
      </p:sp>
      <p:sp>
        <p:nvSpPr>
          <p:cNvPr id="21" name="Shape 19"/>
          <p:cNvSpPr/>
          <p:nvPr/>
        </p:nvSpPr>
        <p:spPr>
          <a:xfrm>
            <a:off x="10387584" y="2194560"/>
            <a:ext cx="411480" cy="0"/>
          </a:xfrm>
          <a:prstGeom prst="line">
            <a:avLst/>
          </a:prstGeom>
          <a:noFill/>
          <a:ln w="12700">
            <a:solidFill>
              <a:srgbClr val="C8851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387584" y="2276856"/>
            <a:ext cx="1325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sz="1200" b="1">
                <a:solidFill>
                  <a:srgbClr val="223042"/>
                </a:solidFill>
              </a:rPr>
              <a:t>43,9 </a:t>
            </a:r>
            <a:r>
              <a:rPr sz="1200" b="1" err="1">
                <a:solidFill>
                  <a:srgbClr val="223042"/>
                </a:solidFill>
              </a:rPr>
              <a:t>млн</a:t>
            </a:r>
            <a:r>
              <a:rPr sz="1200" b="1">
                <a:solidFill>
                  <a:srgbClr val="223042"/>
                </a:solidFill>
              </a:rPr>
              <a:t> ₽</a:t>
            </a:r>
            <a:endParaRPr lang="en-US" sz="1080"/>
          </a:p>
        </p:txBody>
      </p:sp>
      <p:sp>
        <p:nvSpPr>
          <p:cNvPr id="23" name="Shape 21"/>
          <p:cNvSpPr/>
          <p:nvPr/>
        </p:nvSpPr>
        <p:spPr>
          <a:xfrm>
            <a:off x="6922008" y="2907792"/>
            <a:ext cx="4873752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D8DFE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013448" y="2980944"/>
            <a:ext cx="469087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90" b="1">
                <a:solidFill>
                  <a:srgbClr val="667789"/>
                </a:solidFill>
              </a:rPr>
              <a:t>Структура стоимости</a:t>
            </a:r>
            <a:endParaRPr lang="en-US" sz="790"/>
          </a:p>
        </p:txBody>
      </p:sp>
      <p:sp>
        <p:nvSpPr>
          <p:cNvPr id="25" name="Shape 23"/>
          <p:cNvSpPr/>
          <p:nvPr/>
        </p:nvSpPr>
        <p:spPr>
          <a:xfrm>
            <a:off x="7013448" y="3191256"/>
            <a:ext cx="4690872" cy="164592"/>
          </a:xfrm>
          <a:prstGeom prst="rect">
            <a:avLst/>
          </a:prstGeom>
          <a:solidFill>
            <a:srgbClr val="E8EDF3"/>
          </a:solidFill>
          <a:ln w="12700">
            <a:solidFill>
              <a:srgbClr val="E8EDF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013448" y="3191256"/>
            <a:ext cx="2164653" cy="164592"/>
          </a:xfrm>
          <a:prstGeom prst="rect">
            <a:avLst/>
          </a:prstGeom>
          <a:solidFill>
            <a:srgbClr val="C88518"/>
          </a:solidFill>
          <a:ln w="12700">
            <a:solidFill>
              <a:srgbClr val="C8851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178101" y="3191256"/>
            <a:ext cx="350910" cy="164592"/>
          </a:xfrm>
          <a:prstGeom prst="rect">
            <a:avLst/>
          </a:prstGeom>
          <a:solidFill>
            <a:srgbClr val="AEBBCA"/>
          </a:solidFill>
          <a:ln w="12700">
            <a:solidFill>
              <a:srgbClr val="AEBBC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529012" y="3191256"/>
            <a:ext cx="1856528" cy="164592"/>
          </a:xfrm>
          <a:prstGeom prst="rect">
            <a:avLst/>
          </a:prstGeom>
          <a:solidFill>
            <a:srgbClr val="123A66"/>
          </a:solidFill>
          <a:ln w="12700">
            <a:solidFill>
              <a:srgbClr val="123A6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1385540" y="3191256"/>
            <a:ext cx="318779" cy="164592"/>
          </a:xfrm>
          <a:prstGeom prst="rect">
            <a:avLst/>
          </a:prstGeom>
          <a:solidFill>
            <a:srgbClr val="89AFCB"/>
          </a:solidFill>
          <a:ln w="12700">
            <a:solidFill>
              <a:srgbClr val="89AFC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013448" y="3429000"/>
            <a:ext cx="46908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sz="850" err="1">
                <a:solidFill>
                  <a:srgbClr val="223042"/>
                </a:solidFill>
              </a:rPr>
              <a:t>Обор</a:t>
            </a:r>
            <a:r>
              <a:rPr sz="850">
                <a:solidFill>
                  <a:srgbClr val="223042"/>
                </a:solidFill>
              </a:rPr>
              <a:t>. 46,1% • </a:t>
            </a:r>
            <a:r>
              <a:rPr sz="850" err="1">
                <a:solidFill>
                  <a:srgbClr val="223042"/>
                </a:solidFill>
              </a:rPr>
              <a:t>Матер</a:t>
            </a:r>
            <a:r>
              <a:rPr sz="850">
                <a:solidFill>
                  <a:srgbClr val="223042"/>
                </a:solidFill>
              </a:rPr>
              <a:t>. 7,5% • </a:t>
            </a:r>
            <a:r>
              <a:rPr sz="850" err="1">
                <a:solidFill>
                  <a:srgbClr val="223042"/>
                </a:solidFill>
              </a:rPr>
              <a:t>Работы</a:t>
            </a:r>
            <a:r>
              <a:rPr sz="850">
                <a:solidFill>
                  <a:srgbClr val="223042"/>
                </a:solidFill>
              </a:rPr>
              <a:t> 39,6% • </a:t>
            </a:r>
            <a:r>
              <a:rPr sz="850" err="1">
                <a:solidFill>
                  <a:srgbClr val="223042"/>
                </a:solidFill>
              </a:rPr>
              <a:t>Проект</a:t>
            </a:r>
            <a:r>
              <a:rPr sz="850">
                <a:solidFill>
                  <a:srgbClr val="223042"/>
                </a:solidFill>
              </a:rPr>
              <a:t>. 6,8%</a:t>
            </a:r>
            <a:endParaRPr lang="en-US" sz="780"/>
          </a:p>
        </p:txBody>
      </p:sp>
      <p:sp>
        <p:nvSpPr>
          <p:cNvPr id="31" name="Text 29"/>
          <p:cNvSpPr/>
          <p:nvPr/>
        </p:nvSpPr>
        <p:spPr>
          <a:xfrm>
            <a:off x="530352" y="1170432"/>
            <a:ext cx="5989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90" b="1">
                <a:solidFill>
                  <a:srgbClr val="C88518"/>
                </a:solidFill>
              </a:rPr>
              <a:t>Состав оборудования, материалов и работ</a:t>
            </a:r>
            <a:endParaRPr lang="en-US" sz="990"/>
          </a:p>
        </p:txBody>
      </p:sp>
      <p:sp>
        <p:nvSpPr>
          <p:cNvPr id="32" name="Text 30"/>
          <p:cNvSpPr/>
          <p:nvPr/>
        </p:nvSpPr>
        <p:spPr>
          <a:xfrm>
            <a:off x="530352" y="1344168"/>
            <a:ext cx="5989320" cy="1828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marL="0" indent="0">
              <a:buNone/>
            </a:pPr>
            <a:r>
              <a:rPr lang="en-US" sz="875">
                <a:solidFill>
                  <a:srgbClr val="223042"/>
                </a:solidFill>
              </a:rPr>
              <a:t>Интеллектуальная система контроля и управления доступом.</a:t>
            </a:r>
            <a:endParaRPr lang="en-US" sz="875"/>
          </a:p>
        </p:txBody>
      </p:sp>
      <p:sp>
        <p:nvSpPr>
          <p:cNvPr id="33" name="Text 31"/>
          <p:cNvSpPr/>
          <p:nvPr/>
        </p:nvSpPr>
        <p:spPr>
          <a:xfrm>
            <a:off x="530352" y="1572768"/>
            <a:ext cx="5989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90" b="1">
                <a:solidFill>
                  <a:srgbClr val="C88518"/>
                </a:solidFill>
              </a:rPr>
              <a:t>Оборудование</a:t>
            </a:r>
            <a:endParaRPr lang="en-US" sz="990"/>
          </a:p>
        </p:txBody>
      </p:sp>
      <p:sp>
        <p:nvSpPr>
          <p:cNvPr id="34" name="Text 32"/>
          <p:cNvSpPr/>
          <p:nvPr/>
        </p:nvSpPr>
        <p:spPr>
          <a:xfrm>
            <a:off x="530352" y="1746504"/>
            <a:ext cx="5989320" cy="8046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marL="0" indent="0">
              <a:buNone/>
            </a:pPr>
            <a:r>
              <a:rPr lang="en-US" sz="875">
                <a:solidFill>
                  <a:srgbClr val="223042"/>
                </a:solidFill>
              </a:rPr>
              <a:t>• Контроллеры Elsys-MB/NG — 288 шт.</a:t>
            </a:r>
            <a:endParaRPr lang="en-US" sz="875"/>
          </a:p>
          <a:p>
            <a:pPr marL="0" indent="0">
              <a:buNone/>
            </a:pPr>
            <a:r>
              <a:rPr lang="en-US" sz="875">
                <a:solidFill>
                  <a:srgbClr val="223042"/>
                </a:solidFill>
              </a:rPr>
              <a:t>• Считыватели NFC/BLE — 690 шт.</a:t>
            </a:r>
            <a:endParaRPr lang="en-US" sz="875"/>
          </a:p>
          <a:p>
            <a:pPr marL="0" indent="0">
              <a:buNone/>
            </a:pPr>
            <a:r>
              <a:rPr lang="en-US" sz="875">
                <a:solidFill>
                  <a:srgbClr val="223042"/>
                </a:solidFill>
              </a:rPr>
              <a:t>• Турникеты — 16 шт.; замки</a:t>
            </a:r>
            <a:r>
              <a:rPr lang="ru-RU" sz="875">
                <a:solidFill>
                  <a:srgbClr val="223042"/>
                </a:solidFill>
              </a:rPr>
              <a:t> </a:t>
            </a:r>
            <a:r>
              <a:rPr lang="en-US" sz="875">
                <a:solidFill>
                  <a:srgbClr val="223042"/>
                </a:solidFill>
              </a:rPr>
              <a:t>— 575 комплектов</a:t>
            </a:r>
            <a:endParaRPr lang="en-US" sz="875"/>
          </a:p>
        </p:txBody>
      </p:sp>
      <p:sp>
        <p:nvSpPr>
          <p:cNvPr id="35" name="Text 33"/>
          <p:cNvSpPr/>
          <p:nvPr/>
        </p:nvSpPr>
        <p:spPr>
          <a:xfrm>
            <a:off x="530352" y="2670048"/>
            <a:ext cx="5989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90" b="1">
                <a:solidFill>
                  <a:srgbClr val="C88518"/>
                </a:solidFill>
              </a:rPr>
              <a:t>Материалы</a:t>
            </a:r>
            <a:endParaRPr lang="en-US" sz="990"/>
          </a:p>
        </p:txBody>
      </p:sp>
      <p:sp>
        <p:nvSpPr>
          <p:cNvPr id="36" name="Text 34"/>
          <p:cNvSpPr/>
          <p:nvPr/>
        </p:nvSpPr>
        <p:spPr>
          <a:xfrm>
            <a:off x="530352" y="2843784"/>
            <a:ext cx="5989320" cy="7772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marL="0" indent="0">
              <a:buNone/>
            </a:pPr>
            <a:r>
              <a:rPr lang="en-US" sz="875">
                <a:solidFill>
                  <a:srgbClr val="223042"/>
                </a:solidFill>
              </a:rPr>
              <a:t>• Кабель UTP Cat 5e LSZH — 32 000 м</a:t>
            </a:r>
            <a:endParaRPr lang="en-US" sz="875"/>
          </a:p>
          <a:p>
            <a:pPr marL="0" indent="0">
              <a:buNone/>
            </a:pPr>
            <a:r>
              <a:rPr lang="en-US" sz="875">
                <a:solidFill>
                  <a:srgbClr val="223042"/>
                </a:solidFill>
              </a:rPr>
              <a:t>• Монтажные пластины, метизы, герметики</a:t>
            </a:r>
            <a:endParaRPr lang="en-US" sz="875"/>
          </a:p>
          <a:p>
            <a:pPr marL="0" indent="0">
              <a:buNone/>
            </a:pPr>
            <a:r>
              <a:rPr lang="en-US" sz="875">
                <a:solidFill>
                  <a:srgbClr val="223042"/>
                </a:solidFill>
              </a:rPr>
              <a:t>• Соединительная и дверная расходка</a:t>
            </a:r>
            <a:endParaRPr lang="en-US" sz="875"/>
          </a:p>
        </p:txBody>
      </p:sp>
      <p:sp>
        <p:nvSpPr>
          <p:cNvPr id="37" name="Text 35"/>
          <p:cNvSpPr/>
          <p:nvPr/>
        </p:nvSpPr>
        <p:spPr>
          <a:xfrm>
            <a:off x="530352" y="3730752"/>
            <a:ext cx="5989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90" b="1">
                <a:solidFill>
                  <a:srgbClr val="C88518"/>
                </a:solidFill>
              </a:rPr>
              <a:t>Работы</a:t>
            </a:r>
            <a:endParaRPr lang="en-US" sz="990"/>
          </a:p>
        </p:txBody>
      </p:sp>
      <p:sp>
        <p:nvSpPr>
          <p:cNvPr id="38" name="Text 36"/>
          <p:cNvSpPr/>
          <p:nvPr/>
        </p:nvSpPr>
        <p:spPr>
          <a:xfrm>
            <a:off x="530352" y="3904488"/>
            <a:ext cx="5989320" cy="8229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marL="0" indent="0">
              <a:buNone/>
            </a:pPr>
            <a:r>
              <a:rPr sz="900">
                <a:solidFill>
                  <a:srgbClr val="223042"/>
                </a:solidFill>
              </a:rPr>
              <a:t>• Слесарная врезка замков и монтаж турникетных групп</a:t>
            </a:r>
            <a:endParaRPr lang="en-US" sz="875"/>
          </a:p>
          <a:p>
            <a:r>
              <a:rPr sz="900">
                <a:solidFill>
                  <a:srgbClr val="223042"/>
                </a:solidFill>
              </a:rPr>
              <a:t>• Прокладка UTP принята по технологии СОТС, с аналогичной сложностью трасс</a:t>
            </a:r>
          </a:p>
          <a:p>
            <a:r>
              <a:rPr sz="900">
                <a:solidFill>
                  <a:srgbClr val="223042"/>
                </a:solidFill>
              </a:rPr>
              <a:t>• Программирование логики доступа и импорт баз</a:t>
            </a:r>
          </a:p>
        </p:txBody>
      </p:sp>
      <p:sp>
        <p:nvSpPr>
          <p:cNvPr id="40" name="Shape 38"/>
          <p:cNvSpPr/>
          <p:nvPr/>
        </p:nvSpPr>
        <p:spPr>
          <a:xfrm>
            <a:off x="6922008" y="3986784"/>
            <a:ext cx="1463040" cy="676656"/>
          </a:xfrm>
          <a:prstGeom prst="roundRect">
            <a:avLst>
              <a:gd name="adj" fmla="val 8108"/>
            </a:avLst>
          </a:prstGeom>
          <a:solidFill>
            <a:srgbClr val="FDF1E6"/>
          </a:solidFill>
          <a:ln w="12700">
            <a:solidFill>
              <a:srgbClr val="D8DFE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986016" y="3991356"/>
            <a:ext cx="13167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r>
              <a:rPr sz="900" b="1">
                <a:solidFill>
                  <a:srgbClr val="667789"/>
                </a:solidFill>
              </a:rPr>
              <a:t>Стоимость СМР</a:t>
            </a:r>
            <a:endParaRPr lang="en-US" sz="900" b="1">
              <a:solidFill>
                <a:srgbClr val="667789"/>
              </a:solidFill>
            </a:endParaRPr>
          </a:p>
          <a:p>
            <a:r>
              <a:rPr sz="900" b="1">
                <a:solidFill>
                  <a:srgbClr val="667789"/>
                </a:solidFill>
              </a:rPr>
              <a:t>1 м кабеля</a:t>
            </a:r>
          </a:p>
        </p:txBody>
      </p:sp>
      <p:sp>
        <p:nvSpPr>
          <p:cNvPr id="42" name="Text 40"/>
          <p:cNvSpPr/>
          <p:nvPr/>
        </p:nvSpPr>
        <p:spPr>
          <a:xfrm>
            <a:off x="6995160" y="4233672"/>
            <a:ext cx="1316736" cy="40233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r>
              <a:rPr sz="915">
                <a:solidFill>
                  <a:srgbClr val="223042"/>
                </a:solidFill>
              </a:rPr>
              <a:t>886 ₽</a:t>
            </a:r>
            <a:endParaRPr lang="en-US" sz="915">
              <a:solidFill>
                <a:srgbClr val="223042"/>
              </a:solidFill>
            </a:endParaRPr>
          </a:p>
        </p:txBody>
      </p:sp>
      <p:sp>
        <p:nvSpPr>
          <p:cNvPr id="43" name="Shape 41"/>
          <p:cNvSpPr/>
          <p:nvPr/>
        </p:nvSpPr>
        <p:spPr>
          <a:xfrm>
            <a:off x="8622792" y="3986784"/>
            <a:ext cx="1463040" cy="676656"/>
          </a:xfrm>
          <a:prstGeom prst="roundRect">
            <a:avLst>
              <a:gd name="adj" fmla="val 8108"/>
            </a:avLst>
          </a:prstGeom>
          <a:solidFill>
            <a:srgbClr val="FDF1E6"/>
          </a:solidFill>
          <a:ln w="12700">
            <a:solidFill>
              <a:srgbClr val="D8DFE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695944" y="4034790"/>
            <a:ext cx="1316736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r>
              <a:rPr sz="900" b="1">
                <a:solidFill>
                  <a:srgbClr val="667789"/>
                </a:solidFill>
              </a:rPr>
              <a:t>Стоимость монтажа</a:t>
            </a:r>
            <a:endParaRPr lang="en-US" sz="900" b="1">
              <a:solidFill>
                <a:srgbClr val="667789"/>
              </a:solidFill>
            </a:endParaRPr>
          </a:p>
          <a:p>
            <a:r>
              <a:rPr sz="900" b="1">
                <a:solidFill>
                  <a:srgbClr val="667789"/>
                </a:solidFill>
              </a:rPr>
              <a:t>1 точки прохода</a:t>
            </a:r>
          </a:p>
        </p:txBody>
      </p:sp>
      <p:sp>
        <p:nvSpPr>
          <p:cNvPr id="45" name="Text 43"/>
          <p:cNvSpPr/>
          <p:nvPr/>
        </p:nvSpPr>
        <p:spPr>
          <a:xfrm>
            <a:off x="8695944" y="4233672"/>
            <a:ext cx="1316736" cy="40233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r>
              <a:rPr sz="915">
                <a:solidFill>
                  <a:srgbClr val="223042"/>
                </a:solidFill>
              </a:rPr>
              <a:t>27 078 ₽</a:t>
            </a:r>
            <a:endParaRPr lang="en-US" sz="915">
              <a:solidFill>
                <a:srgbClr val="223042"/>
              </a:solidFill>
            </a:endParaRPr>
          </a:p>
        </p:txBody>
      </p:sp>
      <p:sp>
        <p:nvSpPr>
          <p:cNvPr id="46" name="Shape 44"/>
          <p:cNvSpPr/>
          <p:nvPr/>
        </p:nvSpPr>
        <p:spPr>
          <a:xfrm>
            <a:off x="10323576" y="3986784"/>
            <a:ext cx="1472184" cy="676656"/>
          </a:xfrm>
          <a:prstGeom prst="roundRect">
            <a:avLst>
              <a:gd name="adj" fmla="val 8108"/>
            </a:avLst>
          </a:prstGeom>
          <a:solidFill>
            <a:srgbClr val="FDF1E6"/>
          </a:solidFill>
          <a:ln w="12700">
            <a:solidFill>
              <a:srgbClr val="D8DFE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0396728" y="4050792"/>
            <a:ext cx="13258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r>
              <a:rPr lang="en-US" sz="900" b="1">
                <a:solidFill>
                  <a:srgbClr val="667789"/>
                </a:solidFill>
              </a:rPr>
              <a:t>288 контроллеров</a:t>
            </a:r>
          </a:p>
        </p:txBody>
      </p:sp>
      <p:sp>
        <p:nvSpPr>
          <p:cNvPr id="48" name="Text 46"/>
          <p:cNvSpPr/>
          <p:nvPr/>
        </p:nvSpPr>
        <p:spPr>
          <a:xfrm>
            <a:off x="10396728" y="4233672"/>
            <a:ext cx="1325880" cy="40233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915">
                <a:solidFill>
                  <a:srgbClr val="223042"/>
                </a:solidFill>
              </a:rPr>
              <a:t>Elsys-MB/NG</a:t>
            </a:r>
            <a:endParaRPr lang="en-US" sz="915"/>
          </a:p>
        </p:txBody>
      </p:sp>
      <p:sp>
        <p:nvSpPr>
          <p:cNvPr id="49" name="Shape 47"/>
          <p:cNvSpPr/>
          <p:nvPr/>
        </p:nvSpPr>
        <p:spPr>
          <a:xfrm>
            <a:off x="6922008" y="4809744"/>
            <a:ext cx="1463040" cy="676656"/>
          </a:xfrm>
          <a:prstGeom prst="roundRect">
            <a:avLst>
              <a:gd name="adj" fmla="val 8108"/>
            </a:avLst>
          </a:prstGeom>
          <a:solidFill>
            <a:srgbClr val="FDF1E6"/>
          </a:solidFill>
          <a:ln w="12700">
            <a:solidFill>
              <a:srgbClr val="D8DFE8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995160" y="4873752"/>
            <a:ext cx="131673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r>
              <a:rPr lang="en-US" sz="900" b="1">
                <a:solidFill>
                  <a:srgbClr val="667789"/>
                </a:solidFill>
              </a:rPr>
              <a:t>690 считывателей</a:t>
            </a:r>
          </a:p>
        </p:txBody>
      </p:sp>
      <p:sp>
        <p:nvSpPr>
          <p:cNvPr id="51" name="Text 49"/>
          <p:cNvSpPr/>
          <p:nvPr/>
        </p:nvSpPr>
        <p:spPr>
          <a:xfrm>
            <a:off x="6995160" y="5056632"/>
            <a:ext cx="1316736" cy="40233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915">
                <a:solidFill>
                  <a:srgbClr val="223042"/>
                </a:solidFill>
              </a:rPr>
              <a:t>NFC / BLE</a:t>
            </a:r>
            <a:endParaRPr lang="en-US" sz="915"/>
          </a:p>
        </p:txBody>
      </p:sp>
      <p:sp>
        <p:nvSpPr>
          <p:cNvPr id="52" name="Shape 50"/>
          <p:cNvSpPr/>
          <p:nvPr/>
        </p:nvSpPr>
        <p:spPr>
          <a:xfrm>
            <a:off x="8622792" y="4809744"/>
            <a:ext cx="1463040" cy="676656"/>
          </a:xfrm>
          <a:prstGeom prst="roundRect">
            <a:avLst>
              <a:gd name="adj" fmla="val 8108"/>
            </a:avLst>
          </a:prstGeom>
          <a:solidFill>
            <a:srgbClr val="FDF1E6"/>
          </a:solidFill>
          <a:ln w="12700">
            <a:solidFill>
              <a:srgbClr val="D8DFE8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8695944" y="4873752"/>
            <a:ext cx="131673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r>
              <a:rPr sz="900" b="1">
                <a:solidFill>
                  <a:srgbClr val="667789"/>
                </a:solidFill>
              </a:rPr>
              <a:t>575 точек прохода</a:t>
            </a:r>
            <a:endParaRPr lang="en-US" sz="900" b="1">
              <a:solidFill>
                <a:srgbClr val="667789"/>
              </a:solidFill>
            </a:endParaRPr>
          </a:p>
        </p:txBody>
      </p:sp>
      <p:sp>
        <p:nvSpPr>
          <p:cNvPr id="54" name="Text 52"/>
          <p:cNvSpPr/>
          <p:nvPr/>
        </p:nvSpPr>
        <p:spPr>
          <a:xfrm>
            <a:off x="8695944" y="5056632"/>
            <a:ext cx="1316736" cy="40233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sz="819">
                <a:solidFill>
                  <a:srgbClr val="223042"/>
                </a:solidFill>
              </a:rPr>
              <a:t>дверные группы</a:t>
            </a:r>
            <a:endParaRPr lang="en-US" sz="915"/>
          </a:p>
        </p:txBody>
      </p:sp>
      <p:sp>
        <p:nvSpPr>
          <p:cNvPr id="55" name="Shape 53"/>
          <p:cNvSpPr/>
          <p:nvPr/>
        </p:nvSpPr>
        <p:spPr>
          <a:xfrm>
            <a:off x="10323576" y="4809744"/>
            <a:ext cx="1472184" cy="676656"/>
          </a:xfrm>
          <a:prstGeom prst="roundRect">
            <a:avLst>
              <a:gd name="adj" fmla="val 8108"/>
            </a:avLst>
          </a:prstGeom>
          <a:solidFill>
            <a:srgbClr val="FDF1E6"/>
          </a:solidFill>
          <a:ln w="12700">
            <a:solidFill>
              <a:srgbClr val="D8DFE8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10396728" y="4873752"/>
            <a:ext cx="13258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r>
              <a:rPr lang="en-US" sz="900" b="1">
                <a:solidFill>
                  <a:srgbClr val="667789"/>
                </a:solidFill>
              </a:rPr>
              <a:t>16 турникетов</a:t>
            </a:r>
          </a:p>
        </p:txBody>
      </p:sp>
      <p:sp>
        <p:nvSpPr>
          <p:cNvPr id="57" name="Text 55"/>
          <p:cNvSpPr/>
          <p:nvPr/>
        </p:nvSpPr>
        <p:spPr>
          <a:xfrm>
            <a:off x="10396728" y="5056632"/>
            <a:ext cx="1325880" cy="40233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915">
                <a:solidFill>
                  <a:srgbClr val="223042"/>
                </a:solidFill>
              </a:rPr>
              <a:t>центральные проходные</a:t>
            </a:r>
            <a:endParaRPr lang="en-US" sz="915"/>
          </a:p>
        </p:txBody>
      </p:sp>
      <p:sp>
        <p:nvSpPr>
          <p:cNvPr id="58" name="Text 56"/>
          <p:cNvSpPr/>
          <p:nvPr/>
        </p:nvSpPr>
        <p:spPr>
          <a:xfrm>
            <a:off x="384048" y="6510528"/>
            <a:ext cx="75895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>
                <a:solidFill>
                  <a:srgbClr val="718196"/>
                </a:solidFill>
              </a:rPr>
              <a:t>Кутузовский 32 • ИТСО • все цены приведены с НДС 22%</a:t>
            </a:r>
            <a:endParaRPr lang="en-US" sz="700"/>
          </a:p>
        </p:txBody>
      </p:sp>
      <p:sp>
        <p:nvSpPr>
          <p:cNvPr id="59" name="Text 57"/>
          <p:cNvSpPr/>
          <p:nvPr/>
        </p:nvSpPr>
        <p:spPr>
          <a:xfrm>
            <a:off x="11612880" y="6492240"/>
            <a:ext cx="2011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>
                <a:solidFill>
                  <a:srgbClr val="718196"/>
                </a:solidFill>
              </a:rPr>
              <a:t>5</a:t>
            </a:r>
            <a:endParaRPr lang="en-US" sz="7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F2F53"/>
          </a:solidFill>
          <a:ln w="12700">
            <a:solidFill>
              <a:srgbClr val="0F2F5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310896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50" b="1">
                <a:solidFill>
                  <a:srgbClr val="223042"/>
                </a:solidFill>
              </a:rPr>
              <a:t>Система видеонаблюдения (ТСВ)</a:t>
            </a:r>
            <a:endParaRPr lang="en-US" sz="2150"/>
          </a:p>
        </p:txBody>
      </p:sp>
      <p:sp>
        <p:nvSpPr>
          <p:cNvPr id="4" name="Text 2"/>
          <p:cNvSpPr/>
          <p:nvPr/>
        </p:nvSpPr>
        <p:spPr>
          <a:xfrm>
            <a:off x="384048" y="630936"/>
            <a:ext cx="111099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880">
                <a:solidFill>
                  <a:srgbClr val="667789"/>
                </a:solidFill>
              </a:rPr>
              <a:t>Базис — Flow AI.</a:t>
            </a:r>
            <a:endParaRPr lang="en-US" sz="880"/>
          </a:p>
        </p:txBody>
      </p:sp>
      <p:sp>
        <p:nvSpPr>
          <p:cNvPr id="5" name="Shape 3"/>
          <p:cNvSpPr/>
          <p:nvPr/>
        </p:nvSpPr>
        <p:spPr>
          <a:xfrm>
            <a:off x="384048" y="868680"/>
            <a:ext cx="11292840" cy="0"/>
          </a:xfrm>
          <a:prstGeom prst="line">
            <a:avLst/>
          </a:prstGeom>
          <a:noFill/>
          <a:ln w="12700">
            <a:solidFill>
              <a:srgbClr val="2C7FE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84048" y="1005840"/>
            <a:ext cx="6355080" cy="3739895"/>
          </a:xfrm>
          <a:prstGeom prst="roundRect">
            <a:avLst>
              <a:gd name="adj" fmla="val 1024"/>
            </a:avLst>
          </a:prstGeom>
          <a:solidFill>
            <a:srgbClr val="FFFFFF"/>
          </a:solidFill>
          <a:ln w="12700">
            <a:solidFill>
              <a:srgbClr val="D8DF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922008" y="1005840"/>
            <a:ext cx="4873752" cy="804672"/>
          </a:xfrm>
          <a:prstGeom prst="roundRect">
            <a:avLst>
              <a:gd name="adj" fmla="val 6818"/>
            </a:avLst>
          </a:prstGeom>
          <a:solidFill>
            <a:srgbClr val="123A66"/>
          </a:solidFill>
          <a:ln w="12700">
            <a:solidFill>
              <a:srgbClr val="123A6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004304" y="1069848"/>
            <a:ext cx="47091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>
                <a:solidFill>
                  <a:srgbClr val="DCE7F3"/>
                </a:solidFill>
              </a:rPr>
              <a:t>Итого по системе</a:t>
            </a:r>
            <a:r>
              <a:rPr lang="ru-RU" sz="1200" b="1">
                <a:solidFill>
                  <a:srgbClr val="DCE7F3"/>
                </a:solidFill>
              </a:rPr>
              <a:t> (сметная стоимость)</a:t>
            </a:r>
            <a:endParaRPr lang="en-US" sz="1200" b="1">
              <a:solidFill>
                <a:srgbClr val="DCE7F3"/>
              </a:solidFill>
            </a:endParaRPr>
          </a:p>
        </p:txBody>
      </p:sp>
      <p:sp>
        <p:nvSpPr>
          <p:cNvPr id="9" name="Shape 7"/>
          <p:cNvSpPr/>
          <p:nvPr/>
        </p:nvSpPr>
        <p:spPr>
          <a:xfrm>
            <a:off x="7004304" y="1188720"/>
            <a:ext cx="411480" cy="0"/>
          </a:xfrm>
          <a:prstGeom prst="line">
            <a:avLst/>
          </a:prstGeom>
          <a:noFill/>
          <a:ln w="12700">
            <a:solidFill>
              <a:srgbClr val="2C7FE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004304" y="1271016"/>
            <a:ext cx="4709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>
                <a:solidFill>
                  <a:srgbClr val="FFFFFF"/>
                </a:solidFill>
              </a:rPr>
              <a:t>96,04 млн ₽</a:t>
            </a:r>
            <a:endParaRPr lang="en-US" sz="2000"/>
          </a:p>
        </p:txBody>
      </p:sp>
      <p:sp>
        <p:nvSpPr>
          <p:cNvPr id="11" name="Shape 9"/>
          <p:cNvSpPr/>
          <p:nvPr/>
        </p:nvSpPr>
        <p:spPr>
          <a:xfrm>
            <a:off x="6922008" y="2011680"/>
            <a:ext cx="1444752" cy="694944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12700">
            <a:solidFill>
              <a:srgbClr val="D8DF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004304" y="2075688"/>
            <a:ext cx="12801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90" b="1">
                <a:solidFill>
                  <a:srgbClr val="667789"/>
                </a:solidFill>
              </a:rPr>
              <a:t>Оборудование</a:t>
            </a:r>
            <a:endParaRPr lang="en-US" sz="790"/>
          </a:p>
        </p:txBody>
      </p:sp>
      <p:sp>
        <p:nvSpPr>
          <p:cNvPr id="13" name="Shape 11"/>
          <p:cNvSpPr/>
          <p:nvPr/>
        </p:nvSpPr>
        <p:spPr>
          <a:xfrm>
            <a:off x="7004304" y="2194560"/>
            <a:ext cx="411480" cy="0"/>
          </a:xfrm>
          <a:prstGeom prst="line">
            <a:avLst/>
          </a:prstGeom>
          <a:noFill/>
          <a:ln w="12700">
            <a:solidFill>
              <a:srgbClr val="2C7FE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004304" y="2276856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b="1">
                <a:solidFill>
                  <a:srgbClr val="223042"/>
                </a:solidFill>
              </a:rPr>
              <a:t>54,4 млн ₽</a:t>
            </a:r>
            <a:endParaRPr lang="en-US" sz="1080"/>
          </a:p>
        </p:txBody>
      </p:sp>
      <p:sp>
        <p:nvSpPr>
          <p:cNvPr id="15" name="Shape 13"/>
          <p:cNvSpPr/>
          <p:nvPr/>
        </p:nvSpPr>
        <p:spPr>
          <a:xfrm>
            <a:off x="8613648" y="2011680"/>
            <a:ext cx="1444752" cy="694944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12700">
            <a:solidFill>
              <a:srgbClr val="D8DFE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695944" y="2075688"/>
            <a:ext cx="12801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90" b="1">
                <a:solidFill>
                  <a:srgbClr val="667789"/>
                </a:solidFill>
              </a:rPr>
              <a:t>Материалы</a:t>
            </a:r>
            <a:endParaRPr lang="en-US" sz="790"/>
          </a:p>
        </p:txBody>
      </p:sp>
      <p:sp>
        <p:nvSpPr>
          <p:cNvPr id="17" name="Shape 15"/>
          <p:cNvSpPr/>
          <p:nvPr/>
        </p:nvSpPr>
        <p:spPr>
          <a:xfrm>
            <a:off x="8695944" y="2194560"/>
            <a:ext cx="411480" cy="0"/>
          </a:xfrm>
          <a:prstGeom prst="line">
            <a:avLst/>
          </a:prstGeom>
          <a:noFill/>
          <a:ln w="12700">
            <a:solidFill>
              <a:srgbClr val="2C7FE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695944" y="2276856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b="1">
                <a:solidFill>
                  <a:srgbClr val="223042"/>
                </a:solidFill>
              </a:rPr>
              <a:t>6,3 млн ₽</a:t>
            </a:r>
            <a:endParaRPr lang="en-US" sz="1080"/>
          </a:p>
        </p:txBody>
      </p:sp>
      <p:sp>
        <p:nvSpPr>
          <p:cNvPr id="19" name="Shape 17"/>
          <p:cNvSpPr/>
          <p:nvPr/>
        </p:nvSpPr>
        <p:spPr>
          <a:xfrm>
            <a:off x="10305288" y="2011680"/>
            <a:ext cx="1490472" cy="694944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12700">
            <a:solidFill>
              <a:srgbClr val="D8DFE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387584" y="2075688"/>
            <a:ext cx="13258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90" b="1">
                <a:solidFill>
                  <a:srgbClr val="667789"/>
                </a:solidFill>
              </a:rPr>
              <a:t>Работы / ПНР</a:t>
            </a:r>
            <a:endParaRPr lang="en-US" sz="790"/>
          </a:p>
        </p:txBody>
      </p:sp>
      <p:sp>
        <p:nvSpPr>
          <p:cNvPr id="21" name="Shape 19"/>
          <p:cNvSpPr/>
          <p:nvPr/>
        </p:nvSpPr>
        <p:spPr>
          <a:xfrm>
            <a:off x="10387584" y="2194560"/>
            <a:ext cx="411480" cy="0"/>
          </a:xfrm>
          <a:prstGeom prst="line">
            <a:avLst/>
          </a:prstGeom>
          <a:noFill/>
          <a:ln w="12700">
            <a:solidFill>
              <a:srgbClr val="2C7FE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387584" y="2276856"/>
            <a:ext cx="1325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b="1">
                <a:solidFill>
                  <a:srgbClr val="223042"/>
                </a:solidFill>
              </a:rPr>
              <a:t>31,5 млн ₽</a:t>
            </a:r>
            <a:endParaRPr lang="en-US" sz="1080"/>
          </a:p>
        </p:txBody>
      </p:sp>
      <p:sp>
        <p:nvSpPr>
          <p:cNvPr id="23" name="Shape 21"/>
          <p:cNvSpPr/>
          <p:nvPr/>
        </p:nvSpPr>
        <p:spPr>
          <a:xfrm>
            <a:off x="6922008" y="2907792"/>
            <a:ext cx="4873752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D8DFE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013448" y="2980944"/>
            <a:ext cx="469087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90" b="1">
                <a:solidFill>
                  <a:srgbClr val="667789"/>
                </a:solidFill>
              </a:rPr>
              <a:t>Структура стоимости</a:t>
            </a:r>
            <a:endParaRPr lang="en-US" sz="790"/>
          </a:p>
        </p:txBody>
      </p:sp>
      <p:sp>
        <p:nvSpPr>
          <p:cNvPr id="25" name="Shape 23"/>
          <p:cNvSpPr/>
          <p:nvPr/>
        </p:nvSpPr>
        <p:spPr>
          <a:xfrm>
            <a:off x="7013448" y="3191256"/>
            <a:ext cx="4690872" cy="164592"/>
          </a:xfrm>
          <a:prstGeom prst="rect">
            <a:avLst/>
          </a:prstGeom>
          <a:solidFill>
            <a:srgbClr val="E8EDF3"/>
          </a:solidFill>
          <a:ln w="12700">
            <a:solidFill>
              <a:srgbClr val="E8EDF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013448" y="3191256"/>
            <a:ext cx="2659202" cy="164592"/>
          </a:xfrm>
          <a:prstGeom prst="rect">
            <a:avLst/>
          </a:prstGeom>
          <a:solidFill>
            <a:srgbClr val="2C7FE3"/>
          </a:solidFill>
          <a:ln w="12700">
            <a:solidFill>
              <a:srgbClr val="2C7FE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672650" y="3191256"/>
            <a:ext cx="309868" cy="164592"/>
          </a:xfrm>
          <a:prstGeom prst="rect">
            <a:avLst/>
          </a:prstGeom>
          <a:solidFill>
            <a:srgbClr val="AEBBCA"/>
          </a:solidFill>
          <a:ln w="12700">
            <a:solidFill>
              <a:srgbClr val="AEBBC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982518" y="3191256"/>
            <a:ext cx="1537050" cy="164592"/>
          </a:xfrm>
          <a:prstGeom prst="rect">
            <a:avLst/>
          </a:prstGeom>
          <a:solidFill>
            <a:srgbClr val="123A66"/>
          </a:solidFill>
          <a:ln w="12700">
            <a:solidFill>
              <a:srgbClr val="123A6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1519568" y="3191256"/>
            <a:ext cx="184752" cy="164592"/>
          </a:xfrm>
          <a:prstGeom prst="rect">
            <a:avLst/>
          </a:prstGeom>
          <a:solidFill>
            <a:srgbClr val="89AFCB"/>
          </a:solidFill>
          <a:ln w="12700">
            <a:solidFill>
              <a:srgbClr val="89AFC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013448" y="3429000"/>
            <a:ext cx="46908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80">
                <a:solidFill>
                  <a:srgbClr val="223042"/>
                </a:solidFill>
              </a:rPr>
              <a:t>Обор. 56,7% • Матер. 6,6% • Работы 32,8% • Проект. 3,9%</a:t>
            </a:r>
            <a:endParaRPr lang="en-US" sz="780"/>
          </a:p>
        </p:txBody>
      </p:sp>
      <p:sp>
        <p:nvSpPr>
          <p:cNvPr id="31" name="Text 29"/>
          <p:cNvSpPr/>
          <p:nvPr/>
        </p:nvSpPr>
        <p:spPr>
          <a:xfrm>
            <a:off x="530352" y="1170432"/>
            <a:ext cx="5989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90" b="1">
                <a:solidFill>
                  <a:srgbClr val="2C7FE3"/>
                </a:solidFill>
              </a:rPr>
              <a:t>Состав оборудования, материалов и работ</a:t>
            </a:r>
            <a:endParaRPr lang="en-US" sz="990"/>
          </a:p>
        </p:txBody>
      </p:sp>
      <p:sp>
        <p:nvSpPr>
          <p:cNvPr id="32" name="Text 30"/>
          <p:cNvSpPr/>
          <p:nvPr/>
        </p:nvSpPr>
        <p:spPr>
          <a:xfrm>
            <a:off x="530352" y="1344168"/>
            <a:ext cx="5989320" cy="1828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marL="0" indent="0">
              <a:buNone/>
            </a:pPr>
            <a:r>
              <a:rPr sz="900">
                <a:solidFill>
                  <a:srgbClr val="223042"/>
                </a:solidFill>
              </a:rPr>
              <a:t>Система видеонаблюдения Flow с AI-аналитикой.</a:t>
            </a:r>
            <a:endParaRPr lang="en-US" sz="875"/>
          </a:p>
        </p:txBody>
      </p:sp>
      <p:sp>
        <p:nvSpPr>
          <p:cNvPr id="33" name="Text 31"/>
          <p:cNvSpPr/>
          <p:nvPr/>
        </p:nvSpPr>
        <p:spPr>
          <a:xfrm>
            <a:off x="530352" y="1572768"/>
            <a:ext cx="5989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90" b="1">
                <a:solidFill>
                  <a:srgbClr val="2C7FE3"/>
                </a:solidFill>
              </a:rPr>
              <a:t>Оборудование</a:t>
            </a:r>
            <a:endParaRPr lang="en-US" sz="990"/>
          </a:p>
        </p:txBody>
      </p:sp>
      <p:sp>
        <p:nvSpPr>
          <p:cNvPr id="34" name="Text 32"/>
          <p:cNvSpPr/>
          <p:nvPr/>
        </p:nvSpPr>
        <p:spPr>
          <a:xfrm>
            <a:off x="530352" y="1746504"/>
            <a:ext cx="5989320" cy="8046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marL="0" indent="0">
              <a:buNone/>
            </a:pPr>
            <a:r>
              <a:rPr sz="890">
                <a:solidFill>
                  <a:srgbClr val="223042"/>
                </a:solidFill>
              </a:rPr>
              <a:t>• Камеры 4 Мп Flow AI — 820 шт.</a:t>
            </a:r>
            <a:endParaRPr lang="en-US" sz="875"/>
          </a:p>
          <a:p>
            <a:r>
              <a:rPr sz="890">
                <a:solidFill>
                  <a:srgbClr val="223042"/>
                </a:solidFill>
              </a:rPr>
              <a:t>• Камеры спецназначения PTZ/Fisheye Flow — 70 шт.</a:t>
            </a:r>
          </a:p>
          <a:p>
            <a:r>
              <a:rPr sz="890">
                <a:solidFill>
                  <a:srgbClr val="223042"/>
                </a:solidFill>
              </a:rPr>
              <a:t>• Видео-серверы / СХД — 4 шт.; мониторы 55" — 12 шт.</a:t>
            </a:r>
          </a:p>
        </p:txBody>
      </p:sp>
      <p:sp>
        <p:nvSpPr>
          <p:cNvPr id="35" name="Text 33"/>
          <p:cNvSpPr/>
          <p:nvPr/>
        </p:nvSpPr>
        <p:spPr>
          <a:xfrm>
            <a:off x="530352" y="2670048"/>
            <a:ext cx="5989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90" b="1">
                <a:solidFill>
                  <a:srgbClr val="2C7FE3"/>
                </a:solidFill>
              </a:rPr>
              <a:t>Материалы</a:t>
            </a:r>
            <a:endParaRPr lang="en-US" sz="990"/>
          </a:p>
        </p:txBody>
      </p:sp>
      <p:sp>
        <p:nvSpPr>
          <p:cNvPr id="36" name="Text 34"/>
          <p:cNvSpPr/>
          <p:nvPr/>
        </p:nvSpPr>
        <p:spPr>
          <a:xfrm>
            <a:off x="530352" y="2843784"/>
            <a:ext cx="5989320" cy="7772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marL="0" indent="0">
              <a:buNone/>
            </a:pPr>
            <a:r>
              <a:rPr lang="en-US" sz="875">
                <a:solidFill>
                  <a:srgbClr val="223042"/>
                </a:solidFill>
              </a:rPr>
              <a:t>• Кабельная группа ТСВ — 39 500 м</a:t>
            </a:r>
            <a:endParaRPr lang="en-US" sz="875"/>
          </a:p>
          <a:p>
            <a:pPr marL="0" indent="0">
              <a:buNone/>
            </a:pPr>
            <a:r>
              <a:rPr lang="en-US" sz="875">
                <a:solidFill>
                  <a:srgbClr val="223042"/>
                </a:solidFill>
              </a:rPr>
              <a:t>• Патч-корды, экранированные разъемы, кронштейны</a:t>
            </a:r>
            <a:endParaRPr lang="en-US" sz="875"/>
          </a:p>
          <a:p>
            <a:pPr marL="0" indent="0">
              <a:buNone/>
            </a:pPr>
            <a:r>
              <a:rPr lang="en-US" sz="875">
                <a:solidFill>
                  <a:srgbClr val="223042"/>
                </a:solidFill>
              </a:rPr>
              <a:t>• Монтажные боксы и коммутационная расходка</a:t>
            </a:r>
            <a:endParaRPr lang="en-US" sz="875"/>
          </a:p>
        </p:txBody>
      </p:sp>
      <p:sp>
        <p:nvSpPr>
          <p:cNvPr id="37" name="Text 35"/>
          <p:cNvSpPr/>
          <p:nvPr/>
        </p:nvSpPr>
        <p:spPr>
          <a:xfrm>
            <a:off x="530352" y="3730752"/>
            <a:ext cx="5989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90" b="1">
                <a:solidFill>
                  <a:srgbClr val="2C7FE3"/>
                </a:solidFill>
              </a:rPr>
              <a:t>Работы</a:t>
            </a:r>
            <a:endParaRPr lang="en-US" sz="990"/>
          </a:p>
        </p:txBody>
      </p:sp>
      <p:sp>
        <p:nvSpPr>
          <p:cNvPr id="38" name="Text 36"/>
          <p:cNvSpPr/>
          <p:nvPr/>
        </p:nvSpPr>
        <p:spPr>
          <a:xfrm>
            <a:off x="530352" y="3904488"/>
            <a:ext cx="5989320" cy="8229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marL="0" indent="0">
              <a:buNone/>
            </a:pPr>
            <a:r>
              <a:rPr lang="en-US" sz="875">
                <a:solidFill>
                  <a:srgbClr val="223042"/>
                </a:solidFill>
              </a:rPr>
              <a:t>• Высотный монтаж камер в атриумах и на фасаде</a:t>
            </a:r>
            <a:endParaRPr lang="en-US" sz="875"/>
          </a:p>
          <a:p>
            <a:pPr marL="0" indent="0">
              <a:buNone/>
            </a:pPr>
            <a:r>
              <a:rPr lang="en-US" sz="875">
                <a:solidFill>
                  <a:srgbClr val="223042"/>
                </a:solidFill>
              </a:rPr>
              <a:t>• Прокладка кабеля и коммутация</a:t>
            </a:r>
            <a:endParaRPr lang="en-US" sz="875"/>
          </a:p>
          <a:p>
            <a:pPr marL="0" indent="0">
              <a:buNone/>
            </a:pPr>
            <a:r>
              <a:rPr lang="en-US" sz="875">
                <a:solidFill>
                  <a:srgbClr val="223042"/>
                </a:solidFill>
              </a:rPr>
              <a:t>• Настройка аналитики: лица, периметр, сценарии</a:t>
            </a:r>
            <a:endParaRPr lang="en-US" sz="875"/>
          </a:p>
        </p:txBody>
      </p:sp>
      <p:sp>
        <p:nvSpPr>
          <p:cNvPr id="40" name="Shape 38"/>
          <p:cNvSpPr/>
          <p:nvPr/>
        </p:nvSpPr>
        <p:spPr>
          <a:xfrm>
            <a:off x="6922008" y="3986784"/>
            <a:ext cx="1463040" cy="676656"/>
          </a:xfrm>
          <a:prstGeom prst="roundRect">
            <a:avLst>
              <a:gd name="adj" fmla="val 8108"/>
            </a:avLst>
          </a:prstGeom>
          <a:solidFill>
            <a:srgbClr val="EAF0F6"/>
          </a:solidFill>
          <a:ln w="12700">
            <a:solidFill>
              <a:srgbClr val="D8DFE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995160" y="4050792"/>
            <a:ext cx="131673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r>
              <a:rPr lang="ru-RU" sz="900" b="1">
                <a:solidFill>
                  <a:srgbClr val="667789"/>
                </a:solidFill>
              </a:rPr>
              <a:t>Стоимость </a:t>
            </a:r>
            <a:r>
              <a:rPr lang="en-US" sz="900" b="1">
                <a:solidFill>
                  <a:srgbClr val="667789"/>
                </a:solidFill>
              </a:rPr>
              <a:t>СМР 1 м кабеля</a:t>
            </a:r>
          </a:p>
        </p:txBody>
      </p:sp>
      <p:sp>
        <p:nvSpPr>
          <p:cNvPr id="42" name="Text 40"/>
          <p:cNvSpPr/>
          <p:nvPr/>
        </p:nvSpPr>
        <p:spPr>
          <a:xfrm>
            <a:off x="6995160" y="4233672"/>
            <a:ext cx="1316736" cy="40233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915">
                <a:solidFill>
                  <a:srgbClr val="223042"/>
                </a:solidFill>
              </a:rPr>
              <a:t>414 ₽</a:t>
            </a:r>
            <a:endParaRPr lang="en-US" sz="915"/>
          </a:p>
        </p:txBody>
      </p:sp>
      <p:sp>
        <p:nvSpPr>
          <p:cNvPr id="43" name="Shape 41"/>
          <p:cNvSpPr/>
          <p:nvPr/>
        </p:nvSpPr>
        <p:spPr>
          <a:xfrm>
            <a:off x="8622792" y="3986784"/>
            <a:ext cx="1463040" cy="676656"/>
          </a:xfrm>
          <a:prstGeom prst="roundRect">
            <a:avLst>
              <a:gd name="adj" fmla="val 8108"/>
            </a:avLst>
          </a:prstGeom>
          <a:solidFill>
            <a:srgbClr val="EAF0F6"/>
          </a:solidFill>
          <a:ln w="12700">
            <a:solidFill>
              <a:srgbClr val="D8DFE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695944" y="4050792"/>
            <a:ext cx="131673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r>
              <a:rPr lang="ru-RU" sz="900" b="1">
                <a:solidFill>
                  <a:srgbClr val="667789"/>
                </a:solidFill>
              </a:rPr>
              <a:t>Стоимость </a:t>
            </a:r>
            <a:r>
              <a:rPr lang="en-US" sz="900" b="1">
                <a:solidFill>
                  <a:srgbClr val="667789"/>
                </a:solidFill>
              </a:rPr>
              <a:t>СМР 1 устройства</a:t>
            </a:r>
          </a:p>
        </p:txBody>
      </p:sp>
      <p:sp>
        <p:nvSpPr>
          <p:cNvPr id="45" name="Text 43"/>
          <p:cNvSpPr/>
          <p:nvPr/>
        </p:nvSpPr>
        <p:spPr>
          <a:xfrm>
            <a:off x="8695944" y="4233672"/>
            <a:ext cx="1316736" cy="40233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915">
                <a:solidFill>
                  <a:srgbClr val="223042"/>
                </a:solidFill>
              </a:rPr>
              <a:t>13 981 ₽</a:t>
            </a:r>
            <a:endParaRPr lang="en-US" sz="915"/>
          </a:p>
        </p:txBody>
      </p:sp>
      <p:sp>
        <p:nvSpPr>
          <p:cNvPr id="46" name="Shape 44"/>
          <p:cNvSpPr/>
          <p:nvPr/>
        </p:nvSpPr>
        <p:spPr>
          <a:xfrm>
            <a:off x="10323576" y="3986784"/>
            <a:ext cx="1472184" cy="676656"/>
          </a:xfrm>
          <a:prstGeom prst="roundRect">
            <a:avLst>
              <a:gd name="adj" fmla="val 8108"/>
            </a:avLst>
          </a:prstGeom>
          <a:solidFill>
            <a:srgbClr val="EAF0F6"/>
          </a:solidFill>
          <a:ln w="12700">
            <a:solidFill>
              <a:srgbClr val="D8DFE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0396728" y="4050792"/>
            <a:ext cx="13258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r>
              <a:rPr lang="en-US" sz="900" b="1">
                <a:solidFill>
                  <a:srgbClr val="667789"/>
                </a:solidFill>
              </a:rPr>
              <a:t>820 камер 4 Мп</a:t>
            </a:r>
          </a:p>
        </p:txBody>
      </p:sp>
      <p:sp>
        <p:nvSpPr>
          <p:cNvPr id="48" name="Text 46"/>
          <p:cNvSpPr/>
          <p:nvPr/>
        </p:nvSpPr>
        <p:spPr>
          <a:xfrm>
            <a:off x="10396728" y="4233672"/>
            <a:ext cx="1325880" cy="40233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915">
                <a:solidFill>
                  <a:srgbClr val="223042"/>
                </a:solidFill>
              </a:rPr>
              <a:t>внутренние зоны</a:t>
            </a:r>
            <a:endParaRPr lang="en-US" sz="915"/>
          </a:p>
        </p:txBody>
      </p:sp>
      <p:sp>
        <p:nvSpPr>
          <p:cNvPr id="49" name="Shape 47"/>
          <p:cNvSpPr/>
          <p:nvPr/>
        </p:nvSpPr>
        <p:spPr>
          <a:xfrm>
            <a:off x="6922008" y="4809744"/>
            <a:ext cx="1463040" cy="676656"/>
          </a:xfrm>
          <a:prstGeom prst="roundRect">
            <a:avLst>
              <a:gd name="adj" fmla="val 8108"/>
            </a:avLst>
          </a:prstGeom>
          <a:solidFill>
            <a:srgbClr val="EAF0F6"/>
          </a:solidFill>
          <a:ln w="12700">
            <a:solidFill>
              <a:srgbClr val="D8DFE8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995160" y="4873752"/>
            <a:ext cx="131673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r>
              <a:rPr lang="en-US" sz="900" b="1">
                <a:solidFill>
                  <a:srgbClr val="667789"/>
                </a:solidFill>
              </a:rPr>
              <a:t>70 PTZ / Fisheye</a:t>
            </a:r>
          </a:p>
        </p:txBody>
      </p:sp>
      <p:sp>
        <p:nvSpPr>
          <p:cNvPr id="51" name="Text 49"/>
          <p:cNvSpPr/>
          <p:nvPr/>
        </p:nvSpPr>
        <p:spPr>
          <a:xfrm>
            <a:off x="6995160" y="5056632"/>
            <a:ext cx="1316736" cy="40233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915">
                <a:solidFill>
                  <a:srgbClr val="223042"/>
                </a:solidFill>
              </a:rPr>
              <a:t>спецназначение</a:t>
            </a:r>
            <a:endParaRPr lang="en-US" sz="915"/>
          </a:p>
        </p:txBody>
      </p:sp>
      <p:sp>
        <p:nvSpPr>
          <p:cNvPr id="52" name="Shape 50"/>
          <p:cNvSpPr/>
          <p:nvPr/>
        </p:nvSpPr>
        <p:spPr>
          <a:xfrm>
            <a:off x="8622792" y="4809744"/>
            <a:ext cx="1463040" cy="676656"/>
          </a:xfrm>
          <a:prstGeom prst="roundRect">
            <a:avLst>
              <a:gd name="adj" fmla="val 8108"/>
            </a:avLst>
          </a:prstGeom>
          <a:solidFill>
            <a:srgbClr val="EAF0F6"/>
          </a:solidFill>
          <a:ln w="12700">
            <a:solidFill>
              <a:srgbClr val="D8DFE8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8695944" y="4873752"/>
            <a:ext cx="131673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r>
              <a:rPr lang="en-US" sz="900" b="1">
                <a:solidFill>
                  <a:srgbClr val="667789"/>
                </a:solidFill>
              </a:rPr>
              <a:t>4 EVS / СХД</a:t>
            </a:r>
          </a:p>
        </p:txBody>
      </p:sp>
      <p:sp>
        <p:nvSpPr>
          <p:cNvPr id="54" name="Text 52"/>
          <p:cNvSpPr/>
          <p:nvPr/>
        </p:nvSpPr>
        <p:spPr>
          <a:xfrm>
            <a:off x="8695944" y="5056632"/>
            <a:ext cx="1316736" cy="40233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915">
                <a:solidFill>
                  <a:srgbClr val="223042"/>
                </a:solidFill>
              </a:rPr>
              <a:t>серверная часть</a:t>
            </a:r>
            <a:endParaRPr lang="en-US" sz="915"/>
          </a:p>
        </p:txBody>
      </p:sp>
      <p:sp>
        <p:nvSpPr>
          <p:cNvPr id="55" name="Shape 53"/>
          <p:cNvSpPr/>
          <p:nvPr/>
        </p:nvSpPr>
        <p:spPr>
          <a:xfrm>
            <a:off x="10323576" y="4809744"/>
            <a:ext cx="1472184" cy="676656"/>
          </a:xfrm>
          <a:prstGeom prst="roundRect">
            <a:avLst>
              <a:gd name="adj" fmla="val 8108"/>
            </a:avLst>
          </a:prstGeom>
          <a:solidFill>
            <a:srgbClr val="EAF0F6"/>
          </a:solidFill>
          <a:ln w="12700">
            <a:solidFill>
              <a:srgbClr val="D8DFE8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10396728" y="4873752"/>
            <a:ext cx="13258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r>
              <a:rPr lang="en-US" sz="900" b="1">
                <a:solidFill>
                  <a:srgbClr val="667789"/>
                </a:solidFill>
              </a:rPr>
              <a:t>12 мониторов 55"</a:t>
            </a:r>
          </a:p>
        </p:txBody>
      </p:sp>
      <p:sp>
        <p:nvSpPr>
          <p:cNvPr id="57" name="Text 55"/>
          <p:cNvSpPr/>
          <p:nvPr/>
        </p:nvSpPr>
        <p:spPr>
          <a:xfrm>
            <a:off x="10396728" y="5056632"/>
            <a:ext cx="1325880" cy="40233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915">
                <a:solidFill>
                  <a:srgbClr val="223042"/>
                </a:solidFill>
              </a:rPr>
              <a:t>диспетчеризация</a:t>
            </a:r>
            <a:endParaRPr lang="en-US" sz="915"/>
          </a:p>
        </p:txBody>
      </p:sp>
      <p:sp>
        <p:nvSpPr>
          <p:cNvPr id="58" name="Text 56"/>
          <p:cNvSpPr/>
          <p:nvPr/>
        </p:nvSpPr>
        <p:spPr>
          <a:xfrm>
            <a:off x="384048" y="6510528"/>
            <a:ext cx="75895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>
                <a:solidFill>
                  <a:srgbClr val="718196"/>
                </a:solidFill>
              </a:rPr>
              <a:t>Кутузовский 32 • ИТСО • все цены приведены с НДС 22%</a:t>
            </a:r>
            <a:endParaRPr lang="en-US" sz="700"/>
          </a:p>
        </p:txBody>
      </p:sp>
      <p:sp>
        <p:nvSpPr>
          <p:cNvPr id="59" name="Text 57"/>
          <p:cNvSpPr/>
          <p:nvPr/>
        </p:nvSpPr>
        <p:spPr>
          <a:xfrm>
            <a:off x="11612880" y="6492240"/>
            <a:ext cx="2011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>
                <a:solidFill>
                  <a:srgbClr val="718196"/>
                </a:solidFill>
              </a:rPr>
              <a:t>6</a:t>
            </a:r>
            <a:endParaRPr lang="en-US" sz="7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F2F53"/>
          </a:solidFill>
          <a:ln w="12700">
            <a:solidFill>
              <a:srgbClr val="0F2F5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310896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50" b="1">
                <a:solidFill>
                  <a:srgbClr val="223042"/>
                </a:solidFill>
              </a:rPr>
              <a:t>Кабеленесущие конструкции (КНС)</a:t>
            </a:r>
            <a:endParaRPr lang="en-US" sz="2150"/>
          </a:p>
        </p:txBody>
      </p:sp>
      <p:sp>
        <p:nvSpPr>
          <p:cNvPr id="5" name="Shape 3"/>
          <p:cNvSpPr/>
          <p:nvPr/>
        </p:nvSpPr>
        <p:spPr>
          <a:xfrm>
            <a:off x="384048" y="868680"/>
            <a:ext cx="11292840" cy="0"/>
          </a:xfrm>
          <a:prstGeom prst="line">
            <a:avLst/>
          </a:prstGeom>
          <a:noFill/>
          <a:ln w="12700">
            <a:solidFill>
              <a:srgbClr val="6B47D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84048" y="1005840"/>
            <a:ext cx="6355080" cy="3721608"/>
          </a:xfrm>
          <a:prstGeom prst="roundRect">
            <a:avLst>
              <a:gd name="adj" fmla="val 1024"/>
            </a:avLst>
          </a:prstGeom>
          <a:solidFill>
            <a:srgbClr val="FFFFFF"/>
          </a:solidFill>
          <a:ln w="12700">
            <a:solidFill>
              <a:srgbClr val="D8DF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922008" y="1005840"/>
            <a:ext cx="4873752" cy="804672"/>
          </a:xfrm>
          <a:prstGeom prst="roundRect">
            <a:avLst>
              <a:gd name="adj" fmla="val 6818"/>
            </a:avLst>
          </a:prstGeom>
          <a:solidFill>
            <a:srgbClr val="123A66"/>
          </a:solidFill>
          <a:ln w="12700">
            <a:solidFill>
              <a:srgbClr val="123A6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004304" y="1069848"/>
            <a:ext cx="47091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>
                <a:solidFill>
                  <a:srgbClr val="DCE7F3"/>
                </a:solidFill>
              </a:rPr>
              <a:t>Итого по системе</a:t>
            </a:r>
            <a:r>
              <a:rPr lang="ru-RU" sz="1200" b="1">
                <a:solidFill>
                  <a:srgbClr val="DCE7F3"/>
                </a:solidFill>
              </a:rPr>
              <a:t> (сметная стоимость)</a:t>
            </a:r>
            <a:endParaRPr lang="en-US" sz="1200" b="1">
              <a:solidFill>
                <a:srgbClr val="DCE7F3"/>
              </a:solidFill>
            </a:endParaRPr>
          </a:p>
        </p:txBody>
      </p:sp>
      <p:sp>
        <p:nvSpPr>
          <p:cNvPr id="9" name="Shape 7"/>
          <p:cNvSpPr/>
          <p:nvPr/>
        </p:nvSpPr>
        <p:spPr>
          <a:xfrm>
            <a:off x="7004304" y="1198245"/>
            <a:ext cx="411480" cy="0"/>
          </a:xfrm>
          <a:prstGeom prst="line">
            <a:avLst/>
          </a:prstGeom>
          <a:noFill/>
          <a:ln w="12700">
            <a:solidFill>
              <a:srgbClr val="6B47D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004304" y="1271016"/>
            <a:ext cx="4709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sz="2000" b="1">
                <a:solidFill>
                  <a:srgbClr val="FFFFFF"/>
                </a:solidFill>
              </a:rPr>
              <a:t>58,35 млн ₽</a:t>
            </a:r>
            <a:endParaRPr lang="en-US" sz="2000"/>
          </a:p>
        </p:txBody>
      </p:sp>
      <p:sp>
        <p:nvSpPr>
          <p:cNvPr id="15" name="Shape 13"/>
          <p:cNvSpPr/>
          <p:nvPr/>
        </p:nvSpPr>
        <p:spPr>
          <a:xfrm>
            <a:off x="7950708" y="2011680"/>
            <a:ext cx="1444752" cy="694944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12700">
            <a:solidFill>
              <a:srgbClr val="D8DFE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033004" y="2075688"/>
            <a:ext cx="12801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90" b="1">
                <a:solidFill>
                  <a:srgbClr val="667789"/>
                </a:solidFill>
              </a:rPr>
              <a:t>Материалы</a:t>
            </a:r>
            <a:endParaRPr lang="en-US" sz="790"/>
          </a:p>
        </p:txBody>
      </p:sp>
      <p:sp>
        <p:nvSpPr>
          <p:cNvPr id="17" name="Shape 15"/>
          <p:cNvSpPr/>
          <p:nvPr/>
        </p:nvSpPr>
        <p:spPr>
          <a:xfrm>
            <a:off x="8033004" y="2194560"/>
            <a:ext cx="411480" cy="0"/>
          </a:xfrm>
          <a:prstGeom prst="line">
            <a:avLst/>
          </a:prstGeom>
          <a:noFill/>
          <a:ln w="12700">
            <a:solidFill>
              <a:srgbClr val="6B47D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033004" y="2276856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b="1">
                <a:solidFill>
                  <a:srgbClr val="223042"/>
                </a:solidFill>
              </a:rPr>
              <a:t>32,7 млн ₽</a:t>
            </a:r>
            <a:endParaRPr lang="en-US" sz="1080"/>
          </a:p>
        </p:txBody>
      </p:sp>
      <p:sp>
        <p:nvSpPr>
          <p:cNvPr id="19" name="Shape 17"/>
          <p:cNvSpPr/>
          <p:nvPr/>
        </p:nvSpPr>
        <p:spPr>
          <a:xfrm>
            <a:off x="9642348" y="2011680"/>
            <a:ext cx="1490472" cy="694944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12700">
            <a:solidFill>
              <a:srgbClr val="D8DFE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724644" y="2075688"/>
            <a:ext cx="13258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90" b="1">
                <a:solidFill>
                  <a:srgbClr val="667789"/>
                </a:solidFill>
              </a:rPr>
              <a:t>Работы / ПНР</a:t>
            </a:r>
            <a:endParaRPr lang="en-US" sz="790"/>
          </a:p>
        </p:txBody>
      </p:sp>
      <p:sp>
        <p:nvSpPr>
          <p:cNvPr id="21" name="Shape 19"/>
          <p:cNvSpPr/>
          <p:nvPr/>
        </p:nvSpPr>
        <p:spPr>
          <a:xfrm>
            <a:off x="9724644" y="2194560"/>
            <a:ext cx="411480" cy="0"/>
          </a:xfrm>
          <a:prstGeom prst="line">
            <a:avLst/>
          </a:prstGeom>
          <a:noFill/>
          <a:ln w="12700">
            <a:solidFill>
              <a:srgbClr val="6B47D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724644" y="2276856"/>
            <a:ext cx="1325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sz="1200" b="1">
                <a:solidFill>
                  <a:srgbClr val="223042"/>
                </a:solidFill>
              </a:rPr>
              <a:t>25,6 млн ₽</a:t>
            </a:r>
            <a:endParaRPr lang="en-US" sz="1080"/>
          </a:p>
        </p:txBody>
      </p:sp>
      <p:sp>
        <p:nvSpPr>
          <p:cNvPr id="23" name="Shape 21"/>
          <p:cNvSpPr/>
          <p:nvPr/>
        </p:nvSpPr>
        <p:spPr>
          <a:xfrm>
            <a:off x="6922008" y="2907792"/>
            <a:ext cx="4873752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D8DFE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013448" y="2980944"/>
            <a:ext cx="469087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90" b="1">
                <a:solidFill>
                  <a:srgbClr val="667789"/>
                </a:solidFill>
              </a:rPr>
              <a:t>Структура стоимости</a:t>
            </a:r>
            <a:endParaRPr lang="en-US" sz="790"/>
          </a:p>
        </p:txBody>
      </p:sp>
      <p:sp>
        <p:nvSpPr>
          <p:cNvPr id="25" name="Shape 23"/>
          <p:cNvSpPr/>
          <p:nvPr/>
        </p:nvSpPr>
        <p:spPr>
          <a:xfrm>
            <a:off x="7013448" y="3191256"/>
            <a:ext cx="4690872" cy="164592"/>
          </a:xfrm>
          <a:prstGeom prst="rect">
            <a:avLst/>
          </a:prstGeom>
          <a:solidFill>
            <a:srgbClr val="E8EDF3"/>
          </a:solidFill>
          <a:ln w="12700">
            <a:solidFill>
              <a:srgbClr val="E8EDF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013448" y="3191256"/>
            <a:ext cx="914" cy="164592"/>
          </a:xfrm>
          <a:prstGeom prst="rect">
            <a:avLst/>
          </a:prstGeom>
          <a:solidFill>
            <a:srgbClr val="6B47D5"/>
          </a:solidFill>
          <a:ln w="12700">
            <a:solidFill>
              <a:srgbClr val="6B47D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013448" y="3191256"/>
            <a:ext cx="2628817" cy="164592"/>
          </a:xfrm>
          <a:prstGeom prst="rect">
            <a:avLst/>
          </a:prstGeom>
          <a:solidFill>
            <a:srgbClr val="AEBBCA"/>
          </a:solidFill>
          <a:ln w="12700">
            <a:solidFill>
              <a:srgbClr val="AEBBC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642265" y="3191256"/>
            <a:ext cx="2062054" cy="164592"/>
          </a:xfrm>
          <a:prstGeom prst="rect">
            <a:avLst/>
          </a:prstGeom>
          <a:solidFill>
            <a:srgbClr val="123A66"/>
          </a:solidFill>
          <a:ln w="12700">
            <a:solidFill>
              <a:srgbClr val="123A6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1704320" y="3191256"/>
            <a:ext cx="914" cy="164592"/>
          </a:xfrm>
          <a:prstGeom prst="rect">
            <a:avLst/>
          </a:prstGeom>
          <a:solidFill>
            <a:srgbClr val="89AFCB"/>
          </a:solidFill>
          <a:ln w="12700">
            <a:solidFill>
              <a:srgbClr val="89AFC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013448" y="3429000"/>
            <a:ext cx="46908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sz="850">
                <a:solidFill>
                  <a:srgbClr val="223042"/>
                </a:solidFill>
              </a:rPr>
              <a:t>• Матер. 56,0% • Работы 44,0%</a:t>
            </a:r>
            <a:endParaRPr lang="en-US" sz="780"/>
          </a:p>
        </p:txBody>
      </p:sp>
      <p:sp>
        <p:nvSpPr>
          <p:cNvPr id="31" name="Text 29"/>
          <p:cNvSpPr/>
          <p:nvPr/>
        </p:nvSpPr>
        <p:spPr>
          <a:xfrm>
            <a:off x="530352" y="1170432"/>
            <a:ext cx="5989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90" b="1">
                <a:solidFill>
                  <a:srgbClr val="6B47D5"/>
                </a:solidFill>
              </a:rPr>
              <a:t>Состав оборудования, материалов и работ</a:t>
            </a:r>
            <a:endParaRPr lang="en-US" sz="990"/>
          </a:p>
        </p:txBody>
      </p:sp>
      <p:sp>
        <p:nvSpPr>
          <p:cNvPr id="32" name="Text 30"/>
          <p:cNvSpPr/>
          <p:nvPr/>
        </p:nvSpPr>
        <p:spPr>
          <a:xfrm>
            <a:off x="530352" y="1344168"/>
            <a:ext cx="5989320" cy="1828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marL="0" indent="0">
              <a:buNone/>
            </a:pPr>
            <a:r>
              <a:rPr lang="en-US" sz="875">
                <a:solidFill>
                  <a:srgbClr val="223042"/>
                </a:solidFill>
              </a:rPr>
              <a:t>Кабеленесущая инфраструктура для всех подсистем ИТСО.</a:t>
            </a:r>
            <a:endParaRPr lang="en-US" sz="875"/>
          </a:p>
        </p:txBody>
      </p:sp>
      <p:sp>
        <p:nvSpPr>
          <p:cNvPr id="33" name="Text 31"/>
          <p:cNvSpPr/>
          <p:nvPr/>
        </p:nvSpPr>
        <p:spPr>
          <a:xfrm>
            <a:off x="530352" y="1572768"/>
            <a:ext cx="5989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90" b="1">
                <a:solidFill>
                  <a:srgbClr val="6B47D5"/>
                </a:solidFill>
              </a:rPr>
              <a:t>Оборудование</a:t>
            </a:r>
            <a:endParaRPr lang="en-US" sz="990"/>
          </a:p>
        </p:txBody>
      </p:sp>
      <p:sp>
        <p:nvSpPr>
          <p:cNvPr id="34" name="Text 32"/>
          <p:cNvSpPr/>
          <p:nvPr/>
        </p:nvSpPr>
        <p:spPr>
          <a:xfrm>
            <a:off x="530352" y="1746504"/>
            <a:ext cx="5989320" cy="8046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marL="0" indent="0">
              <a:buNone/>
            </a:pPr>
            <a:r>
              <a:rPr lang="en-US" sz="875">
                <a:solidFill>
                  <a:srgbClr val="223042"/>
                </a:solidFill>
              </a:rPr>
              <a:t>• Активное оборудование в составе раздела не выделяется</a:t>
            </a:r>
            <a:endParaRPr lang="en-US" sz="875"/>
          </a:p>
          <a:p>
            <a:pPr marL="0" indent="0">
              <a:buNone/>
            </a:pPr>
            <a:r>
              <a:rPr lang="en-US" sz="875">
                <a:solidFill>
                  <a:srgbClr val="223042"/>
                </a:solidFill>
              </a:rPr>
              <a:t>• Раздел формирует общую трассовую базу проекта</a:t>
            </a:r>
            <a:endParaRPr lang="en-US" sz="875"/>
          </a:p>
        </p:txBody>
      </p:sp>
      <p:sp>
        <p:nvSpPr>
          <p:cNvPr id="35" name="Text 33"/>
          <p:cNvSpPr/>
          <p:nvPr/>
        </p:nvSpPr>
        <p:spPr>
          <a:xfrm>
            <a:off x="530352" y="2670048"/>
            <a:ext cx="5989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90" b="1">
                <a:solidFill>
                  <a:srgbClr val="6B47D5"/>
                </a:solidFill>
              </a:rPr>
              <a:t>Материалы</a:t>
            </a:r>
            <a:endParaRPr lang="en-US" sz="990"/>
          </a:p>
        </p:txBody>
      </p:sp>
      <p:sp>
        <p:nvSpPr>
          <p:cNvPr id="36" name="Text 34"/>
          <p:cNvSpPr/>
          <p:nvPr/>
        </p:nvSpPr>
        <p:spPr>
          <a:xfrm>
            <a:off x="530352" y="2843784"/>
            <a:ext cx="5989320" cy="7772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marL="0" indent="0">
              <a:buNone/>
            </a:pPr>
            <a:r>
              <a:rPr lang="en-US" sz="875">
                <a:solidFill>
                  <a:srgbClr val="223042"/>
                </a:solidFill>
              </a:rPr>
              <a:t>• Лоток металлический — 12 000 м</a:t>
            </a:r>
            <a:endParaRPr lang="en-US" sz="875"/>
          </a:p>
          <a:p>
            <a:pPr marL="0" indent="0">
              <a:buNone/>
            </a:pPr>
            <a:r>
              <a:rPr lang="en-US" sz="875">
                <a:solidFill>
                  <a:srgbClr val="223042"/>
                </a:solidFill>
              </a:rPr>
              <a:t>• Гофротруба ПНД/ПВХ НГ-LS — 45 000 м</a:t>
            </a:r>
            <a:endParaRPr lang="en-US" sz="875"/>
          </a:p>
          <a:p>
            <a:pPr marL="0" indent="0">
              <a:buNone/>
            </a:pPr>
            <a:r>
              <a:rPr lang="en-US" sz="875">
                <a:solidFill>
                  <a:srgbClr val="223042"/>
                </a:solidFill>
              </a:rPr>
              <a:t>• Кабельный фонд по объекту — 90 000 м</a:t>
            </a:r>
            <a:endParaRPr lang="en-US" sz="875"/>
          </a:p>
          <a:p>
            <a:pPr marL="0" indent="0">
              <a:buNone/>
            </a:pPr>
            <a:r>
              <a:rPr lang="en-US" sz="875">
                <a:solidFill>
                  <a:srgbClr val="223042"/>
                </a:solidFill>
              </a:rPr>
              <a:t>• Подвесы, шпильки, анкеры и крепеж</a:t>
            </a:r>
            <a:endParaRPr lang="en-US" sz="875"/>
          </a:p>
        </p:txBody>
      </p:sp>
      <p:sp>
        <p:nvSpPr>
          <p:cNvPr id="37" name="Text 35"/>
          <p:cNvSpPr/>
          <p:nvPr/>
        </p:nvSpPr>
        <p:spPr>
          <a:xfrm>
            <a:off x="530352" y="3730752"/>
            <a:ext cx="5989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90" b="1">
                <a:solidFill>
                  <a:srgbClr val="6B47D5"/>
                </a:solidFill>
              </a:rPr>
              <a:t>Работы</a:t>
            </a:r>
            <a:endParaRPr lang="en-US" sz="990"/>
          </a:p>
        </p:txBody>
      </p:sp>
      <p:sp>
        <p:nvSpPr>
          <p:cNvPr id="38" name="Text 36"/>
          <p:cNvSpPr/>
          <p:nvPr/>
        </p:nvSpPr>
        <p:spPr>
          <a:xfrm>
            <a:off x="530352" y="3904488"/>
            <a:ext cx="5989320" cy="8229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marL="0" indent="0">
              <a:buNone/>
            </a:pPr>
            <a:r>
              <a:rPr sz="890">
                <a:solidFill>
                  <a:srgbClr val="223042"/>
                </a:solidFill>
              </a:rPr>
              <a:t>• Монтаж магистральных КНС, межэтажных переходов, подвесов и проходок</a:t>
            </a:r>
            <a:endParaRPr lang="en-US" sz="875"/>
          </a:p>
          <a:p>
            <a:r>
              <a:rPr sz="890">
                <a:solidFill>
                  <a:srgbClr val="223042"/>
                </a:solidFill>
              </a:rPr>
              <a:t>• Устройство лотков, гофры, локальных спусков и узлов крепления</a:t>
            </a:r>
          </a:p>
          <a:p>
            <a:r>
              <a:rPr sz="890">
                <a:solidFill>
                  <a:srgbClr val="223042"/>
                </a:solidFill>
              </a:rPr>
              <a:t>• Подготовка трасс под все подсистемы ИТСО</a:t>
            </a:r>
          </a:p>
        </p:txBody>
      </p:sp>
      <p:sp>
        <p:nvSpPr>
          <p:cNvPr id="40" name="Shape 38"/>
          <p:cNvSpPr/>
          <p:nvPr/>
        </p:nvSpPr>
        <p:spPr>
          <a:xfrm>
            <a:off x="6922008" y="3986784"/>
            <a:ext cx="1463040" cy="676656"/>
          </a:xfrm>
          <a:prstGeom prst="roundRect">
            <a:avLst>
              <a:gd name="adj" fmla="val 8108"/>
            </a:avLst>
          </a:prstGeom>
          <a:solidFill>
            <a:srgbClr val="F1ECFD"/>
          </a:solidFill>
          <a:ln w="12700">
            <a:solidFill>
              <a:srgbClr val="D8DFE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995160" y="4087368"/>
            <a:ext cx="131673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r>
              <a:rPr sz="900" b="1">
                <a:solidFill>
                  <a:srgbClr val="667789"/>
                </a:solidFill>
              </a:rPr>
              <a:t>Стоимость монтажа</a:t>
            </a:r>
            <a:endParaRPr lang="en-US" sz="900" b="1">
              <a:solidFill>
                <a:srgbClr val="667789"/>
              </a:solidFill>
            </a:endParaRPr>
          </a:p>
          <a:p>
            <a:r>
              <a:rPr sz="900" b="1">
                <a:solidFill>
                  <a:srgbClr val="667789"/>
                </a:solidFill>
              </a:rPr>
              <a:t>1 м КНС</a:t>
            </a:r>
          </a:p>
        </p:txBody>
      </p:sp>
      <p:sp>
        <p:nvSpPr>
          <p:cNvPr id="42" name="Text 40"/>
          <p:cNvSpPr/>
          <p:nvPr/>
        </p:nvSpPr>
        <p:spPr>
          <a:xfrm>
            <a:off x="6995160" y="4233672"/>
            <a:ext cx="1316736" cy="40233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r>
              <a:rPr sz="915">
                <a:solidFill>
                  <a:srgbClr val="223042"/>
                </a:solidFill>
              </a:rPr>
              <a:t>450 ₽</a:t>
            </a:r>
            <a:endParaRPr lang="en-US" sz="915">
              <a:solidFill>
                <a:srgbClr val="223042"/>
              </a:solidFill>
            </a:endParaRPr>
          </a:p>
        </p:txBody>
      </p:sp>
      <p:sp>
        <p:nvSpPr>
          <p:cNvPr id="43" name="Shape 41"/>
          <p:cNvSpPr/>
          <p:nvPr/>
        </p:nvSpPr>
        <p:spPr>
          <a:xfrm>
            <a:off x="8622792" y="3986784"/>
            <a:ext cx="1463040" cy="676656"/>
          </a:xfrm>
          <a:prstGeom prst="roundRect">
            <a:avLst>
              <a:gd name="adj" fmla="val 8108"/>
            </a:avLst>
          </a:prstGeom>
          <a:solidFill>
            <a:srgbClr val="F1ECFD"/>
          </a:solidFill>
          <a:ln w="12700">
            <a:solidFill>
              <a:srgbClr val="D8DFE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695944" y="4050792"/>
            <a:ext cx="131673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r>
              <a:rPr sz="900" b="1">
                <a:solidFill>
                  <a:srgbClr val="667789"/>
                </a:solidFill>
              </a:rPr>
              <a:t>Общая протяженность</a:t>
            </a:r>
            <a:endParaRPr lang="en-US" sz="900" b="1">
              <a:solidFill>
                <a:srgbClr val="667789"/>
              </a:solidFill>
            </a:endParaRPr>
          </a:p>
          <a:p>
            <a:r>
              <a:rPr sz="900" b="1">
                <a:solidFill>
                  <a:srgbClr val="667789"/>
                </a:solidFill>
              </a:rPr>
              <a:t>КНС</a:t>
            </a:r>
          </a:p>
        </p:txBody>
      </p:sp>
      <p:sp>
        <p:nvSpPr>
          <p:cNvPr id="45" name="Text 43"/>
          <p:cNvSpPr/>
          <p:nvPr/>
        </p:nvSpPr>
        <p:spPr>
          <a:xfrm>
            <a:off x="8695944" y="4233672"/>
            <a:ext cx="1316736" cy="40233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r>
              <a:rPr sz="915">
                <a:solidFill>
                  <a:srgbClr val="223042"/>
                </a:solidFill>
              </a:rPr>
              <a:t>57 000 м</a:t>
            </a:r>
            <a:endParaRPr lang="en-US" sz="915">
              <a:solidFill>
                <a:srgbClr val="223042"/>
              </a:solidFill>
            </a:endParaRPr>
          </a:p>
        </p:txBody>
      </p:sp>
      <p:sp>
        <p:nvSpPr>
          <p:cNvPr id="46" name="Shape 44"/>
          <p:cNvSpPr/>
          <p:nvPr/>
        </p:nvSpPr>
        <p:spPr>
          <a:xfrm>
            <a:off x="10323576" y="3986784"/>
            <a:ext cx="1472184" cy="676656"/>
          </a:xfrm>
          <a:prstGeom prst="roundRect">
            <a:avLst>
              <a:gd name="adj" fmla="val 8108"/>
            </a:avLst>
          </a:prstGeom>
          <a:solidFill>
            <a:srgbClr val="F1ECFD"/>
          </a:solidFill>
          <a:ln w="12700">
            <a:solidFill>
              <a:srgbClr val="D8DFE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0396728" y="4050792"/>
            <a:ext cx="13258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r>
              <a:rPr lang="en-US" sz="900" b="1">
                <a:solidFill>
                  <a:srgbClr val="667789"/>
                </a:solidFill>
              </a:rPr>
              <a:t>12 000 м лотка</a:t>
            </a:r>
          </a:p>
        </p:txBody>
      </p:sp>
      <p:sp>
        <p:nvSpPr>
          <p:cNvPr id="48" name="Text 46"/>
          <p:cNvSpPr/>
          <p:nvPr/>
        </p:nvSpPr>
        <p:spPr>
          <a:xfrm>
            <a:off x="10396728" y="4233672"/>
            <a:ext cx="1325880" cy="40233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r>
              <a:rPr lang="en-US" sz="915">
                <a:solidFill>
                  <a:srgbClr val="223042"/>
                </a:solidFill>
              </a:rPr>
              <a:t>металлический</a:t>
            </a:r>
          </a:p>
        </p:txBody>
      </p:sp>
      <p:sp>
        <p:nvSpPr>
          <p:cNvPr id="49" name="Shape 47"/>
          <p:cNvSpPr/>
          <p:nvPr/>
        </p:nvSpPr>
        <p:spPr>
          <a:xfrm>
            <a:off x="6922008" y="4809744"/>
            <a:ext cx="1463040" cy="676656"/>
          </a:xfrm>
          <a:prstGeom prst="roundRect">
            <a:avLst>
              <a:gd name="adj" fmla="val 8108"/>
            </a:avLst>
          </a:prstGeom>
          <a:solidFill>
            <a:srgbClr val="F1ECFD"/>
          </a:solidFill>
          <a:ln w="12700">
            <a:solidFill>
              <a:srgbClr val="D8DFE8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995160" y="4873752"/>
            <a:ext cx="131673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r>
              <a:rPr lang="en-US" sz="900" b="1">
                <a:solidFill>
                  <a:srgbClr val="667789"/>
                </a:solidFill>
              </a:rPr>
              <a:t>45 000 м гофры</a:t>
            </a:r>
          </a:p>
        </p:txBody>
      </p:sp>
      <p:sp>
        <p:nvSpPr>
          <p:cNvPr id="51" name="Text 49"/>
          <p:cNvSpPr/>
          <p:nvPr/>
        </p:nvSpPr>
        <p:spPr>
          <a:xfrm>
            <a:off x="6995160" y="5056632"/>
            <a:ext cx="1316736" cy="40233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915">
                <a:solidFill>
                  <a:srgbClr val="223042"/>
                </a:solidFill>
              </a:rPr>
              <a:t>ПНД / ПВХ, НГ-LS</a:t>
            </a:r>
            <a:endParaRPr lang="en-US" sz="915"/>
          </a:p>
        </p:txBody>
      </p:sp>
      <p:sp>
        <p:nvSpPr>
          <p:cNvPr id="52" name="Shape 50"/>
          <p:cNvSpPr/>
          <p:nvPr/>
        </p:nvSpPr>
        <p:spPr>
          <a:xfrm>
            <a:off x="8622792" y="4809744"/>
            <a:ext cx="1463040" cy="676656"/>
          </a:xfrm>
          <a:prstGeom prst="roundRect">
            <a:avLst>
              <a:gd name="adj" fmla="val 8108"/>
            </a:avLst>
          </a:prstGeom>
          <a:solidFill>
            <a:srgbClr val="F1ECFD"/>
          </a:solidFill>
          <a:ln w="12700">
            <a:solidFill>
              <a:srgbClr val="D8DFE8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8695944" y="4873752"/>
            <a:ext cx="131673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r>
              <a:rPr lang="en-US" sz="900" b="1">
                <a:solidFill>
                  <a:srgbClr val="667789"/>
                </a:solidFill>
              </a:rPr>
              <a:t>90 000 м кабеля</a:t>
            </a:r>
          </a:p>
        </p:txBody>
      </p:sp>
      <p:sp>
        <p:nvSpPr>
          <p:cNvPr id="54" name="Text 52"/>
          <p:cNvSpPr/>
          <p:nvPr/>
        </p:nvSpPr>
        <p:spPr>
          <a:xfrm>
            <a:off x="8695944" y="5056632"/>
            <a:ext cx="1316736" cy="40233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915">
                <a:solidFill>
                  <a:srgbClr val="223042"/>
                </a:solidFill>
              </a:rPr>
              <a:t>общий трассовый фонд</a:t>
            </a:r>
            <a:endParaRPr lang="en-US" sz="915"/>
          </a:p>
        </p:txBody>
      </p:sp>
      <p:sp>
        <p:nvSpPr>
          <p:cNvPr id="55" name="Shape 53"/>
          <p:cNvSpPr/>
          <p:nvPr/>
        </p:nvSpPr>
        <p:spPr>
          <a:xfrm>
            <a:off x="10323576" y="4809744"/>
            <a:ext cx="1472184" cy="676656"/>
          </a:xfrm>
          <a:prstGeom prst="roundRect">
            <a:avLst>
              <a:gd name="adj" fmla="val 8108"/>
            </a:avLst>
          </a:prstGeom>
          <a:solidFill>
            <a:srgbClr val="F1ECFD"/>
          </a:solidFill>
          <a:ln w="12700">
            <a:solidFill>
              <a:srgbClr val="D8DFE8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10396728" y="4873752"/>
            <a:ext cx="13258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r>
              <a:rPr lang="en-US" sz="900" b="1">
                <a:solidFill>
                  <a:srgbClr val="667789"/>
                </a:solidFill>
              </a:rPr>
              <a:t>Подвесы и анкеры</a:t>
            </a:r>
          </a:p>
        </p:txBody>
      </p:sp>
      <p:sp>
        <p:nvSpPr>
          <p:cNvPr id="57" name="Text 55"/>
          <p:cNvSpPr/>
          <p:nvPr/>
        </p:nvSpPr>
        <p:spPr>
          <a:xfrm>
            <a:off x="10396728" y="5056632"/>
            <a:ext cx="1325880" cy="40233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915">
                <a:solidFill>
                  <a:srgbClr val="223042"/>
                </a:solidFill>
              </a:rPr>
              <a:t>для всей кабельной сети</a:t>
            </a:r>
            <a:endParaRPr lang="en-US" sz="915"/>
          </a:p>
        </p:txBody>
      </p:sp>
      <p:sp>
        <p:nvSpPr>
          <p:cNvPr id="58" name="Text 56"/>
          <p:cNvSpPr/>
          <p:nvPr/>
        </p:nvSpPr>
        <p:spPr>
          <a:xfrm>
            <a:off x="384048" y="6510528"/>
            <a:ext cx="75895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>
                <a:solidFill>
                  <a:srgbClr val="718196"/>
                </a:solidFill>
              </a:rPr>
              <a:t>Кутузовский 32 • ИТСО • все цены приведены с НДС 22%</a:t>
            </a:r>
            <a:endParaRPr lang="en-US" sz="700"/>
          </a:p>
        </p:txBody>
      </p:sp>
      <p:sp>
        <p:nvSpPr>
          <p:cNvPr id="59" name="Text 57"/>
          <p:cNvSpPr/>
          <p:nvPr/>
        </p:nvSpPr>
        <p:spPr>
          <a:xfrm>
            <a:off x="11612880" y="6492240"/>
            <a:ext cx="2011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>
                <a:solidFill>
                  <a:srgbClr val="718196"/>
                </a:solidFill>
              </a:rPr>
              <a:t>7</a:t>
            </a:r>
            <a:endParaRPr lang="en-US" sz="7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F2F53"/>
          </a:solidFill>
          <a:ln w="12700">
            <a:solidFill>
              <a:srgbClr val="0F2F5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310896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50" b="1">
                <a:solidFill>
                  <a:srgbClr val="223042"/>
                </a:solidFill>
              </a:rPr>
              <a:t>ССОИ и сетевое ядро</a:t>
            </a:r>
            <a:endParaRPr lang="en-US" sz="2150"/>
          </a:p>
        </p:txBody>
      </p:sp>
      <p:sp>
        <p:nvSpPr>
          <p:cNvPr id="5" name="Shape 3"/>
          <p:cNvSpPr/>
          <p:nvPr/>
        </p:nvSpPr>
        <p:spPr>
          <a:xfrm>
            <a:off x="384048" y="868680"/>
            <a:ext cx="11292840" cy="0"/>
          </a:xfrm>
          <a:prstGeom prst="line">
            <a:avLst/>
          </a:prstGeom>
          <a:noFill/>
          <a:ln w="12700">
            <a:solidFill>
              <a:srgbClr val="119DA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84048" y="1005840"/>
            <a:ext cx="6355080" cy="3721608"/>
          </a:xfrm>
          <a:prstGeom prst="roundRect">
            <a:avLst>
              <a:gd name="adj" fmla="val 1024"/>
            </a:avLst>
          </a:prstGeom>
          <a:solidFill>
            <a:srgbClr val="FFFFFF"/>
          </a:solidFill>
          <a:ln w="12700">
            <a:solidFill>
              <a:srgbClr val="D8DF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922008" y="1005840"/>
            <a:ext cx="4873752" cy="804672"/>
          </a:xfrm>
          <a:prstGeom prst="roundRect">
            <a:avLst>
              <a:gd name="adj" fmla="val 6818"/>
            </a:avLst>
          </a:prstGeom>
          <a:solidFill>
            <a:srgbClr val="123A66"/>
          </a:solidFill>
          <a:ln w="12700">
            <a:solidFill>
              <a:srgbClr val="123A6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004304" y="1069848"/>
            <a:ext cx="47091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>
                <a:solidFill>
                  <a:srgbClr val="DCE7F3"/>
                </a:solidFill>
              </a:rPr>
              <a:t>Итого по системе</a:t>
            </a:r>
            <a:r>
              <a:rPr lang="ru-RU" sz="1200" b="1">
                <a:solidFill>
                  <a:srgbClr val="DCE7F3"/>
                </a:solidFill>
              </a:rPr>
              <a:t> (сметная стоимость)</a:t>
            </a:r>
            <a:endParaRPr lang="en-US" sz="1200" b="1">
              <a:solidFill>
                <a:srgbClr val="DCE7F3"/>
              </a:solidFill>
            </a:endParaRPr>
          </a:p>
        </p:txBody>
      </p:sp>
      <p:sp>
        <p:nvSpPr>
          <p:cNvPr id="9" name="Shape 7"/>
          <p:cNvSpPr/>
          <p:nvPr/>
        </p:nvSpPr>
        <p:spPr>
          <a:xfrm>
            <a:off x="7004304" y="1188720"/>
            <a:ext cx="411480" cy="0"/>
          </a:xfrm>
          <a:prstGeom prst="line">
            <a:avLst/>
          </a:prstGeom>
          <a:noFill/>
          <a:ln w="12700">
            <a:solidFill>
              <a:srgbClr val="119DA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004304" y="1271016"/>
            <a:ext cx="4709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sz="2000" b="1">
                <a:solidFill>
                  <a:srgbClr val="FFFFFF"/>
                </a:solidFill>
              </a:rPr>
              <a:t>36,16 млн ₽</a:t>
            </a:r>
            <a:endParaRPr lang="en-US" sz="2000"/>
          </a:p>
        </p:txBody>
      </p:sp>
      <p:sp>
        <p:nvSpPr>
          <p:cNvPr id="11" name="Shape 9"/>
          <p:cNvSpPr/>
          <p:nvPr/>
        </p:nvSpPr>
        <p:spPr>
          <a:xfrm>
            <a:off x="7562088" y="1975104"/>
            <a:ext cx="1444752" cy="694944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12700">
            <a:solidFill>
              <a:srgbClr val="D8DF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644384" y="2039112"/>
            <a:ext cx="12801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90" b="1">
                <a:solidFill>
                  <a:srgbClr val="667789"/>
                </a:solidFill>
              </a:rPr>
              <a:t>Оборудование</a:t>
            </a:r>
            <a:endParaRPr lang="en-US" sz="790"/>
          </a:p>
        </p:txBody>
      </p:sp>
      <p:sp>
        <p:nvSpPr>
          <p:cNvPr id="13" name="Shape 11"/>
          <p:cNvSpPr/>
          <p:nvPr/>
        </p:nvSpPr>
        <p:spPr>
          <a:xfrm>
            <a:off x="7644384" y="2157984"/>
            <a:ext cx="411480" cy="0"/>
          </a:xfrm>
          <a:prstGeom prst="line">
            <a:avLst/>
          </a:prstGeom>
          <a:noFill/>
          <a:ln w="12700">
            <a:solidFill>
              <a:srgbClr val="119DA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644384" y="2240280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sz="1200" b="1">
                <a:solidFill>
                  <a:srgbClr val="223042"/>
                </a:solidFill>
              </a:rPr>
              <a:t>21,2 млн ₽</a:t>
            </a:r>
            <a:endParaRPr lang="en-US" sz="1080"/>
          </a:p>
        </p:txBody>
      </p:sp>
      <p:sp>
        <p:nvSpPr>
          <p:cNvPr id="19" name="Shape 17"/>
          <p:cNvSpPr/>
          <p:nvPr/>
        </p:nvSpPr>
        <p:spPr>
          <a:xfrm>
            <a:off x="9398508" y="1975104"/>
            <a:ext cx="1490472" cy="694944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12700">
            <a:solidFill>
              <a:srgbClr val="D8DFE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480804" y="2039112"/>
            <a:ext cx="13258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90" b="1">
                <a:solidFill>
                  <a:srgbClr val="667789"/>
                </a:solidFill>
              </a:rPr>
              <a:t>Работы / ПНР</a:t>
            </a:r>
            <a:endParaRPr lang="en-US" sz="790"/>
          </a:p>
        </p:txBody>
      </p:sp>
      <p:sp>
        <p:nvSpPr>
          <p:cNvPr id="21" name="Shape 19"/>
          <p:cNvSpPr/>
          <p:nvPr/>
        </p:nvSpPr>
        <p:spPr>
          <a:xfrm>
            <a:off x="9480804" y="2157984"/>
            <a:ext cx="411480" cy="0"/>
          </a:xfrm>
          <a:prstGeom prst="line">
            <a:avLst/>
          </a:prstGeom>
          <a:noFill/>
          <a:ln w="12700">
            <a:solidFill>
              <a:srgbClr val="119DA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480804" y="2240280"/>
            <a:ext cx="1325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sz="1200" b="1">
                <a:solidFill>
                  <a:srgbClr val="223042"/>
                </a:solidFill>
              </a:rPr>
              <a:t>1,6 млн ₽</a:t>
            </a:r>
            <a:endParaRPr lang="en-US" sz="1080"/>
          </a:p>
        </p:txBody>
      </p:sp>
      <p:sp>
        <p:nvSpPr>
          <p:cNvPr id="23" name="Shape 21"/>
          <p:cNvSpPr/>
          <p:nvPr/>
        </p:nvSpPr>
        <p:spPr>
          <a:xfrm>
            <a:off x="6922008" y="2907792"/>
            <a:ext cx="4873752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D8DFE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013448" y="2980944"/>
            <a:ext cx="469087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90" b="1">
                <a:solidFill>
                  <a:srgbClr val="667789"/>
                </a:solidFill>
              </a:rPr>
              <a:t>Структура стоимости</a:t>
            </a:r>
            <a:endParaRPr lang="en-US" sz="790"/>
          </a:p>
        </p:txBody>
      </p:sp>
      <p:sp>
        <p:nvSpPr>
          <p:cNvPr id="25" name="Shape 23"/>
          <p:cNvSpPr/>
          <p:nvPr/>
        </p:nvSpPr>
        <p:spPr>
          <a:xfrm>
            <a:off x="7013448" y="3191256"/>
            <a:ext cx="4690872" cy="164592"/>
          </a:xfrm>
          <a:prstGeom prst="rect">
            <a:avLst/>
          </a:prstGeom>
          <a:solidFill>
            <a:srgbClr val="E8EDF3"/>
          </a:solidFill>
          <a:ln w="12700">
            <a:solidFill>
              <a:srgbClr val="E8EDF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013448" y="3191256"/>
            <a:ext cx="2756398" cy="164592"/>
          </a:xfrm>
          <a:prstGeom prst="rect">
            <a:avLst/>
          </a:prstGeom>
          <a:solidFill>
            <a:srgbClr val="119DA2"/>
          </a:solidFill>
          <a:ln w="12700">
            <a:solidFill>
              <a:srgbClr val="119DA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769846" y="3191256"/>
            <a:ext cx="914" cy="164592"/>
          </a:xfrm>
          <a:prstGeom prst="rect">
            <a:avLst/>
          </a:prstGeom>
          <a:solidFill>
            <a:srgbClr val="AEBBCA"/>
          </a:solidFill>
          <a:ln w="12700">
            <a:solidFill>
              <a:srgbClr val="AEBBC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769846" y="3191256"/>
            <a:ext cx="207994" cy="164592"/>
          </a:xfrm>
          <a:prstGeom prst="rect">
            <a:avLst/>
          </a:prstGeom>
          <a:solidFill>
            <a:srgbClr val="123A66"/>
          </a:solidFill>
          <a:ln w="12700">
            <a:solidFill>
              <a:srgbClr val="123A6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977841" y="3191256"/>
            <a:ext cx="1726478" cy="164592"/>
          </a:xfrm>
          <a:prstGeom prst="rect">
            <a:avLst/>
          </a:prstGeom>
          <a:solidFill>
            <a:srgbClr val="89AFCB"/>
          </a:solidFill>
          <a:ln w="12700">
            <a:solidFill>
              <a:srgbClr val="89AFC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013448" y="3429000"/>
            <a:ext cx="46908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sz="830">
                <a:solidFill>
                  <a:srgbClr val="223042"/>
                </a:solidFill>
              </a:rPr>
              <a:t>Обор. 58,8% • Работы 4,4% • Проект. 36,8%</a:t>
            </a:r>
            <a:endParaRPr lang="en-US" sz="780"/>
          </a:p>
        </p:txBody>
      </p:sp>
      <p:sp>
        <p:nvSpPr>
          <p:cNvPr id="31" name="Text 29"/>
          <p:cNvSpPr/>
          <p:nvPr/>
        </p:nvSpPr>
        <p:spPr>
          <a:xfrm>
            <a:off x="530352" y="1170432"/>
            <a:ext cx="5989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90" b="1">
                <a:solidFill>
                  <a:srgbClr val="119DA2"/>
                </a:solidFill>
              </a:rPr>
              <a:t>Состав оборудования, материалов и работ</a:t>
            </a:r>
            <a:endParaRPr lang="en-US" sz="990"/>
          </a:p>
        </p:txBody>
      </p:sp>
      <p:sp>
        <p:nvSpPr>
          <p:cNvPr id="32" name="Text 30"/>
          <p:cNvSpPr/>
          <p:nvPr/>
        </p:nvSpPr>
        <p:spPr>
          <a:xfrm>
            <a:off x="530352" y="1344168"/>
            <a:ext cx="5989320" cy="1828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marL="0" indent="0">
              <a:buNone/>
            </a:pPr>
            <a:r>
              <a:rPr lang="en-US" sz="875">
                <a:solidFill>
                  <a:srgbClr val="223042"/>
                </a:solidFill>
              </a:rPr>
              <a:t>Единый контур управления и серверное ядро ИТСО.</a:t>
            </a:r>
            <a:endParaRPr lang="en-US" sz="875"/>
          </a:p>
        </p:txBody>
      </p:sp>
      <p:sp>
        <p:nvSpPr>
          <p:cNvPr id="33" name="Text 31"/>
          <p:cNvSpPr/>
          <p:nvPr/>
        </p:nvSpPr>
        <p:spPr>
          <a:xfrm>
            <a:off x="530352" y="1572768"/>
            <a:ext cx="5989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90" b="1">
                <a:solidFill>
                  <a:srgbClr val="119DA2"/>
                </a:solidFill>
              </a:rPr>
              <a:t>Оборудование</a:t>
            </a:r>
            <a:endParaRPr lang="en-US" sz="990"/>
          </a:p>
        </p:txBody>
      </p:sp>
      <p:sp>
        <p:nvSpPr>
          <p:cNvPr id="34" name="Text 32"/>
          <p:cNvSpPr/>
          <p:nvPr/>
        </p:nvSpPr>
        <p:spPr>
          <a:xfrm>
            <a:off x="530352" y="1746504"/>
            <a:ext cx="5989320" cy="8046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marL="0" indent="0">
              <a:buNone/>
            </a:pPr>
            <a:r>
              <a:rPr sz="869">
                <a:solidFill>
                  <a:srgbClr val="223042"/>
                </a:solidFill>
              </a:rPr>
              <a:t>• Ядро сети и PoE-коммутаторы Huawei </a:t>
            </a:r>
            <a:r>
              <a:rPr lang="ru-RU" sz="869">
                <a:solidFill>
                  <a:srgbClr val="223042"/>
                </a:solidFill>
              </a:rPr>
              <a:t>(24 порта)</a:t>
            </a:r>
            <a:r>
              <a:rPr sz="869">
                <a:solidFill>
                  <a:srgbClr val="223042"/>
                </a:solidFill>
              </a:rPr>
              <a:t> — 66 шт.</a:t>
            </a:r>
            <a:endParaRPr lang="en-US" sz="875"/>
          </a:p>
          <a:p>
            <a:r>
              <a:rPr sz="869">
                <a:solidFill>
                  <a:srgbClr val="223042"/>
                </a:solidFill>
              </a:rPr>
              <a:t>• Серверы FusionServer — 2 шт. (ориентир ~2,3 млн ₽ / сервер)</a:t>
            </a:r>
          </a:p>
        </p:txBody>
      </p:sp>
      <p:sp>
        <p:nvSpPr>
          <p:cNvPr id="35" name="Text 33"/>
          <p:cNvSpPr/>
          <p:nvPr/>
        </p:nvSpPr>
        <p:spPr>
          <a:xfrm>
            <a:off x="530352" y="2670048"/>
            <a:ext cx="5989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90" b="1">
                <a:solidFill>
                  <a:srgbClr val="119DA2"/>
                </a:solidFill>
              </a:rPr>
              <a:t>Материалы</a:t>
            </a:r>
            <a:endParaRPr lang="en-US" sz="990"/>
          </a:p>
        </p:txBody>
      </p:sp>
      <p:sp>
        <p:nvSpPr>
          <p:cNvPr id="36" name="Text 34"/>
          <p:cNvSpPr/>
          <p:nvPr/>
        </p:nvSpPr>
        <p:spPr>
          <a:xfrm>
            <a:off x="530352" y="2843784"/>
            <a:ext cx="5989320" cy="7772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marL="0" indent="0">
              <a:buNone/>
            </a:pPr>
            <a:r>
              <a:rPr sz="819">
                <a:solidFill>
                  <a:srgbClr val="223042"/>
                </a:solidFill>
              </a:rPr>
              <a:t>• Кабельные трассы и материалы вынесены в КНС: лоток 12 000 м, гофра 45 000 м,</a:t>
            </a:r>
            <a:endParaRPr lang="en-US" sz="875"/>
          </a:p>
          <a:p>
            <a:r>
              <a:rPr sz="819">
                <a:solidFill>
                  <a:srgbClr val="223042"/>
                </a:solidFill>
              </a:rPr>
              <a:t>  подвесы, шпильки, анкеры, проходки и крепеж</a:t>
            </a:r>
          </a:p>
          <a:p>
            <a:r>
              <a:rPr sz="819">
                <a:solidFill>
                  <a:srgbClr val="223042"/>
                </a:solidFill>
              </a:rPr>
              <a:t>• В разделе учтены серверные и коммутационные позиции без дублирования трасс</a:t>
            </a:r>
          </a:p>
        </p:txBody>
      </p:sp>
      <p:sp>
        <p:nvSpPr>
          <p:cNvPr id="37" name="Text 35"/>
          <p:cNvSpPr/>
          <p:nvPr/>
        </p:nvSpPr>
        <p:spPr>
          <a:xfrm>
            <a:off x="530352" y="3730752"/>
            <a:ext cx="5989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90" b="1">
                <a:solidFill>
                  <a:srgbClr val="119DA2"/>
                </a:solidFill>
              </a:rPr>
              <a:t>Работы</a:t>
            </a:r>
            <a:endParaRPr lang="en-US" sz="990"/>
          </a:p>
        </p:txBody>
      </p:sp>
      <p:sp>
        <p:nvSpPr>
          <p:cNvPr id="38" name="Text 36"/>
          <p:cNvSpPr/>
          <p:nvPr/>
        </p:nvSpPr>
        <p:spPr>
          <a:xfrm>
            <a:off x="530352" y="3904488"/>
            <a:ext cx="5989320" cy="8229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marL="0" indent="0">
              <a:buNone/>
            </a:pPr>
            <a:r>
              <a:rPr sz="840">
                <a:solidFill>
                  <a:srgbClr val="223042"/>
                </a:solidFill>
              </a:rPr>
              <a:t>• Сборка серверных стоек и коммутация ядра сети</a:t>
            </a:r>
            <a:endParaRPr lang="en-US" sz="875"/>
          </a:p>
          <a:p>
            <a:r>
              <a:rPr sz="840">
                <a:solidFill>
                  <a:srgbClr val="223042"/>
                </a:solidFill>
              </a:rPr>
              <a:t>• Настройка серверной части, сетевого ядра и резервов по портам</a:t>
            </a:r>
          </a:p>
          <a:p>
            <a:r>
              <a:rPr sz="840">
                <a:solidFill>
                  <a:srgbClr val="223042"/>
                </a:solidFill>
              </a:rPr>
              <a:t>• Точка интеграции — логический стык подсистемы с ССОИ (драйвер, события, статусы, команды)</a:t>
            </a:r>
          </a:p>
        </p:txBody>
      </p:sp>
      <p:sp>
        <p:nvSpPr>
          <p:cNvPr id="40" name="Shape 38"/>
          <p:cNvSpPr/>
          <p:nvPr/>
        </p:nvSpPr>
        <p:spPr>
          <a:xfrm>
            <a:off x="7739090" y="3954780"/>
            <a:ext cx="1463040" cy="676656"/>
          </a:xfrm>
          <a:prstGeom prst="roundRect">
            <a:avLst>
              <a:gd name="adj" fmla="val 8108"/>
            </a:avLst>
          </a:prstGeom>
          <a:solidFill>
            <a:srgbClr val="E8F6F6"/>
          </a:solidFill>
          <a:ln w="12700">
            <a:solidFill>
              <a:srgbClr val="D8DFE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780238" y="3995928"/>
            <a:ext cx="16230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r>
              <a:rPr sz="900" b="1">
                <a:solidFill>
                  <a:srgbClr val="667789"/>
                </a:solidFill>
              </a:rPr>
              <a:t>Стоимость</a:t>
            </a:r>
            <a:r>
              <a:rPr lang="ru-RU" sz="900" b="1">
                <a:solidFill>
                  <a:srgbClr val="667789"/>
                </a:solidFill>
              </a:rPr>
              <a:t> интеграции</a:t>
            </a:r>
            <a:endParaRPr lang="en-US" sz="900" b="1">
              <a:solidFill>
                <a:srgbClr val="667789"/>
              </a:solidFill>
            </a:endParaRPr>
          </a:p>
          <a:p>
            <a:r>
              <a:rPr sz="900" b="1">
                <a:solidFill>
                  <a:srgbClr val="667789"/>
                </a:solidFill>
              </a:rPr>
              <a:t>1</a:t>
            </a:r>
            <a:r>
              <a:rPr lang="ru-RU" sz="900" b="1">
                <a:solidFill>
                  <a:srgbClr val="667789"/>
                </a:solidFill>
              </a:rPr>
              <a:t> внешней системы</a:t>
            </a:r>
            <a:endParaRPr sz="900" b="1">
              <a:solidFill>
                <a:srgbClr val="667789"/>
              </a:solidFill>
            </a:endParaRPr>
          </a:p>
        </p:txBody>
      </p:sp>
      <p:sp>
        <p:nvSpPr>
          <p:cNvPr id="42" name="Text 40"/>
          <p:cNvSpPr/>
          <p:nvPr/>
        </p:nvSpPr>
        <p:spPr>
          <a:xfrm>
            <a:off x="7812242" y="4201668"/>
            <a:ext cx="1316736" cy="40233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r>
              <a:rPr sz="915">
                <a:solidFill>
                  <a:srgbClr val="223042"/>
                </a:solidFill>
              </a:rPr>
              <a:t>346 350 ₽</a:t>
            </a:r>
            <a:endParaRPr lang="en-US" sz="915">
              <a:solidFill>
                <a:srgbClr val="223042"/>
              </a:solidFill>
            </a:endParaRPr>
          </a:p>
        </p:txBody>
      </p:sp>
      <p:sp>
        <p:nvSpPr>
          <p:cNvPr id="43" name="Shape 41"/>
          <p:cNvSpPr/>
          <p:nvPr/>
        </p:nvSpPr>
        <p:spPr>
          <a:xfrm>
            <a:off x="9439874" y="3954780"/>
            <a:ext cx="1463040" cy="676656"/>
          </a:xfrm>
          <a:prstGeom prst="roundRect">
            <a:avLst>
              <a:gd name="adj" fmla="val 8108"/>
            </a:avLst>
          </a:prstGeom>
          <a:solidFill>
            <a:srgbClr val="E8F6F6"/>
          </a:solidFill>
          <a:ln w="12700">
            <a:solidFill>
              <a:srgbClr val="D8DFE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9494738" y="3974592"/>
            <a:ext cx="1316736" cy="3230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r>
              <a:rPr sz="900" b="1">
                <a:solidFill>
                  <a:srgbClr val="667789"/>
                </a:solidFill>
              </a:rPr>
              <a:t>Стоимость ПНР</a:t>
            </a:r>
            <a:endParaRPr lang="en-US" sz="900" b="1">
              <a:solidFill>
                <a:srgbClr val="667789"/>
              </a:solidFill>
            </a:endParaRPr>
          </a:p>
          <a:p>
            <a:r>
              <a:rPr sz="900" b="1">
                <a:solidFill>
                  <a:srgbClr val="667789"/>
                </a:solidFill>
              </a:rPr>
              <a:t>1 коммутатора</a:t>
            </a:r>
          </a:p>
        </p:txBody>
      </p:sp>
      <p:sp>
        <p:nvSpPr>
          <p:cNvPr id="45" name="Text 43"/>
          <p:cNvSpPr/>
          <p:nvPr/>
        </p:nvSpPr>
        <p:spPr>
          <a:xfrm>
            <a:off x="9513026" y="4201668"/>
            <a:ext cx="1316736" cy="40233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r>
              <a:rPr sz="915">
                <a:solidFill>
                  <a:srgbClr val="223042"/>
                </a:solidFill>
              </a:rPr>
              <a:t>18 500 ₽</a:t>
            </a:r>
            <a:endParaRPr lang="en-US" sz="915">
              <a:solidFill>
                <a:srgbClr val="223042"/>
              </a:solidFill>
            </a:endParaRPr>
          </a:p>
        </p:txBody>
      </p:sp>
      <p:sp>
        <p:nvSpPr>
          <p:cNvPr id="46" name="Shape 44"/>
          <p:cNvSpPr/>
          <p:nvPr/>
        </p:nvSpPr>
        <p:spPr>
          <a:xfrm>
            <a:off x="10323576" y="4809744"/>
            <a:ext cx="1472184" cy="676656"/>
          </a:xfrm>
          <a:prstGeom prst="roundRect">
            <a:avLst>
              <a:gd name="adj" fmla="val 8108"/>
            </a:avLst>
          </a:prstGeom>
          <a:solidFill>
            <a:srgbClr val="E8F6F6"/>
          </a:solidFill>
          <a:ln w="12700">
            <a:solidFill>
              <a:srgbClr val="D8DFE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0396728" y="4873752"/>
            <a:ext cx="13258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r>
              <a:rPr sz="900" b="1">
                <a:solidFill>
                  <a:srgbClr val="667789"/>
                </a:solidFill>
              </a:rPr>
              <a:t>66 коммутаторов</a:t>
            </a:r>
            <a:endParaRPr lang="en-US" sz="900" b="1">
              <a:solidFill>
                <a:srgbClr val="667789"/>
              </a:solidFill>
            </a:endParaRPr>
          </a:p>
        </p:txBody>
      </p:sp>
      <p:sp>
        <p:nvSpPr>
          <p:cNvPr id="48" name="Text 46"/>
          <p:cNvSpPr/>
          <p:nvPr/>
        </p:nvSpPr>
        <p:spPr>
          <a:xfrm>
            <a:off x="10396728" y="5056632"/>
            <a:ext cx="1325880" cy="40233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r>
              <a:rPr sz="915">
                <a:solidFill>
                  <a:srgbClr val="223042"/>
                </a:solidFill>
              </a:rPr>
              <a:t>Huawei </a:t>
            </a:r>
            <a:r>
              <a:rPr lang="ru-RU" sz="915">
                <a:solidFill>
                  <a:srgbClr val="223042"/>
                </a:solidFill>
              </a:rPr>
              <a:t>(24 порта)</a:t>
            </a:r>
            <a:endParaRPr lang="en-US" sz="915">
              <a:solidFill>
                <a:srgbClr val="223042"/>
              </a:solidFill>
            </a:endParaRPr>
          </a:p>
        </p:txBody>
      </p:sp>
      <p:sp>
        <p:nvSpPr>
          <p:cNvPr id="49" name="Shape 47"/>
          <p:cNvSpPr/>
          <p:nvPr/>
        </p:nvSpPr>
        <p:spPr>
          <a:xfrm>
            <a:off x="6922008" y="4809744"/>
            <a:ext cx="1463040" cy="676656"/>
          </a:xfrm>
          <a:prstGeom prst="roundRect">
            <a:avLst>
              <a:gd name="adj" fmla="val 8108"/>
            </a:avLst>
          </a:prstGeom>
          <a:solidFill>
            <a:srgbClr val="E8F6F6"/>
          </a:solidFill>
          <a:ln w="12700">
            <a:solidFill>
              <a:srgbClr val="D8DFE8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995160" y="4873752"/>
            <a:ext cx="131673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r>
              <a:rPr sz="900" b="1">
                <a:solidFill>
                  <a:srgbClr val="667789"/>
                </a:solidFill>
              </a:rPr>
              <a:t>2 FusionServer</a:t>
            </a:r>
            <a:endParaRPr lang="en-US" sz="900" b="1">
              <a:solidFill>
                <a:srgbClr val="667789"/>
              </a:solidFill>
            </a:endParaRPr>
          </a:p>
        </p:txBody>
      </p:sp>
      <p:sp>
        <p:nvSpPr>
          <p:cNvPr id="51" name="Text 49"/>
          <p:cNvSpPr/>
          <p:nvPr/>
        </p:nvSpPr>
        <p:spPr>
          <a:xfrm>
            <a:off x="7013448" y="5009388"/>
            <a:ext cx="1316736" cy="40233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r>
              <a:rPr sz="915">
                <a:solidFill>
                  <a:srgbClr val="223042"/>
                </a:solidFill>
              </a:rPr>
              <a:t>≈ 2,3 млн ₽ / сервер</a:t>
            </a:r>
            <a:endParaRPr lang="en-US" sz="915">
              <a:solidFill>
                <a:srgbClr val="223042"/>
              </a:solidFill>
            </a:endParaRPr>
          </a:p>
        </p:txBody>
      </p:sp>
      <p:sp>
        <p:nvSpPr>
          <p:cNvPr id="52" name="Shape 50"/>
          <p:cNvSpPr/>
          <p:nvPr/>
        </p:nvSpPr>
        <p:spPr>
          <a:xfrm>
            <a:off x="8622792" y="4809744"/>
            <a:ext cx="1463040" cy="676656"/>
          </a:xfrm>
          <a:prstGeom prst="roundRect">
            <a:avLst>
              <a:gd name="adj" fmla="val 8108"/>
            </a:avLst>
          </a:prstGeom>
          <a:solidFill>
            <a:srgbClr val="E8F6F6"/>
          </a:solidFill>
          <a:ln w="12700">
            <a:solidFill>
              <a:srgbClr val="D8DFE8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8695944" y="4873752"/>
            <a:ext cx="131673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r>
              <a:rPr lang="en-US" sz="900" b="1">
                <a:solidFill>
                  <a:srgbClr val="667789"/>
                </a:solidFill>
              </a:rPr>
              <a:t>4 контура</a:t>
            </a:r>
          </a:p>
        </p:txBody>
      </p:sp>
      <p:sp>
        <p:nvSpPr>
          <p:cNvPr id="54" name="Text 52"/>
          <p:cNvSpPr/>
          <p:nvPr/>
        </p:nvSpPr>
        <p:spPr>
          <a:xfrm>
            <a:off x="8695944" y="5056632"/>
            <a:ext cx="1316736" cy="40233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r>
              <a:rPr lang="en-US" sz="915">
                <a:solidFill>
                  <a:srgbClr val="223042"/>
                </a:solidFill>
              </a:rPr>
              <a:t>СОТС / СКУД / ТСВ / ядро</a:t>
            </a:r>
          </a:p>
        </p:txBody>
      </p:sp>
      <p:sp>
        <p:nvSpPr>
          <p:cNvPr id="58" name="Text 56"/>
          <p:cNvSpPr/>
          <p:nvPr/>
        </p:nvSpPr>
        <p:spPr>
          <a:xfrm>
            <a:off x="384048" y="6510528"/>
            <a:ext cx="75895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>
                <a:solidFill>
                  <a:srgbClr val="718196"/>
                </a:solidFill>
              </a:rPr>
              <a:t>Кутузовский 32 • ИТСО • все цены приведены с НДС 22%</a:t>
            </a:r>
            <a:endParaRPr lang="en-US" sz="700"/>
          </a:p>
        </p:txBody>
      </p:sp>
      <p:sp>
        <p:nvSpPr>
          <p:cNvPr id="59" name="Text 57"/>
          <p:cNvSpPr/>
          <p:nvPr/>
        </p:nvSpPr>
        <p:spPr>
          <a:xfrm>
            <a:off x="11612880" y="6492240"/>
            <a:ext cx="2011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>
                <a:solidFill>
                  <a:srgbClr val="718196"/>
                </a:solidFill>
              </a:rPr>
              <a:t>8</a:t>
            </a:r>
            <a:endParaRPr lang="en-US" sz="700"/>
          </a:p>
        </p:txBody>
      </p:sp>
      <p:sp>
        <p:nvSpPr>
          <p:cNvPr id="60" name="Text 2">
            <a:extLst>
              <a:ext uri="{FF2B5EF4-FFF2-40B4-BE49-F238E27FC236}">
                <a16:creationId xmlns:a16="http://schemas.microsoft.com/office/drawing/2014/main" id="{EC922FAB-4B24-4DBF-BA38-CA947167FD99}"/>
              </a:ext>
            </a:extLst>
          </p:cNvPr>
          <p:cNvSpPr/>
          <p:nvPr/>
        </p:nvSpPr>
        <p:spPr>
          <a:xfrm>
            <a:off x="384048" y="630936"/>
            <a:ext cx="111099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>
                <a:solidFill>
                  <a:srgbClr val="667789"/>
                </a:solidFill>
              </a:rPr>
              <a:t>Базис — Huawei</a:t>
            </a:r>
            <a:r>
              <a:rPr lang="ru-RU" sz="880">
                <a:solidFill>
                  <a:srgbClr val="667789"/>
                </a:solidFill>
              </a:rPr>
              <a:t>\</a:t>
            </a:r>
            <a:r>
              <a:rPr lang="en-US" sz="880">
                <a:solidFill>
                  <a:srgbClr val="667789"/>
                </a:solidFill>
              </a:rPr>
              <a:t> FusionServer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F2F53"/>
          </a:solidFill>
          <a:ln w="12700">
            <a:solidFill>
              <a:srgbClr val="0F2F5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310896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50" b="1">
                <a:solidFill>
                  <a:srgbClr val="223042"/>
                </a:solidFill>
              </a:rPr>
              <a:t>Общ</a:t>
            </a:r>
            <a:r>
              <a:rPr lang="ru-RU" sz="2150" b="1">
                <a:solidFill>
                  <a:srgbClr val="223042"/>
                </a:solidFill>
              </a:rPr>
              <a:t>ая </a:t>
            </a:r>
            <a:r>
              <a:rPr lang="en-US" sz="2150" b="1">
                <a:solidFill>
                  <a:srgbClr val="223042"/>
                </a:solidFill>
              </a:rPr>
              <a:t>бюджет</a:t>
            </a:r>
            <a:r>
              <a:rPr lang="ru-RU" sz="2150" b="1">
                <a:solidFill>
                  <a:srgbClr val="223042"/>
                </a:solidFill>
              </a:rPr>
              <a:t>ная оценка</a:t>
            </a:r>
            <a:r>
              <a:rPr lang="en-US" sz="2150" b="1">
                <a:solidFill>
                  <a:srgbClr val="223042"/>
                </a:solidFill>
              </a:rPr>
              <a:t> проекта</a:t>
            </a:r>
            <a:endParaRPr lang="en-US" sz="2150"/>
          </a:p>
        </p:txBody>
      </p:sp>
      <p:sp>
        <p:nvSpPr>
          <p:cNvPr id="4" name="Text 2"/>
          <p:cNvSpPr/>
          <p:nvPr/>
        </p:nvSpPr>
        <p:spPr>
          <a:xfrm>
            <a:off x="384048" y="630936"/>
            <a:ext cx="111099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>
                <a:solidFill>
                  <a:srgbClr val="667789"/>
                </a:solidFill>
              </a:rPr>
              <a:t>Оба бюджета включают проектирование, оборудование, материалы и исполнение работ.</a:t>
            </a:r>
            <a:endParaRPr lang="en-US" sz="880"/>
          </a:p>
        </p:txBody>
      </p:sp>
      <p:sp>
        <p:nvSpPr>
          <p:cNvPr id="5" name="Shape 3"/>
          <p:cNvSpPr/>
          <p:nvPr/>
        </p:nvSpPr>
        <p:spPr>
          <a:xfrm>
            <a:off x="384048" y="868680"/>
            <a:ext cx="11292840" cy="0"/>
          </a:xfrm>
          <a:prstGeom prst="line">
            <a:avLst/>
          </a:prstGeom>
          <a:noFill/>
          <a:ln w="12700">
            <a:solidFill>
              <a:srgbClr val="21985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84048" y="1005840"/>
            <a:ext cx="1353312" cy="694944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12700">
            <a:solidFill>
              <a:srgbClr val="D8DF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66344" y="1069848"/>
            <a:ext cx="11887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90" b="1">
                <a:solidFill>
                  <a:srgbClr val="667789"/>
                </a:solidFill>
              </a:rPr>
              <a:t>Оборудование</a:t>
            </a:r>
            <a:endParaRPr lang="en-US" sz="790"/>
          </a:p>
        </p:txBody>
      </p:sp>
      <p:sp>
        <p:nvSpPr>
          <p:cNvPr id="8" name="Shape 6"/>
          <p:cNvSpPr/>
          <p:nvPr/>
        </p:nvSpPr>
        <p:spPr>
          <a:xfrm>
            <a:off x="466344" y="1188720"/>
            <a:ext cx="411480" cy="0"/>
          </a:xfrm>
          <a:prstGeom prst="line">
            <a:avLst/>
          </a:prstGeom>
          <a:noFill/>
          <a:ln w="12700">
            <a:solidFill>
              <a:srgbClr val="21985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6344" y="1271016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sz="1200" b="1">
                <a:solidFill>
                  <a:srgbClr val="223042"/>
                </a:solidFill>
              </a:rPr>
              <a:t>141,2 млн ₽</a:t>
            </a:r>
            <a:endParaRPr lang="en-US" sz="1080"/>
          </a:p>
        </p:txBody>
      </p:sp>
      <p:sp>
        <p:nvSpPr>
          <p:cNvPr id="10" name="Shape 8"/>
          <p:cNvSpPr/>
          <p:nvPr/>
        </p:nvSpPr>
        <p:spPr>
          <a:xfrm>
            <a:off x="1847088" y="1005840"/>
            <a:ext cx="1353312" cy="694944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12700">
            <a:solidFill>
              <a:srgbClr val="D8DF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929384" y="1069848"/>
            <a:ext cx="11887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90" b="1">
                <a:solidFill>
                  <a:srgbClr val="667789"/>
                </a:solidFill>
              </a:rPr>
              <a:t>Материалы</a:t>
            </a:r>
            <a:endParaRPr lang="en-US" sz="790"/>
          </a:p>
        </p:txBody>
      </p:sp>
      <p:sp>
        <p:nvSpPr>
          <p:cNvPr id="12" name="Shape 10"/>
          <p:cNvSpPr/>
          <p:nvPr/>
        </p:nvSpPr>
        <p:spPr>
          <a:xfrm>
            <a:off x="1929384" y="1188720"/>
            <a:ext cx="411480" cy="0"/>
          </a:xfrm>
          <a:prstGeom prst="line">
            <a:avLst/>
          </a:prstGeom>
          <a:noFill/>
          <a:ln w="12700">
            <a:solidFill>
              <a:srgbClr val="C8851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929384" y="1271016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sz="1200" b="1">
                <a:solidFill>
                  <a:srgbClr val="223042"/>
                </a:solidFill>
              </a:rPr>
              <a:t>52,2 млн ₽</a:t>
            </a:r>
            <a:endParaRPr lang="en-US" sz="1080"/>
          </a:p>
        </p:txBody>
      </p:sp>
      <p:sp>
        <p:nvSpPr>
          <p:cNvPr id="14" name="Shape 12"/>
          <p:cNvSpPr/>
          <p:nvPr/>
        </p:nvSpPr>
        <p:spPr>
          <a:xfrm>
            <a:off x="3310128" y="1005840"/>
            <a:ext cx="1353312" cy="694944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12700">
            <a:solidFill>
              <a:srgbClr val="D8DF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92424" y="1069848"/>
            <a:ext cx="11887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90" b="1">
                <a:solidFill>
                  <a:srgbClr val="667789"/>
                </a:solidFill>
              </a:rPr>
              <a:t>Работы</a:t>
            </a:r>
            <a:endParaRPr lang="en-US" sz="790"/>
          </a:p>
        </p:txBody>
      </p:sp>
      <p:sp>
        <p:nvSpPr>
          <p:cNvPr id="16" name="Shape 14"/>
          <p:cNvSpPr/>
          <p:nvPr/>
        </p:nvSpPr>
        <p:spPr>
          <a:xfrm>
            <a:off x="3392424" y="1188720"/>
            <a:ext cx="411480" cy="0"/>
          </a:xfrm>
          <a:prstGeom prst="line">
            <a:avLst/>
          </a:prstGeom>
          <a:noFill/>
          <a:ln w="12700">
            <a:solidFill>
              <a:srgbClr val="2C7FE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92424" y="1271016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sz="1200" b="1">
                <a:solidFill>
                  <a:srgbClr val="223042"/>
                </a:solidFill>
              </a:rPr>
              <a:t>128,4 млн ₽</a:t>
            </a:r>
            <a:endParaRPr lang="en-US" sz="1080"/>
          </a:p>
        </p:txBody>
      </p:sp>
      <p:sp>
        <p:nvSpPr>
          <p:cNvPr id="18" name="Shape 16"/>
          <p:cNvSpPr/>
          <p:nvPr/>
        </p:nvSpPr>
        <p:spPr>
          <a:xfrm>
            <a:off x="4773168" y="1005840"/>
            <a:ext cx="1508760" cy="694944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12700">
            <a:solidFill>
              <a:srgbClr val="D8DFE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55464" y="1069848"/>
            <a:ext cx="134416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90" b="1">
                <a:solidFill>
                  <a:srgbClr val="667789"/>
                </a:solidFill>
              </a:rPr>
              <a:t>Проектирование</a:t>
            </a:r>
            <a:endParaRPr lang="en-US" sz="790"/>
          </a:p>
        </p:txBody>
      </p:sp>
      <p:sp>
        <p:nvSpPr>
          <p:cNvPr id="20" name="Shape 18"/>
          <p:cNvSpPr/>
          <p:nvPr/>
        </p:nvSpPr>
        <p:spPr>
          <a:xfrm>
            <a:off x="4855464" y="1188720"/>
            <a:ext cx="411480" cy="0"/>
          </a:xfrm>
          <a:prstGeom prst="line">
            <a:avLst/>
          </a:prstGeom>
          <a:noFill/>
          <a:ln w="12700">
            <a:solidFill>
              <a:srgbClr val="119DA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55464" y="1271016"/>
            <a:ext cx="13441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sz="1200" b="1">
                <a:solidFill>
                  <a:srgbClr val="223042"/>
                </a:solidFill>
              </a:rPr>
              <a:t>26,2 млн ₽</a:t>
            </a:r>
            <a:endParaRPr lang="en-US" sz="1080"/>
          </a:p>
        </p:txBody>
      </p:sp>
      <p:sp>
        <p:nvSpPr>
          <p:cNvPr id="22" name="Shape 20"/>
          <p:cNvSpPr/>
          <p:nvPr/>
        </p:nvSpPr>
        <p:spPr>
          <a:xfrm>
            <a:off x="6428232" y="1005840"/>
            <a:ext cx="1965960" cy="694944"/>
          </a:xfrm>
          <a:prstGeom prst="roundRect">
            <a:avLst>
              <a:gd name="adj" fmla="val 7895"/>
            </a:avLst>
          </a:prstGeom>
          <a:solidFill>
            <a:srgbClr val="123A66"/>
          </a:solidFill>
          <a:ln w="12700">
            <a:solidFill>
              <a:srgbClr val="123A6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10528" y="1069848"/>
            <a:ext cx="180136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90" b="1">
                <a:solidFill>
                  <a:srgbClr val="DCE7F3"/>
                </a:solidFill>
              </a:rPr>
              <a:t>Смета прямых затрат</a:t>
            </a:r>
            <a:endParaRPr lang="en-US" sz="790"/>
          </a:p>
        </p:txBody>
      </p:sp>
      <p:sp>
        <p:nvSpPr>
          <p:cNvPr id="24" name="Shape 22"/>
          <p:cNvSpPr/>
          <p:nvPr/>
        </p:nvSpPr>
        <p:spPr>
          <a:xfrm>
            <a:off x="6510528" y="1188720"/>
            <a:ext cx="411480" cy="0"/>
          </a:xfrm>
          <a:prstGeom prst="line">
            <a:avLst/>
          </a:prstGeom>
          <a:noFill/>
          <a:ln w="12700">
            <a:solidFill>
              <a:srgbClr val="2C7FE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10528" y="1271016"/>
            <a:ext cx="18013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sz="1200" b="1">
                <a:solidFill>
                  <a:srgbClr val="FFFFFF"/>
                </a:solidFill>
              </a:rPr>
              <a:t>348,0 млн ₽</a:t>
            </a:r>
            <a:endParaRPr lang="en-US" sz="1560"/>
          </a:p>
        </p:txBody>
      </p:sp>
      <p:sp>
        <p:nvSpPr>
          <p:cNvPr id="26" name="Shape 24"/>
          <p:cNvSpPr/>
          <p:nvPr/>
        </p:nvSpPr>
        <p:spPr>
          <a:xfrm>
            <a:off x="8595360" y="1005840"/>
            <a:ext cx="1508760" cy="694944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12700">
            <a:solidFill>
              <a:srgbClr val="D8DFE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677656" y="1069848"/>
            <a:ext cx="134416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90" b="1">
                <a:solidFill>
                  <a:srgbClr val="667789"/>
                </a:solidFill>
              </a:rPr>
              <a:t>Собственный ресурс</a:t>
            </a:r>
            <a:endParaRPr lang="en-US" sz="790"/>
          </a:p>
        </p:txBody>
      </p:sp>
      <p:sp>
        <p:nvSpPr>
          <p:cNvPr id="28" name="Shape 26"/>
          <p:cNvSpPr/>
          <p:nvPr/>
        </p:nvSpPr>
        <p:spPr>
          <a:xfrm>
            <a:off x="8677656" y="1188720"/>
            <a:ext cx="411480" cy="0"/>
          </a:xfrm>
          <a:prstGeom prst="line">
            <a:avLst/>
          </a:prstGeom>
          <a:noFill/>
          <a:ln w="12700">
            <a:solidFill>
              <a:srgbClr val="21985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677656" y="1271016"/>
            <a:ext cx="13441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sz="1200" b="1">
                <a:solidFill>
                  <a:srgbClr val="223042"/>
                </a:solidFill>
              </a:rPr>
              <a:t>573,3 млн ₽</a:t>
            </a:r>
            <a:endParaRPr lang="en-US" sz="1060"/>
          </a:p>
        </p:txBody>
      </p:sp>
      <p:sp>
        <p:nvSpPr>
          <p:cNvPr id="30" name="Shape 28"/>
          <p:cNvSpPr/>
          <p:nvPr/>
        </p:nvSpPr>
        <p:spPr>
          <a:xfrm>
            <a:off x="10259568" y="1005840"/>
            <a:ext cx="1536192" cy="694944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12700">
            <a:solidFill>
              <a:srgbClr val="D8DFE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341864" y="1069848"/>
            <a:ext cx="13716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90" b="1">
                <a:solidFill>
                  <a:srgbClr val="667789"/>
                </a:solidFill>
              </a:rPr>
              <a:t>Подрядный ресурс</a:t>
            </a:r>
            <a:endParaRPr lang="en-US" sz="790"/>
          </a:p>
        </p:txBody>
      </p:sp>
      <p:sp>
        <p:nvSpPr>
          <p:cNvPr id="32" name="Shape 30"/>
          <p:cNvSpPr/>
          <p:nvPr/>
        </p:nvSpPr>
        <p:spPr>
          <a:xfrm>
            <a:off x="10341864" y="1188720"/>
            <a:ext cx="411480" cy="0"/>
          </a:xfrm>
          <a:prstGeom prst="line">
            <a:avLst/>
          </a:prstGeom>
          <a:noFill/>
          <a:ln w="12700">
            <a:solidFill>
              <a:srgbClr val="C8851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0341864" y="1271016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sz="1200" b="1">
                <a:solidFill>
                  <a:srgbClr val="223042"/>
                </a:solidFill>
              </a:rPr>
              <a:t>429,5 млн ₽</a:t>
            </a:r>
            <a:endParaRPr lang="en-US" sz="1060"/>
          </a:p>
        </p:txBody>
      </p:sp>
      <p:sp>
        <p:nvSpPr>
          <p:cNvPr id="34" name="Shape 32"/>
          <p:cNvSpPr/>
          <p:nvPr/>
        </p:nvSpPr>
        <p:spPr>
          <a:xfrm>
            <a:off x="384048" y="1874520"/>
            <a:ext cx="5650992" cy="4480560"/>
          </a:xfrm>
          <a:prstGeom prst="roundRect">
            <a:avLst>
              <a:gd name="adj" fmla="val 1224"/>
            </a:avLst>
          </a:prstGeom>
          <a:solidFill>
            <a:srgbClr val="FFFFFF"/>
          </a:solidFill>
          <a:ln w="12700">
            <a:solidFill>
              <a:srgbClr val="D8DFE8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5" name="Shape 33"/>
          <p:cNvSpPr/>
          <p:nvPr/>
        </p:nvSpPr>
        <p:spPr>
          <a:xfrm>
            <a:off x="6181344" y="1874520"/>
            <a:ext cx="5614416" cy="4480560"/>
          </a:xfrm>
          <a:prstGeom prst="roundRect">
            <a:avLst>
              <a:gd name="adj" fmla="val 1224"/>
            </a:avLst>
          </a:prstGeom>
          <a:solidFill>
            <a:srgbClr val="FFFFFF"/>
          </a:solidFill>
          <a:ln w="12700">
            <a:solidFill>
              <a:srgbClr val="D8DFE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30352" y="2029968"/>
            <a:ext cx="2560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223042"/>
                </a:solidFill>
              </a:rPr>
              <a:t>Собственный ресурс</a:t>
            </a:r>
            <a:endParaRPr lang="en-US" sz="1150"/>
          </a:p>
        </p:txBody>
      </p:sp>
      <p:sp>
        <p:nvSpPr>
          <p:cNvPr id="37" name="Text 35"/>
          <p:cNvSpPr/>
          <p:nvPr/>
        </p:nvSpPr>
        <p:spPr>
          <a:xfrm>
            <a:off x="6327648" y="2029968"/>
            <a:ext cx="2560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223042"/>
                </a:solidFill>
              </a:rPr>
              <a:t>Подрядный ресурс</a:t>
            </a:r>
            <a:endParaRPr lang="en-US" sz="1150"/>
          </a:p>
        </p:txBody>
      </p:sp>
      <p:sp>
        <p:nvSpPr>
          <p:cNvPr id="38" name="Shape 36"/>
          <p:cNvSpPr/>
          <p:nvPr/>
        </p:nvSpPr>
        <p:spPr>
          <a:xfrm>
            <a:off x="530352" y="2340864"/>
            <a:ext cx="5047488" cy="301752"/>
          </a:xfrm>
          <a:prstGeom prst="rect">
            <a:avLst/>
          </a:prstGeom>
          <a:solidFill>
            <a:srgbClr val="EAF6EE"/>
          </a:solidFill>
          <a:ln w="12700">
            <a:solidFill>
              <a:srgbClr val="D8DFE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76072" y="2418588"/>
            <a:ext cx="29718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805" b="1">
                <a:solidFill>
                  <a:srgbClr val="223042"/>
                </a:solidFill>
              </a:rPr>
              <a:t>Статья</a:t>
            </a:r>
            <a:endParaRPr lang="en-US" sz="805"/>
          </a:p>
        </p:txBody>
      </p:sp>
      <p:sp>
        <p:nvSpPr>
          <p:cNvPr id="40" name="Text 38"/>
          <p:cNvSpPr/>
          <p:nvPr/>
        </p:nvSpPr>
        <p:spPr>
          <a:xfrm>
            <a:off x="4215384" y="2441448"/>
            <a:ext cx="189280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805" b="1">
                <a:solidFill>
                  <a:srgbClr val="223042"/>
                </a:solidFill>
              </a:rPr>
              <a:t>Сумма с НДС, ₽</a:t>
            </a:r>
            <a:endParaRPr lang="en-US" sz="805"/>
          </a:p>
        </p:txBody>
      </p:sp>
      <p:sp>
        <p:nvSpPr>
          <p:cNvPr id="41" name="Shape 39"/>
          <p:cNvSpPr/>
          <p:nvPr/>
        </p:nvSpPr>
        <p:spPr>
          <a:xfrm>
            <a:off x="530352" y="2642616"/>
            <a:ext cx="5047488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D8DFE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76072" y="2720340"/>
            <a:ext cx="29718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805">
                <a:solidFill>
                  <a:srgbClr val="223042"/>
                </a:solidFill>
              </a:rPr>
              <a:t>Базовая стоимость работ</a:t>
            </a:r>
            <a:endParaRPr lang="en-US" sz="805"/>
          </a:p>
        </p:txBody>
      </p:sp>
      <p:sp>
        <p:nvSpPr>
          <p:cNvPr id="43" name="Text 41"/>
          <p:cNvSpPr/>
          <p:nvPr/>
        </p:nvSpPr>
        <p:spPr>
          <a:xfrm>
            <a:off x="3639312" y="2720340"/>
            <a:ext cx="189280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r">
              <a:buNone/>
            </a:pPr>
            <a:r>
              <a:rPr lang="en-US" sz="805">
                <a:solidFill>
                  <a:srgbClr val="223042"/>
                </a:solidFill>
              </a:rPr>
              <a:t>88 908 966 ₽</a:t>
            </a:r>
            <a:endParaRPr lang="en-US" sz="805"/>
          </a:p>
        </p:txBody>
      </p:sp>
      <p:sp>
        <p:nvSpPr>
          <p:cNvPr id="44" name="Shape 42"/>
          <p:cNvSpPr/>
          <p:nvPr/>
        </p:nvSpPr>
        <p:spPr>
          <a:xfrm>
            <a:off x="530352" y="2944368"/>
            <a:ext cx="5047488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D8DFE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76072" y="3022092"/>
            <a:ext cx="29718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805">
                <a:solidFill>
                  <a:srgbClr val="223042"/>
                </a:solidFill>
              </a:rPr>
              <a:t>Обязательные отчисления</a:t>
            </a:r>
            <a:endParaRPr lang="en-US" sz="805"/>
          </a:p>
        </p:txBody>
      </p:sp>
      <p:sp>
        <p:nvSpPr>
          <p:cNvPr id="46" name="Text 44"/>
          <p:cNvSpPr/>
          <p:nvPr/>
        </p:nvSpPr>
        <p:spPr>
          <a:xfrm>
            <a:off x="3639312" y="3022092"/>
            <a:ext cx="189280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r">
              <a:buNone/>
            </a:pPr>
            <a:r>
              <a:rPr lang="en-US" sz="805">
                <a:solidFill>
                  <a:srgbClr val="223042"/>
                </a:solidFill>
              </a:rPr>
              <a:t>26 850 508 ₽</a:t>
            </a:r>
            <a:endParaRPr lang="en-US" sz="805"/>
          </a:p>
        </p:txBody>
      </p:sp>
      <p:sp>
        <p:nvSpPr>
          <p:cNvPr id="47" name="Shape 45"/>
          <p:cNvSpPr/>
          <p:nvPr/>
        </p:nvSpPr>
        <p:spPr>
          <a:xfrm>
            <a:off x="530352" y="3246120"/>
            <a:ext cx="5047488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D8DFE8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76072" y="3323844"/>
            <a:ext cx="29718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805">
                <a:solidFill>
                  <a:srgbClr val="223042"/>
                </a:solidFill>
              </a:rPr>
              <a:t>Утилизация </a:t>
            </a:r>
            <a:r>
              <a:rPr lang="ru-RU" sz="805">
                <a:solidFill>
                  <a:srgbClr val="223042"/>
                </a:solidFill>
              </a:rPr>
              <a:t>(</a:t>
            </a:r>
            <a:r>
              <a:rPr lang="en-US" sz="805">
                <a:solidFill>
                  <a:srgbClr val="223042"/>
                </a:solidFill>
              </a:rPr>
              <a:t>отпуска</a:t>
            </a:r>
            <a:r>
              <a:rPr lang="ru-RU" sz="805">
                <a:solidFill>
                  <a:srgbClr val="223042"/>
                </a:solidFill>
              </a:rPr>
              <a:t>, </a:t>
            </a:r>
            <a:r>
              <a:rPr lang="en-US" sz="805">
                <a:solidFill>
                  <a:srgbClr val="223042"/>
                </a:solidFill>
              </a:rPr>
              <a:t>больничные</a:t>
            </a:r>
            <a:r>
              <a:rPr lang="ru-RU" sz="805">
                <a:solidFill>
                  <a:srgbClr val="223042"/>
                </a:solidFill>
              </a:rPr>
              <a:t>)</a:t>
            </a:r>
            <a:endParaRPr lang="en-US" sz="805"/>
          </a:p>
        </p:txBody>
      </p:sp>
      <p:sp>
        <p:nvSpPr>
          <p:cNvPr id="49" name="Text 47"/>
          <p:cNvSpPr/>
          <p:nvPr/>
        </p:nvSpPr>
        <p:spPr>
          <a:xfrm>
            <a:off x="3639312" y="3323844"/>
            <a:ext cx="189280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r">
              <a:buNone/>
            </a:pPr>
            <a:r>
              <a:rPr lang="en-US" sz="805">
                <a:solidFill>
                  <a:srgbClr val="223042"/>
                </a:solidFill>
              </a:rPr>
              <a:t>20 428 142 ₽</a:t>
            </a:r>
            <a:endParaRPr lang="en-US" sz="805"/>
          </a:p>
        </p:txBody>
      </p:sp>
      <p:sp>
        <p:nvSpPr>
          <p:cNvPr id="50" name="Shape 48"/>
          <p:cNvSpPr/>
          <p:nvPr/>
        </p:nvSpPr>
        <p:spPr>
          <a:xfrm>
            <a:off x="530352" y="3547872"/>
            <a:ext cx="5047488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D8DFE8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76072" y="3625596"/>
            <a:ext cx="29718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805">
                <a:solidFill>
                  <a:srgbClr val="223042"/>
                </a:solidFill>
              </a:rPr>
              <a:t>Инструмент / расходники / СИЗ</a:t>
            </a:r>
            <a:endParaRPr lang="en-US" sz="805"/>
          </a:p>
        </p:txBody>
      </p:sp>
      <p:sp>
        <p:nvSpPr>
          <p:cNvPr id="52" name="Text 50"/>
          <p:cNvSpPr/>
          <p:nvPr/>
        </p:nvSpPr>
        <p:spPr>
          <a:xfrm>
            <a:off x="3639312" y="3625596"/>
            <a:ext cx="189280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r">
              <a:buNone/>
            </a:pPr>
            <a:r>
              <a:rPr lang="en-US" sz="805">
                <a:solidFill>
                  <a:srgbClr val="223042"/>
                </a:solidFill>
              </a:rPr>
              <a:t>13 618 762 ₽</a:t>
            </a:r>
            <a:endParaRPr lang="en-US" sz="805"/>
          </a:p>
        </p:txBody>
      </p:sp>
      <p:sp>
        <p:nvSpPr>
          <p:cNvPr id="53" name="Shape 51"/>
          <p:cNvSpPr/>
          <p:nvPr/>
        </p:nvSpPr>
        <p:spPr>
          <a:xfrm>
            <a:off x="530352" y="3849624"/>
            <a:ext cx="5047488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D8DFE8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76072" y="3927348"/>
            <a:ext cx="29718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805">
                <a:solidFill>
                  <a:srgbClr val="223042"/>
                </a:solidFill>
              </a:rPr>
              <a:t>АХР и ОПР</a:t>
            </a:r>
            <a:endParaRPr lang="en-US" sz="805"/>
          </a:p>
        </p:txBody>
      </p:sp>
      <p:sp>
        <p:nvSpPr>
          <p:cNvPr id="55" name="Text 53"/>
          <p:cNvSpPr/>
          <p:nvPr/>
        </p:nvSpPr>
        <p:spPr>
          <a:xfrm>
            <a:off x="3639312" y="3927348"/>
            <a:ext cx="189280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r">
              <a:buNone/>
            </a:pPr>
            <a:r>
              <a:rPr lang="en-US" sz="805">
                <a:solidFill>
                  <a:srgbClr val="223042"/>
                </a:solidFill>
              </a:rPr>
              <a:t>68 910 934 ₽</a:t>
            </a:r>
            <a:endParaRPr lang="en-US" sz="805"/>
          </a:p>
        </p:txBody>
      </p:sp>
      <p:sp>
        <p:nvSpPr>
          <p:cNvPr id="56" name="Shape 54"/>
          <p:cNvSpPr/>
          <p:nvPr/>
        </p:nvSpPr>
        <p:spPr>
          <a:xfrm>
            <a:off x="530352" y="4151376"/>
            <a:ext cx="5047488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D8DFE8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76072" y="4229100"/>
            <a:ext cx="29718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805">
                <a:solidFill>
                  <a:srgbClr val="223042"/>
                </a:solidFill>
              </a:rPr>
              <a:t>Рентабельность</a:t>
            </a:r>
            <a:endParaRPr lang="en-US" sz="805"/>
          </a:p>
        </p:txBody>
      </p:sp>
      <p:sp>
        <p:nvSpPr>
          <p:cNvPr id="58" name="Text 56"/>
          <p:cNvSpPr/>
          <p:nvPr/>
        </p:nvSpPr>
        <p:spPr>
          <a:xfrm>
            <a:off x="3639312" y="4229100"/>
            <a:ext cx="189280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r">
              <a:buNone/>
            </a:pPr>
            <a:r>
              <a:rPr lang="en-US" sz="805">
                <a:solidFill>
                  <a:srgbClr val="223042"/>
                </a:solidFill>
              </a:rPr>
              <a:t>26 246 077 ₽</a:t>
            </a:r>
            <a:endParaRPr lang="en-US" sz="805"/>
          </a:p>
        </p:txBody>
      </p:sp>
      <p:sp>
        <p:nvSpPr>
          <p:cNvPr id="59" name="Shape 57"/>
          <p:cNvSpPr/>
          <p:nvPr/>
        </p:nvSpPr>
        <p:spPr>
          <a:xfrm>
            <a:off x="530352" y="4453128"/>
            <a:ext cx="5047488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D8DFE8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576072" y="4530852"/>
            <a:ext cx="29718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805">
                <a:solidFill>
                  <a:srgbClr val="223042"/>
                </a:solidFill>
              </a:rPr>
              <a:t>Оборудование + материалы + проектирование</a:t>
            </a:r>
            <a:endParaRPr lang="en-US" sz="805"/>
          </a:p>
        </p:txBody>
      </p:sp>
      <p:sp>
        <p:nvSpPr>
          <p:cNvPr id="61" name="Text 59"/>
          <p:cNvSpPr/>
          <p:nvPr/>
        </p:nvSpPr>
        <p:spPr>
          <a:xfrm>
            <a:off x="3639312" y="4530852"/>
            <a:ext cx="189280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r">
              <a:buNone/>
            </a:pPr>
            <a:r>
              <a:rPr lang="en-US" sz="805">
                <a:solidFill>
                  <a:srgbClr val="223042"/>
                </a:solidFill>
              </a:rPr>
              <a:t>216 854 537 ₽</a:t>
            </a:r>
            <a:endParaRPr lang="en-US" sz="805"/>
          </a:p>
        </p:txBody>
      </p:sp>
      <p:sp>
        <p:nvSpPr>
          <p:cNvPr id="62" name="Shape 60"/>
          <p:cNvSpPr/>
          <p:nvPr/>
        </p:nvSpPr>
        <p:spPr>
          <a:xfrm>
            <a:off x="530352" y="4754880"/>
            <a:ext cx="5047488" cy="301752"/>
          </a:xfrm>
          <a:prstGeom prst="rect">
            <a:avLst/>
          </a:prstGeom>
          <a:solidFill>
            <a:srgbClr val="F6F8FB"/>
          </a:solidFill>
          <a:ln w="12700">
            <a:solidFill>
              <a:srgbClr val="D8DFE8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576072" y="4832604"/>
            <a:ext cx="29718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805" b="1">
                <a:solidFill>
                  <a:srgbClr val="223042"/>
                </a:solidFill>
              </a:rPr>
              <a:t>Итог бюджета проекта</a:t>
            </a:r>
            <a:endParaRPr lang="en-US" sz="805"/>
          </a:p>
        </p:txBody>
      </p:sp>
      <p:sp>
        <p:nvSpPr>
          <p:cNvPr id="64" name="Text 62"/>
          <p:cNvSpPr/>
          <p:nvPr/>
        </p:nvSpPr>
        <p:spPr>
          <a:xfrm>
            <a:off x="3639312" y="4832604"/>
            <a:ext cx="189280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r">
              <a:buNone/>
            </a:pPr>
            <a:r>
              <a:rPr lang="en-US" sz="805" b="1">
                <a:solidFill>
                  <a:srgbClr val="223042"/>
                </a:solidFill>
              </a:rPr>
              <a:t>461 817 926 ₽</a:t>
            </a:r>
            <a:endParaRPr lang="en-US" sz="805"/>
          </a:p>
        </p:txBody>
      </p:sp>
      <p:sp>
        <p:nvSpPr>
          <p:cNvPr id="65" name="Text 63"/>
          <p:cNvSpPr/>
          <p:nvPr/>
        </p:nvSpPr>
        <p:spPr>
          <a:xfrm>
            <a:off x="530352" y="5175504"/>
            <a:ext cx="51206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>
                <a:solidFill>
                  <a:srgbClr val="667789"/>
                </a:solidFill>
              </a:rPr>
              <a:t>Доля систем в бюджете</a:t>
            </a:r>
            <a:endParaRPr lang="en-US" sz="800"/>
          </a:p>
        </p:txBody>
      </p:sp>
      <p:sp>
        <p:nvSpPr>
          <p:cNvPr id="66" name="Text 64"/>
          <p:cNvSpPr/>
          <p:nvPr/>
        </p:nvSpPr>
        <p:spPr>
          <a:xfrm>
            <a:off x="530352" y="5376672"/>
            <a:ext cx="6858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740" b="1">
                <a:solidFill>
                  <a:srgbClr val="223042"/>
                </a:solidFill>
              </a:rPr>
              <a:t>СОТС</a:t>
            </a:r>
            <a:endParaRPr lang="en-US" sz="740"/>
          </a:p>
        </p:txBody>
      </p:sp>
      <p:sp>
        <p:nvSpPr>
          <p:cNvPr id="67" name="Shape 65"/>
          <p:cNvSpPr/>
          <p:nvPr/>
        </p:nvSpPr>
        <p:spPr>
          <a:xfrm>
            <a:off x="1280160" y="5385816"/>
            <a:ext cx="3547872" cy="109728"/>
          </a:xfrm>
          <a:prstGeom prst="roundRect">
            <a:avLst>
              <a:gd name="adj" fmla="val 16667"/>
            </a:avLst>
          </a:prstGeom>
          <a:solidFill>
            <a:srgbClr val="E7EEF6"/>
          </a:solidFill>
          <a:ln w="12700">
            <a:solidFill>
              <a:srgbClr val="E7EEF6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1280160" y="5385816"/>
            <a:ext cx="703236" cy="109728"/>
          </a:xfrm>
          <a:prstGeom prst="roundRect">
            <a:avLst>
              <a:gd name="adj" fmla="val 16667"/>
            </a:avLst>
          </a:prstGeom>
          <a:solidFill>
            <a:srgbClr val="21985D"/>
          </a:solidFill>
          <a:ln w="12700">
            <a:solidFill>
              <a:srgbClr val="21985D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4872073" y="5376672"/>
            <a:ext cx="7680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 algn="r">
              <a:buNone/>
            </a:pPr>
            <a:r>
              <a:rPr lang="en-US" sz="720">
                <a:solidFill>
                  <a:srgbClr val="223042"/>
                </a:solidFill>
              </a:rPr>
              <a:t>19,8% • 91,5 млн ₽</a:t>
            </a:r>
            <a:endParaRPr lang="en-US" sz="720"/>
          </a:p>
        </p:txBody>
      </p:sp>
      <p:sp>
        <p:nvSpPr>
          <p:cNvPr id="70" name="Text 68"/>
          <p:cNvSpPr/>
          <p:nvPr/>
        </p:nvSpPr>
        <p:spPr>
          <a:xfrm>
            <a:off x="530352" y="5541264"/>
            <a:ext cx="6858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740" b="1">
                <a:solidFill>
                  <a:srgbClr val="223042"/>
                </a:solidFill>
              </a:rPr>
              <a:t>СКУД</a:t>
            </a:r>
            <a:endParaRPr lang="en-US" sz="740"/>
          </a:p>
        </p:txBody>
      </p:sp>
      <p:sp>
        <p:nvSpPr>
          <p:cNvPr id="71" name="Shape 69"/>
          <p:cNvSpPr/>
          <p:nvPr/>
        </p:nvSpPr>
        <p:spPr>
          <a:xfrm>
            <a:off x="1280160" y="5550408"/>
            <a:ext cx="3547872" cy="109728"/>
          </a:xfrm>
          <a:prstGeom prst="roundRect">
            <a:avLst>
              <a:gd name="adj" fmla="val 16667"/>
            </a:avLst>
          </a:prstGeom>
          <a:solidFill>
            <a:srgbClr val="E7EEF6"/>
          </a:solidFill>
          <a:ln w="12700">
            <a:solidFill>
              <a:srgbClr val="E7EEF6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1280160" y="5550408"/>
            <a:ext cx="1112580" cy="109728"/>
          </a:xfrm>
          <a:prstGeom prst="roundRect">
            <a:avLst>
              <a:gd name="adj" fmla="val 16667"/>
            </a:avLst>
          </a:prstGeom>
          <a:solidFill>
            <a:srgbClr val="C88518"/>
          </a:solidFill>
          <a:ln w="12700">
            <a:solidFill>
              <a:srgbClr val="C88518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4882896" y="5522976"/>
            <a:ext cx="7680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 algn="r">
              <a:buNone/>
            </a:pPr>
            <a:r>
              <a:rPr lang="en-US" sz="720">
                <a:solidFill>
                  <a:srgbClr val="223042"/>
                </a:solidFill>
              </a:rPr>
              <a:t>31,4% • 144,8 млн ₽</a:t>
            </a:r>
            <a:endParaRPr lang="en-US" sz="720"/>
          </a:p>
        </p:txBody>
      </p:sp>
      <p:sp>
        <p:nvSpPr>
          <p:cNvPr id="74" name="Text 72"/>
          <p:cNvSpPr/>
          <p:nvPr/>
        </p:nvSpPr>
        <p:spPr>
          <a:xfrm>
            <a:off x="530352" y="5705856"/>
            <a:ext cx="6858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740" b="1">
                <a:solidFill>
                  <a:srgbClr val="223042"/>
                </a:solidFill>
              </a:rPr>
              <a:t>ТСВ</a:t>
            </a:r>
            <a:endParaRPr lang="en-US" sz="740"/>
          </a:p>
        </p:txBody>
      </p:sp>
      <p:sp>
        <p:nvSpPr>
          <p:cNvPr id="75" name="Shape 73"/>
          <p:cNvSpPr/>
          <p:nvPr/>
        </p:nvSpPr>
        <p:spPr>
          <a:xfrm>
            <a:off x="1280160" y="5715000"/>
            <a:ext cx="3547872" cy="109728"/>
          </a:xfrm>
          <a:prstGeom prst="roundRect">
            <a:avLst>
              <a:gd name="adj" fmla="val 16667"/>
            </a:avLst>
          </a:prstGeom>
          <a:solidFill>
            <a:srgbClr val="E7EEF6"/>
          </a:solidFill>
          <a:ln w="12700">
            <a:solidFill>
              <a:srgbClr val="E7EEF6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1280160" y="5715000"/>
            <a:ext cx="1162127" cy="109728"/>
          </a:xfrm>
          <a:prstGeom prst="roundRect">
            <a:avLst>
              <a:gd name="adj" fmla="val 16667"/>
            </a:avLst>
          </a:prstGeom>
          <a:solidFill>
            <a:srgbClr val="2C7FE3"/>
          </a:solidFill>
          <a:ln w="12700">
            <a:solidFill>
              <a:srgbClr val="2C7FE3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4882896" y="5687568"/>
            <a:ext cx="7680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 algn="r">
              <a:buNone/>
            </a:pPr>
            <a:r>
              <a:rPr lang="en-US" sz="720">
                <a:solidFill>
                  <a:srgbClr val="223042"/>
                </a:solidFill>
              </a:rPr>
              <a:t>32,8% • 151,3 млн ₽</a:t>
            </a:r>
            <a:endParaRPr lang="en-US" sz="720"/>
          </a:p>
        </p:txBody>
      </p:sp>
      <p:sp>
        <p:nvSpPr>
          <p:cNvPr id="78" name="Text 76"/>
          <p:cNvSpPr/>
          <p:nvPr/>
        </p:nvSpPr>
        <p:spPr>
          <a:xfrm>
            <a:off x="530352" y="5870448"/>
            <a:ext cx="6858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740" b="1">
                <a:solidFill>
                  <a:srgbClr val="223042"/>
                </a:solidFill>
              </a:rPr>
              <a:t>КНС</a:t>
            </a:r>
            <a:endParaRPr lang="en-US" sz="740"/>
          </a:p>
        </p:txBody>
      </p:sp>
      <p:sp>
        <p:nvSpPr>
          <p:cNvPr id="79" name="Shape 77"/>
          <p:cNvSpPr/>
          <p:nvPr/>
        </p:nvSpPr>
        <p:spPr>
          <a:xfrm>
            <a:off x="1280160" y="5879592"/>
            <a:ext cx="3547872" cy="109728"/>
          </a:xfrm>
          <a:prstGeom prst="roundRect">
            <a:avLst>
              <a:gd name="adj" fmla="val 16667"/>
            </a:avLst>
          </a:prstGeom>
          <a:solidFill>
            <a:srgbClr val="E7EEF6"/>
          </a:solidFill>
          <a:ln w="12700">
            <a:solidFill>
              <a:srgbClr val="E7EEF6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1280160" y="5879592"/>
            <a:ext cx="296137" cy="109728"/>
          </a:xfrm>
          <a:prstGeom prst="roundRect">
            <a:avLst>
              <a:gd name="adj" fmla="val 16667"/>
            </a:avLst>
          </a:prstGeom>
          <a:solidFill>
            <a:srgbClr val="6B47D5"/>
          </a:solidFill>
          <a:ln w="12700">
            <a:solidFill>
              <a:srgbClr val="6B47D5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4882896" y="5852160"/>
            <a:ext cx="7680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720">
                <a:solidFill>
                  <a:srgbClr val="223042"/>
                </a:solidFill>
              </a:rPr>
              <a:t>8,3% • 38,5 млн ₽</a:t>
            </a:r>
            <a:endParaRPr lang="en-US" sz="720"/>
          </a:p>
        </p:txBody>
      </p:sp>
      <p:sp>
        <p:nvSpPr>
          <p:cNvPr id="82" name="Text 80"/>
          <p:cNvSpPr/>
          <p:nvPr/>
        </p:nvSpPr>
        <p:spPr>
          <a:xfrm>
            <a:off x="530352" y="6035040"/>
            <a:ext cx="6858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740" b="1">
                <a:solidFill>
                  <a:srgbClr val="223042"/>
                </a:solidFill>
              </a:rPr>
              <a:t>ССОИ</a:t>
            </a:r>
            <a:endParaRPr lang="en-US" sz="740"/>
          </a:p>
        </p:txBody>
      </p:sp>
      <p:sp>
        <p:nvSpPr>
          <p:cNvPr id="83" name="Shape 81"/>
          <p:cNvSpPr/>
          <p:nvPr/>
        </p:nvSpPr>
        <p:spPr>
          <a:xfrm>
            <a:off x="1280160" y="6044184"/>
            <a:ext cx="3547872" cy="109728"/>
          </a:xfrm>
          <a:prstGeom prst="roundRect">
            <a:avLst>
              <a:gd name="adj" fmla="val 16667"/>
            </a:avLst>
          </a:prstGeom>
          <a:solidFill>
            <a:srgbClr val="E7EEF6"/>
          </a:solidFill>
          <a:ln w="12700">
            <a:solidFill>
              <a:srgbClr val="E7EEF6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1280160" y="6044184"/>
            <a:ext cx="273793" cy="109728"/>
          </a:xfrm>
          <a:prstGeom prst="roundRect">
            <a:avLst>
              <a:gd name="adj" fmla="val 16667"/>
            </a:avLst>
          </a:prstGeom>
          <a:solidFill>
            <a:srgbClr val="119DA2"/>
          </a:solidFill>
          <a:ln w="12700">
            <a:solidFill>
              <a:srgbClr val="119DA2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4882896" y="6016752"/>
            <a:ext cx="7680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720">
                <a:solidFill>
                  <a:srgbClr val="223042"/>
                </a:solidFill>
              </a:rPr>
              <a:t>7,7% • 35,6 млн ₽</a:t>
            </a:r>
            <a:endParaRPr lang="en-US" sz="720"/>
          </a:p>
        </p:txBody>
      </p:sp>
      <p:sp>
        <p:nvSpPr>
          <p:cNvPr id="86" name="Shape 84"/>
          <p:cNvSpPr/>
          <p:nvPr/>
        </p:nvSpPr>
        <p:spPr>
          <a:xfrm>
            <a:off x="6327648" y="2340864"/>
            <a:ext cx="4937760" cy="301752"/>
          </a:xfrm>
          <a:prstGeom prst="rect">
            <a:avLst/>
          </a:prstGeom>
          <a:solidFill>
            <a:srgbClr val="FDF1E6"/>
          </a:solidFill>
          <a:ln w="12700">
            <a:solidFill>
              <a:srgbClr val="D8DFE8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6373368" y="2418588"/>
            <a:ext cx="29260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805" b="1">
                <a:solidFill>
                  <a:srgbClr val="223042"/>
                </a:solidFill>
              </a:rPr>
              <a:t>Статья</a:t>
            </a:r>
            <a:endParaRPr lang="en-US" sz="805"/>
          </a:p>
        </p:txBody>
      </p:sp>
      <p:sp>
        <p:nvSpPr>
          <p:cNvPr id="88" name="Text 86"/>
          <p:cNvSpPr/>
          <p:nvPr/>
        </p:nvSpPr>
        <p:spPr>
          <a:xfrm>
            <a:off x="9899904" y="2448306"/>
            <a:ext cx="18288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805" b="1">
                <a:solidFill>
                  <a:srgbClr val="223042"/>
                </a:solidFill>
              </a:rPr>
              <a:t>Сумма с НДС, ₽</a:t>
            </a:r>
            <a:endParaRPr lang="en-US" sz="805"/>
          </a:p>
        </p:txBody>
      </p:sp>
      <p:sp>
        <p:nvSpPr>
          <p:cNvPr id="89" name="Shape 87"/>
          <p:cNvSpPr/>
          <p:nvPr/>
        </p:nvSpPr>
        <p:spPr>
          <a:xfrm>
            <a:off x="6327648" y="2642616"/>
            <a:ext cx="4937760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D8DFE8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6373368" y="2720340"/>
            <a:ext cx="29260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805">
                <a:solidFill>
                  <a:srgbClr val="223042"/>
                </a:solidFill>
              </a:rPr>
              <a:t>Базовая стоимость работ</a:t>
            </a:r>
            <a:endParaRPr lang="en-US" sz="805"/>
          </a:p>
        </p:txBody>
      </p:sp>
      <p:sp>
        <p:nvSpPr>
          <p:cNvPr id="91" name="Text 89"/>
          <p:cNvSpPr/>
          <p:nvPr/>
        </p:nvSpPr>
        <p:spPr>
          <a:xfrm>
            <a:off x="9390888" y="2720340"/>
            <a:ext cx="18288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r">
              <a:buNone/>
            </a:pPr>
            <a:r>
              <a:rPr lang="en-US" sz="805">
                <a:solidFill>
                  <a:srgbClr val="223042"/>
                </a:solidFill>
              </a:rPr>
              <a:t>88 908 966 ₽</a:t>
            </a:r>
            <a:endParaRPr lang="en-US" sz="805"/>
          </a:p>
        </p:txBody>
      </p:sp>
      <p:sp>
        <p:nvSpPr>
          <p:cNvPr id="92" name="Shape 90"/>
          <p:cNvSpPr/>
          <p:nvPr/>
        </p:nvSpPr>
        <p:spPr>
          <a:xfrm>
            <a:off x="6327648" y="2944368"/>
            <a:ext cx="4937760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D8DFE8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6373368" y="3022092"/>
            <a:ext cx="29260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805">
                <a:solidFill>
                  <a:srgbClr val="223042"/>
                </a:solidFill>
              </a:rPr>
              <a:t>АХР и ОПР</a:t>
            </a:r>
            <a:endParaRPr lang="en-US" sz="805"/>
          </a:p>
        </p:txBody>
      </p:sp>
      <p:sp>
        <p:nvSpPr>
          <p:cNvPr id="94" name="Text 92"/>
          <p:cNvSpPr/>
          <p:nvPr/>
        </p:nvSpPr>
        <p:spPr>
          <a:xfrm>
            <a:off x="9390888" y="3022092"/>
            <a:ext cx="18288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r">
              <a:buNone/>
            </a:pPr>
            <a:r>
              <a:rPr lang="en-US" sz="805">
                <a:solidFill>
                  <a:srgbClr val="223042"/>
                </a:solidFill>
              </a:rPr>
              <a:t>40 898 124 ₽</a:t>
            </a:r>
            <a:endParaRPr lang="en-US" sz="805"/>
          </a:p>
        </p:txBody>
      </p:sp>
      <p:sp>
        <p:nvSpPr>
          <p:cNvPr id="95" name="Shape 93"/>
          <p:cNvSpPr/>
          <p:nvPr/>
        </p:nvSpPr>
        <p:spPr>
          <a:xfrm>
            <a:off x="6327648" y="3246120"/>
            <a:ext cx="4937760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D8DFE8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6373368" y="3323844"/>
            <a:ext cx="29260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805">
                <a:solidFill>
                  <a:srgbClr val="223042"/>
                </a:solidFill>
              </a:rPr>
              <a:t>Рентабельность</a:t>
            </a:r>
            <a:endParaRPr lang="en-US" sz="805"/>
          </a:p>
        </p:txBody>
      </p:sp>
      <p:sp>
        <p:nvSpPr>
          <p:cNvPr id="97" name="Text 95"/>
          <p:cNvSpPr/>
          <p:nvPr/>
        </p:nvSpPr>
        <p:spPr>
          <a:xfrm>
            <a:off x="9390888" y="3323844"/>
            <a:ext cx="18288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r">
              <a:buNone/>
            </a:pPr>
            <a:r>
              <a:rPr lang="en-US" sz="805">
                <a:solidFill>
                  <a:srgbClr val="223042"/>
                </a:solidFill>
              </a:rPr>
              <a:t>15 576 851 ₽</a:t>
            </a:r>
            <a:endParaRPr lang="en-US" sz="805"/>
          </a:p>
        </p:txBody>
      </p:sp>
      <p:sp>
        <p:nvSpPr>
          <p:cNvPr id="98" name="Shape 96"/>
          <p:cNvSpPr/>
          <p:nvPr/>
        </p:nvSpPr>
        <p:spPr>
          <a:xfrm>
            <a:off x="6327648" y="3547872"/>
            <a:ext cx="4937760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D8DFE8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6373368" y="3625596"/>
            <a:ext cx="29260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805">
                <a:solidFill>
                  <a:srgbClr val="223042"/>
                </a:solidFill>
              </a:rPr>
              <a:t>Оборудование</a:t>
            </a:r>
            <a:endParaRPr lang="en-US" sz="805"/>
          </a:p>
        </p:txBody>
      </p:sp>
      <p:sp>
        <p:nvSpPr>
          <p:cNvPr id="100" name="Text 98"/>
          <p:cNvSpPr/>
          <p:nvPr/>
        </p:nvSpPr>
        <p:spPr>
          <a:xfrm>
            <a:off x="9390888" y="3625596"/>
            <a:ext cx="18288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r">
              <a:buNone/>
            </a:pPr>
            <a:r>
              <a:rPr lang="en-US" sz="805">
                <a:solidFill>
                  <a:srgbClr val="223042"/>
                </a:solidFill>
              </a:rPr>
              <a:t>138 477 930 ₽</a:t>
            </a:r>
            <a:endParaRPr lang="en-US" sz="805"/>
          </a:p>
        </p:txBody>
      </p:sp>
      <p:sp>
        <p:nvSpPr>
          <p:cNvPr id="101" name="Shape 99"/>
          <p:cNvSpPr/>
          <p:nvPr/>
        </p:nvSpPr>
        <p:spPr>
          <a:xfrm>
            <a:off x="6327648" y="3849624"/>
            <a:ext cx="4937760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D8DFE8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6373368" y="3927348"/>
            <a:ext cx="29260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805">
                <a:solidFill>
                  <a:srgbClr val="223042"/>
                </a:solidFill>
              </a:rPr>
              <a:t>Материалы</a:t>
            </a:r>
            <a:endParaRPr lang="en-US" sz="805"/>
          </a:p>
        </p:txBody>
      </p:sp>
      <p:sp>
        <p:nvSpPr>
          <p:cNvPr id="103" name="Text 101"/>
          <p:cNvSpPr/>
          <p:nvPr/>
        </p:nvSpPr>
        <p:spPr>
          <a:xfrm>
            <a:off x="9390888" y="3927348"/>
            <a:ext cx="18288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r">
              <a:buNone/>
            </a:pPr>
            <a:r>
              <a:rPr lang="en-US" sz="805">
                <a:solidFill>
                  <a:srgbClr val="223042"/>
                </a:solidFill>
              </a:rPr>
              <a:t>52 185 500 ₽</a:t>
            </a:r>
            <a:endParaRPr lang="en-US" sz="805"/>
          </a:p>
        </p:txBody>
      </p:sp>
      <p:sp>
        <p:nvSpPr>
          <p:cNvPr id="104" name="Shape 102"/>
          <p:cNvSpPr/>
          <p:nvPr/>
        </p:nvSpPr>
        <p:spPr>
          <a:xfrm>
            <a:off x="6327648" y="4151376"/>
            <a:ext cx="4937760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D8DFE8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6373368" y="4229100"/>
            <a:ext cx="29260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805">
                <a:solidFill>
                  <a:srgbClr val="223042"/>
                </a:solidFill>
              </a:rPr>
              <a:t>Проектирование</a:t>
            </a:r>
            <a:endParaRPr lang="en-US" sz="805"/>
          </a:p>
        </p:txBody>
      </p:sp>
      <p:sp>
        <p:nvSpPr>
          <p:cNvPr id="106" name="Text 104"/>
          <p:cNvSpPr/>
          <p:nvPr/>
        </p:nvSpPr>
        <p:spPr>
          <a:xfrm>
            <a:off x="9390888" y="4229100"/>
            <a:ext cx="18288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r">
              <a:buNone/>
            </a:pPr>
            <a:r>
              <a:rPr lang="en-US" sz="805">
                <a:solidFill>
                  <a:srgbClr val="223042"/>
                </a:solidFill>
              </a:rPr>
              <a:t>26 191 107 ₽</a:t>
            </a:r>
            <a:endParaRPr lang="en-US" sz="805"/>
          </a:p>
        </p:txBody>
      </p:sp>
      <p:sp>
        <p:nvSpPr>
          <p:cNvPr id="107" name="Shape 105"/>
          <p:cNvSpPr/>
          <p:nvPr/>
        </p:nvSpPr>
        <p:spPr>
          <a:xfrm>
            <a:off x="6327648" y="4453128"/>
            <a:ext cx="4937760" cy="301752"/>
          </a:xfrm>
          <a:prstGeom prst="rect">
            <a:avLst/>
          </a:prstGeom>
          <a:solidFill>
            <a:srgbClr val="F6F8FB"/>
          </a:solidFill>
          <a:ln w="12700">
            <a:solidFill>
              <a:srgbClr val="D8DFE8"/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6373368" y="4530852"/>
            <a:ext cx="29260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805" b="1">
                <a:solidFill>
                  <a:srgbClr val="223042"/>
                </a:solidFill>
              </a:rPr>
              <a:t>Итог бюджета проекта</a:t>
            </a:r>
            <a:endParaRPr lang="en-US" sz="805"/>
          </a:p>
        </p:txBody>
      </p:sp>
      <p:sp>
        <p:nvSpPr>
          <p:cNvPr id="109" name="Text 107"/>
          <p:cNvSpPr/>
          <p:nvPr/>
        </p:nvSpPr>
        <p:spPr>
          <a:xfrm>
            <a:off x="9390888" y="4530852"/>
            <a:ext cx="18288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r">
              <a:buNone/>
            </a:pPr>
            <a:r>
              <a:rPr lang="en-US" sz="805" b="1">
                <a:solidFill>
                  <a:srgbClr val="223042"/>
                </a:solidFill>
              </a:rPr>
              <a:t>362 238 478 ₽</a:t>
            </a:r>
            <a:endParaRPr lang="en-US" sz="805"/>
          </a:p>
        </p:txBody>
      </p:sp>
      <p:sp>
        <p:nvSpPr>
          <p:cNvPr id="110" name="Text 108"/>
          <p:cNvSpPr/>
          <p:nvPr/>
        </p:nvSpPr>
        <p:spPr>
          <a:xfrm>
            <a:off x="6327648" y="5170932"/>
            <a:ext cx="49834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>
                <a:solidFill>
                  <a:srgbClr val="667789"/>
                </a:solidFill>
              </a:rPr>
              <a:t>Доля систем в бюджете</a:t>
            </a:r>
            <a:endParaRPr lang="en-US" sz="800"/>
          </a:p>
        </p:txBody>
      </p:sp>
      <p:sp>
        <p:nvSpPr>
          <p:cNvPr id="111" name="Text 109"/>
          <p:cNvSpPr/>
          <p:nvPr/>
        </p:nvSpPr>
        <p:spPr>
          <a:xfrm>
            <a:off x="6327648" y="5372100"/>
            <a:ext cx="6858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740" b="1">
                <a:solidFill>
                  <a:srgbClr val="223042"/>
                </a:solidFill>
              </a:rPr>
              <a:t>СОТС</a:t>
            </a:r>
            <a:endParaRPr lang="en-US" sz="740"/>
          </a:p>
        </p:txBody>
      </p:sp>
      <p:sp>
        <p:nvSpPr>
          <p:cNvPr id="112" name="Shape 110"/>
          <p:cNvSpPr/>
          <p:nvPr/>
        </p:nvSpPr>
        <p:spPr>
          <a:xfrm>
            <a:off x="7077456" y="5381244"/>
            <a:ext cx="3410712" cy="109728"/>
          </a:xfrm>
          <a:prstGeom prst="roundRect">
            <a:avLst>
              <a:gd name="adj" fmla="val 16667"/>
            </a:avLst>
          </a:prstGeom>
          <a:solidFill>
            <a:srgbClr val="F7EEE5"/>
          </a:solidFill>
          <a:ln w="12700">
            <a:solidFill>
              <a:srgbClr val="F7EEE5"/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7077456" y="5381244"/>
            <a:ext cx="591001" cy="109728"/>
          </a:xfrm>
          <a:prstGeom prst="roundRect">
            <a:avLst>
              <a:gd name="adj" fmla="val 16667"/>
            </a:avLst>
          </a:prstGeom>
          <a:solidFill>
            <a:srgbClr val="21985D"/>
          </a:solidFill>
          <a:ln w="12700">
            <a:solidFill>
              <a:srgbClr val="21985D"/>
            </a:solidFill>
            <a:prstDash val="solid"/>
          </a:ln>
        </p:spPr>
      </p:sp>
      <p:sp>
        <p:nvSpPr>
          <p:cNvPr id="114" name="Text 112"/>
          <p:cNvSpPr/>
          <p:nvPr/>
        </p:nvSpPr>
        <p:spPr>
          <a:xfrm>
            <a:off x="10543032" y="5353812"/>
            <a:ext cx="7680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 algn="r">
              <a:buNone/>
            </a:pPr>
            <a:r>
              <a:rPr lang="en-US" sz="720">
                <a:solidFill>
                  <a:srgbClr val="223042"/>
                </a:solidFill>
              </a:rPr>
              <a:t>17,3% • 62,8 млн ₽</a:t>
            </a:r>
            <a:endParaRPr lang="en-US" sz="720"/>
          </a:p>
        </p:txBody>
      </p:sp>
      <p:sp>
        <p:nvSpPr>
          <p:cNvPr id="115" name="Text 113"/>
          <p:cNvSpPr/>
          <p:nvPr/>
        </p:nvSpPr>
        <p:spPr>
          <a:xfrm>
            <a:off x="6327648" y="5536692"/>
            <a:ext cx="6858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740" b="1">
                <a:solidFill>
                  <a:srgbClr val="223042"/>
                </a:solidFill>
              </a:rPr>
              <a:t>СКУД</a:t>
            </a:r>
            <a:endParaRPr lang="en-US" sz="740"/>
          </a:p>
        </p:txBody>
      </p:sp>
      <p:sp>
        <p:nvSpPr>
          <p:cNvPr id="116" name="Shape 114"/>
          <p:cNvSpPr/>
          <p:nvPr/>
        </p:nvSpPr>
        <p:spPr>
          <a:xfrm>
            <a:off x="7077456" y="5545836"/>
            <a:ext cx="3410712" cy="109728"/>
          </a:xfrm>
          <a:prstGeom prst="roundRect">
            <a:avLst>
              <a:gd name="adj" fmla="val 16667"/>
            </a:avLst>
          </a:prstGeom>
          <a:solidFill>
            <a:srgbClr val="F7EEE5"/>
          </a:solidFill>
          <a:ln w="12700">
            <a:solidFill>
              <a:srgbClr val="F7EEE5"/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7077456" y="5545836"/>
            <a:ext cx="1065696" cy="109728"/>
          </a:xfrm>
          <a:prstGeom prst="roundRect">
            <a:avLst>
              <a:gd name="adj" fmla="val 16667"/>
            </a:avLst>
          </a:prstGeom>
          <a:solidFill>
            <a:srgbClr val="C88518"/>
          </a:solidFill>
          <a:ln w="12700">
            <a:solidFill>
              <a:srgbClr val="C88518"/>
            </a:solidFill>
            <a:prstDash val="solid"/>
          </a:ln>
        </p:spPr>
      </p:sp>
      <p:sp>
        <p:nvSpPr>
          <p:cNvPr id="118" name="Text 116"/>
          <p:cNvSpPr/>
          <p:nvPr/>
        </p:nvSpPr>
        <p:spPr>
          <a:xfrm>
            <a:off x="10543032" y="5518404"/>
            <a:ext cx="7680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 algn="r">
              <a:buNone/>
            </a:pPr>
            <a:r>
              <a:rPr lang="en-US" sz="720">
                <a:solidFill>
                  <a:srgbClr val="223042"/>
                </a:solidFill>
              </a:rPr>
              <a:t>31,2% • 113,2 млн ₽</a:t>
            </a:r>
            <a:endParaRPr lang="en-US" sz="720"/>
          </a:p>
        </p:txBody>
      </p:sp>
      <p:sp>
        <p:nvSpPr>
          <p:cNvPr id="119" name="Text 117"/>
          <p:cNvSpPr/>
          <p:nvPr/>
        </p:nvSpPr>
        <p:spPr>
          <a:xfrm>
            <a:off x="6327648" y="5701284"/>
            <a:ext cx="6858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740" b="1">
                <a:solidFill>
                  <a:srgbClr val="223042"/>
                </a:solidFill>
              </a:rPr>
              <a:t>ТСВ</a:t>
            </a:r>
            <a:endParaRPr lang="en-US" sz="740"/>
          </a:p>
        </p:txBody>
      </p:sp>
      <p:sp>
        <p:nvSpPr>
          <p:cNvPr id="120" name="Shape 118"/>
          <p:cNvSpPr/>
          <p:nvPr/>
        </p:nvSpPr>
        <p:spPr>
          <a:xfrm>
            <a:off x="7077456" y="5710428"/>
            <a:ext cx="3410712" cy="109728"/>
          </a:xfrm>
          <a:prstGeom prst="roundRect">
            <a:avLst>
              <a:gd name="adj" fmla="val 16667"/>
            </a:avLst>
          </a:prstGeom>
          <a:solidFill>
            <a:srgbClr val="F7EEE5"/>
          </a:solidFill>
          <a:ln w="12700">
            <a:solidFill>
              <a:srgbClr val="F7EEE5"/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7077456" y="5710428"/>
            <a:ext cx="1092462" cy="109728"/>
          </a:xfrm>
          <a:prstGeom prst="roundRect">
            <a:avLst>
              <a:gd name="adj" fmla="val 16667"/>
            </a:avLst>
          </a:prstGeom>
          <a:solidFill>
            <a:srgbClr val="2C7FE3"/>
          </a:solidFill>
          <a:ln w="12700">
            <a:solidFill>
              <a:srgbClr val="2C7FE3"/>
            </a:solidFill>
            <a:prstDash val="solid"/>
          </a:ln>
        </p:spPr>
      </p:sp>
      <p:sp>
        <p:nvSpPr>
          <p:cNvPr id="122" name="Text 120"/>
          <p:cNvSpPr/>
          <p:nvPr/>
        </p:nvSpPr>
        <p:spPr>
          <a:xfrm>
            <a:off x="10543032" y="5682996"/>
            <a:ext cx="7680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 algn="r">
              <a:buNone/>
            </a:pPr>
            <a:r>
              <a:rPr lang="en-US" sz="720">
                <a:solidFill>
                  <a:srgbClr val="223042"/>
                </a:solidFill>
              </a:rPr>
              <a:t>32,0% • 116,0 млн ₽</a:t>
            </a:r>
            <a:endParaRPr lang="en-US" sz="720"/>
          </a:p>
        </p:txBody>
      </p:sp>
      <p:sp>
        <p:nvSpPr>
          <p:cNvPr id="123" name="Text 121"/>
          <p:cNvSpPr/>
          <p:nvPr/>
        </p:nvSpPr>
        <p:spPr>
          <a:xfrm>
            <a:off x="6327648" y="5865876"/>
            <a:ext cx="6858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740" b="1">
                <a:solidFill>
                  <a:srgbClr val="223042"/>
                </a:solidFill>
              </a:rPr>
              <a:t>КНС</a:t>
            </a:r>
            <a:endParaRPr lang="en-US" sz="740"/>
          </a:p>
        </p:txBody>
      </p:sp>
      <p:sp>
        <p:nvSpPr>
          <p:cNvPr id="124" name="Shape 122"/>
          <p:cNvSpPr/>
          <p:nvPr/>
        </p:nvSpPr>
        <p:spPr>
          <a:xfrm>
            <a:off x="7077456" y="5875020"/>
            <a:ext cx="3410712" cy="109728"/>
          </a:xfrm>
          <a:prstGeom prst="roundRect">
            <a:avLst>
              <a:gd name="adj" fmla="val 16667"/>
            </a:avLst>
          </a:prstGeom>
          <a:solidFill>
            <a:srgbClr val="F7EEE5"/>
          </a:solidFill>
          <a:ln w="12700">
            <a:solidFill>
              <a:srgbClr val="F7EEE5"/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7077456" y="5875020"/>
            <a:ext cx="340599" cy="109728"/>
          </a:xfrm>
          <a:prstGeom prst="roundRect">
            <a:avLst>
              <a:gd name="adj" fmla="val 16667"/>
            </a:avLst>
          </a:prstGeom>
          <a:solidFill>
            <a:srgbClr val="6B47D5"/>
          </a:solidFill>
          <a:ln w="12700">
            <a:solidFill>
              <a:srgbClr val="6B47D5"/>
            </a:solidFill>
            <a:prstDash val="solid"/>
          </a:ln>
        </p:spPr>
      </p:sp>
      <p:sp>
        <p:nvSpPr>
          <p:cNvPr id="126" name="Text 124"/>
          <p:cNvSpPr/>
          <p:nvPr/>
        </p:nvSpPr>
        <p:spPr>
          <a:xfrm>
            <a:off x="10543032" y="5847588"/>
            <a:ext cx="7680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 algn="r">
              <a:buNone/>
            </a:pPr>
            <a:r>
              <a:rPr lang="en-US" sz="720">
                <a:solidFill>
                  <a:srgbClr val="223042"/>
                </a:solidFill>
              </a:rPr>
              <a:t>10,0% • 36,2 млн ₽</a:t>
            </a:r>
            <a:endParaRPr lang="en-US" sz="720"/>
          </a:p>
        </p:txBody>
      </p:sp>
      <p:sp>
        <p:nvSpPr>
          <p:cNvPr id="127" name="Text 125"/>
          <p:cNvSpPr/>
          <p:nvPr/>
        </p:nvSpPr>
        <p:spPr>
          <a:xfrm>
            <a:off x="6327648" y="6030468"/>
            <a:ext cx="6858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740" b="1">
                <a:solidFill>
                  <a:srgbClr val="223042"/>
                </a:solidFill>
              </a:rPr>
              <a:t>ССОИ</a:t>
            </a:r>
            <a:endParaRPr lang="en-US" sz="740"/>
          </a:p>
        </p:txBody>
      </p:sp>
      <p:sp>
        <p:nvSpPr>
          <p:cNvPr id="128" name="Shape 126"/>
          <p:cNvSpPr/>
          <p:nvPr/>
        </p:nvSpPr>
        <p:spPr>
          <a:xfrm>
            <a:off x="7077456" y="6039612"/>
            <a:ext cx="3410712" cy="109728"/>
          </a:xfrm>
          <a:prstGeom prst="roundRect">
            <a:avLst>
              <a:gd name="adj" fmla="val 16667"/>
            </a:avLst>
          </a:prstGeom>
          <a:solidFill>
            <a:srgbClr val="F7EEE5"/>
          </a:solidFill>
          <a:ln w="12700">
            <a:solidFill>
              <a:srgbClr val="F7EEE5"/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7077456" y="6039612"/>
            <a:ext cx="320954" cy="109728"/>
          </a:xfrm>
          <a:prstGeom prst="roundRect">
            <a:avLst>
              <a:gd name="adj" fmla="val 16667"/>
            </a:avLst>
          </a:prstGeom>
          <a:solidFill>
            <a:srgbClr val="119DA2"/>
          </a:solidFill>
          <a:ln w="12700">
            <a:solidFill>
              <a:srgbClr val="119DA2"/>
            </a:solidFill>
            <a:prstDash val="solid"/>
          </a:ln>
        </p:spPr>
      </p:sp>
      <p:sp>
        <p:nvSpPr>
          <p:cNvPr id="130" name="Text 128"/>
          <p:cNvSpPr/>
          <p:nvPr/>
        </p:nvSpPr>
        <p:spPr>
          <a:xfrm>
            <a:off x="10543032" y="6012180"/>
            <a:ext cx="7680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720">
                <a:solidFill>
                  <a:srgbClr val="223042"/>
                </a:solidFill>
              </a:rPr>
              <a:t>9,4% • 34,1 млн ₽</a:t>
            </a:r>
            <a:endParaRPr lang="en-US" sz="720"/>
          </a:p>
        </p:txBody>
      </p:sp>
      <p:sp>
        <p:nvSpPr>
          <p:cNvPr id="131" name="Text 129"/>
          <p:cNvSpPr/>
          <p:nvPr/>
        </p:nvSpPr>
        <p:spPr>
          <a:xfrm>
            <a:off x="384048" y="6510528"/>
            <a:ext cx="75895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>
                <a:solidFill>
                  <a:srgbClr val="718196"/>
                </a:solidFill>
              </a:rPr>
              <a:t>Кутузовский 32 • ИТСО • все цены приведены с НДС 22%</a:t>
            </a:r>
            <a:endParaRPr lang="en-US" sz="700"/>
          </a:p>
        </p:txBody>
      </p:sp>
      <p:sp>
        <p:nvSpPr>
          <p:cNvPr id="132" name="Text 130"/>
          <p:cNvSpPr/>
          <p:nvPr/>
        </p:nvSpPr>
        <p:spPr>
          <a:xfrm>
            <a:off x="11612880" y="6492240"/>
            <a:ext cx="2011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ru-RU" sz="700">
                <a:solidFill>
                  <a:srgbClr val="718196"/>
                </a:solidFill>
              </a:rPr>
              <a:t>9</a:t>
            </a:r>
            <a:endParaRPr lang="en-US" sz="700"/>
          </a:p>
        </p:txBody>
      </p:sp>
      <p:sp>
        <p:nvSpPr>
          <p:cNvPr id="133" name="Rectangle 132"/>
          <p:cNvSpPr/>
          <p:nvPr/>
        </p:nvSpPr>
        <p:spPr>
          <a:xfrm>
            <a:off x="493776" y="2249424"/>
            <a:ext cx="5468112" cy="40050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4" name="Rectangle 133"/>
          <p:cNvSpPr/>
          <p:nvPr/>
        </p:nvSpPr>
        <p:spPr>
          <a:xfrm>
            <a:off x="6291072" y="2249424"/>
            <a:ext cx="5394960" cy="40050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7" name="Rectangle 136"/>
          <p:cNvSpPr/>
          <p:nvPr/>
        </p:nvSpPr>
        <p:spPr>
          <a:xfrm>
            <a:off x="530352" y="2340864"/>
            <a:ext cx="5010912" cy="256032"/>
          </a:xfrm>
          <a:prstGeom prst="rect">
            <a:avLst/>
          </a:prstGeom>
          <a:solidFill>
            <a:srgbClr val="EAF6EE"/>
          </a:solidFill>
          <a:ln w="12700">
            <a:solidFill>
              <a:srgbClr val="D8DFE8"/>
            </a:solidFill>
            <a:prstDash val="solid"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8" name="TextBox 137"/>
          <p:cNvSpPr txBox="1"/>
          <p:nvPr/>
        </p:nvSpPr>
        <p:spPr>
          <a:xfrm>
            <a:off x="589788" y="2383840"/>
            <a:ext cx="306324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70" b="1">
                <a:solidFill>
                  <a:srgbClr val="223042"/>
                </a:solidFill>
              </a:rPr>
              <a:t>Статья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3680460" y="2383840"/>
            <a:ext cx="178308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70" b="1">
                <a:solidFill>
                  <a:srgbClr val="223042"/>
                </a:solidFill>
              </a:rPr>
              <a:t>Сумма с НДС, ₽</a:t>
            </a:r>
          </a:p>
        </p:txBody>
      </p:sp>
      <p:sp>
        <p:nvSpPr>
          <p:cNvPr id="140" name="Rectangle 139"/>
          <p:cNvSpPr/>
          <p:nvPr/>
        </p:nvSpPr>
        <p:spPr>
          <a:xfrm>
            <a:off x="530352" y="2615184"/>
            <a:ext cx="5010912" cy="224028"/>
          </a:xfrm>
          <a:prstGeom prst="rect">
            <a:avLst/>
          </a:prstGeom>
          <a:solidFill>
            <a:srgbClr val="FFFFFF"/>
          </a:solidFill>
          <a:ln>
            <a:solidFill>
              <a:srgbClr val="D8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1" name="TextBox 140"/>
          <p:cNvSpPr txBox="1"/>
          <p:nvPr/>
        </p:nvSpPr>
        <p:spPr>
          <a:xfrm>
            <a:off x="576072" y="2681020"/>
            <a:ext cx="315468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223042"/>
                </a:solidFill>
              </a:rPr>
              <a:t>Базовая стоимость работ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3666744" y="2681020"/>
            <a:ext cx="178308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>
                <a:solidFill>
                  <a:srgbClr val="223042"/>
                </a:solidFill>
              </a:rPr>
              <a:t>128 374 466 ₽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530352" y="2839212"/>
            <a:ext cx="5010912" cy="224028"/>
          </a:xfrm>
          <a:prstGeom prst="rect">
            <a:avLst/>
          </a:prstGeom>
          <a:solidFill>
            <a:srgbClr val="FFFFFF"/>
          </a:solidFill>
          <a:ln>
            <a:solidFill>
              <a:srgbClr val="D8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4" name="TextBox 143"/>
          <p:cNvSpPr txBox="1"/>
          <p:nvPr/>
        </p:nvSpPr>
        <p:spPr>
          <a:xfrm>
            <a:off x="576072" y="2905048"/>
            <a:ext cx="315468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223042"/>
                </a:solidFill>
              </a:rPr>
              <a:t>Обязательные отчисления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3666744" y="2905048"/>
            <a:ext cx="178308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>
                <a:solidFill>
                  <a:srgbClr val="223042"/>
                </a:solidFill>
              </a:rPr>
              <a:t>38 769 089 ₽</a:t>
            </a:r>
          </a:p>
        </p:txBody>
      </p:sp>
      <p:sp>
        <p:nvSpPr>
          <p:cNvPr id="146" name="Rectangle 145"/>
          <p:cNvSpPr/>
          <p:nvPr/>
        </p:nvSpPr>
        <p:spPr>
          <a:xfrm>
            <a:off x="530352" y="3063240"/>
            <a:ext cx="5010912" cy="224028"/>
          </a:xfrm>
          <a:prstGeom prst="rect">
            <a:avLst/>
          </a:prstGeom>
          <a:solidFill>
            <a:srgbClr val="FFFFFF"/>
          </a:solidFill>
          <a:ln>
            <a:solidFill>
              <a:srgbClr val="D8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7" name="TextBox 146"/>
          <p:cNvSpPr txBox="1"/>
          <p:nvPr/>
        </p:nvSpPr>
        <p:spPr>
          <a:xfrm>
            <a:off x="576072" y="3129076"/>
            <a:ext cx="315468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223042"/>
                </a:solidFill>
              </a:rPr>
              <a:t>Утилизация (отпуска, больничные)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3666744" y="3129076"/>
            <a:ext cx="178308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>
                <a:solidFill>
                  <a:srgbClr val="223042"/>
                </a:solidFill>
              </a:rPr>
              <a:t>29 495 921 ₽</a:t>
            </a:r>
          </a:p>
        </p:txBody>
      </p:sp>
      <p:sp>
        <p:nvSpPr>
          <p:cNvPr id="149" name="Rectangle 148"/>
          <p:cNvSpPr/>
          <p:nvPr/>
        </p:nvSpPr>
        <p:spPr>
          <a:xfrm>
            <a:off x="530352" y="3287268"/>
            <a:ext cx="5010912" cy="224028"/>
          </a:xfrm>
          <a:prstGeom prst="rect">
            <a:avLst/>
          </a:prstGeom>
          <a:solidFill>
            <a:srgbClr val="FFFFFF"/>
          </a:solidFill>
          <a:ln>
            <a:solidFill>
              <a:srgbClr val="D8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0" name="TextBox 149"/>
          <p:cNvSpPr txBox="1"/>
          <p:nvPr/>
        </p:nvSpPr>
        <p:spPr>
          <a:xfrm>
            <a:off x="576072" y="3353104"/>
            <a:ext cx="315468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223042"/>
                </a:solidFill>
              </a:rPr>
              <a:t>Инструмент / расходники / СИЗ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3666744" y="3353104"/>
            <a:ext cx="178308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>
                <a:solidFill>
                  <a:srgbClr val="223042"/>
                </a:solidFill>
              </a:rPr>
              <a:t>19 663 948 ₽</a:t>
            </a:r>
          </a:p>
        </p:txBody>
      </p:sp>
      <p:sp>
        <p:nvSpPr>
          <p:cNvPr id="152" name="Rectangle 151"/>
          <p:cNvSpPr/>
          <p:nvPr/>
        </p:nvSpPr>
        <p:spPr>
          <a:xfrm>
            <a:off x="530352" y="3511296"/>
            <a:ext cx="5010912" cy="224028"/>
          </a:xfrm>
          <a:prstGeom prst="rect">
            <a:avLst/>
          </a:prstGeom>
          <a:solidFill>
            <a:srgbClr val="FFFFFF"/>
          </a:solidFill>
          <a:ln>
            <a:solidFill>
              <a:srgbClr val="D8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" name="TextBox 152"/>
          <p:cNvSpPr txBox="1"/>
          <p:nvPr/>
        </p:nvSpPr>
        <p:spPr>
          <a:xfrm>
            <a:off x="576072" y="3577132"/>
            <a:ext cx="315468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223042"/>
                </a:solidFill>
              </a:rPr>
              <a:t>АХР и ОПР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3666744" y="3577132"/>
            <a:ext cx="178308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>
                <a:solidFill>
                  <a:srgbClr val="223042"/>
                </a:solidFill>
              </a:rPr>
              <a:t>99 499 575 ₽</a:t>
            </a:r>
          </a:p>
        </p:txBody>
      </p:sp>
      <p:sp>
        <p:nvSpPr>
          <p:cNvPr id="155" name="Rectangle 154"/>
          <p:cNvSpPr/>
          <p:nvPr/>
        </p:nvSpPr>
        <p:spPr>
          <a:xfrm>
            <a:off x="530352" y="3735324"/>
            <a:ext cx="5010912" cy="224028"/>
          </a:xfrm>
          <a:prstGeom prst="rect">
            <a:avLst/>
          </a:prstGeom>
          <a:solidFill>
            <a:srgbClr val="FFFFFF"/>
          </a:solidFill>
          <a:ln>
            <a:solidFill>
              <a:srgbClr val="D8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8" name="Rectangle 157"/>
          <p:cNvSpPr/>
          <p:nvPr/>
        </p:nvSpPr>
        <p:spPr>
          <a:xfrm>
            <a:off x="530352" y="3959352"/>
            <a:ext cx="5010912" cy="224028"/>
          </a:xfrm>
          <a:prstGeom prst="rect">
            <a:avLst/>
          </a:prstGeom>
          <a:solidFill>
            <a:srgbClr val="FFFFFF"/>
          </a:solidFill>
          <a:ln>
            <a:solidFill>
              <a:srgbClr val="D8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9" name="TextBox 158"/>
          <p:cNvSpPr txBox="1"/>
          <p:nvPr/>
        </p:nvSpPr>
        <p:spPr>
          <a:xfrm>
            <a:off x="576072" y="4025188"/>
            <a:ext cx="315468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223042"/>
                </a:solidFill>
              </a:rPr>
              <a:t>Оборудование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3666744" y="4025188"/>
            <a:ext cx="178308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>
                <a:solidFill>
                  <a:srgbClr val="223042"/>
                </a:solidFill>
              </a:rPr>
              <a:t>117 689 942 ₽</a:t>
            </a:r>
          </a:p>
        </p:txBody>
      </p:sp>
      <p:sp>
        <p:nvSpPr>
          <p:cNvPr id="161" name="Rectangle 160"/>
          <p:cNvSpPr/>
          <p:nvPr/>
        </p:nvSpPr>
        <p:spPr>
          <a:xfrm>
            <a:off x="530352" y="4183380"/>
            <a:ext cx="5010912" cy="224028"/>
          </a:xfrm>
          <a:prstGeom prst="rect">
            <a:avLst/>
          </a:prstGeom>
          <a:solidFill>
            <a:srgbClr val="FFFFFF"/>
          </a:solidFill>
          <a:ln>
            <a:solidFill>
              <a:srgbClr val="D8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2" name="TextBox 161"/>
          <p:cNvSpPr txBox="1"/>
          <p:nvPr/>
        </p:nvSpPr>
        <p:spPr>
          <a:xfrm>
            <a:off x="576072" y="4249216"/>
            <a:ext cx="315468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223042"/>
                </a:solidFill>
              </a:rPr>
              <a:t>Материалы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3666744" y="4249216"/>
            <a:ext cx="178308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>
                <a:solidFill>
                  <a:srgbClr val="223042"/>
                </a:solidFill>
              </a:rPr>
              <a:t>45 378 696 ₽</a:t>
            </a:r>
          </a:p>
        </p:txBody>
      </p:sp>
      <p:sp>
        <p:nvSpPr>
          <p:cNvPr id="164" name="Rectangle 163"/>
          <p:cNvSpPr/>
          <p:nvPr/>
        </p:nvSpPr>
        <p:spPr>
          <a:xfrm>
            <a:off x="530352" y="4407408"/>
            <a:ext cx="5010912" cy="224028"/>
          </a:xfrm>
          <a:prstGeom prst="rect">
            <a:avLst/>
          </a:prstGeom>
          <a:solidFill>
            <a:srgbClr val="FFFFFF"/>
          </a:solidFill>
          <a:ln>
            <a:solidFill>
              <a:srgbClr val="D8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5" name="TextBox 164"/>
          <p:cNvSpPr txBox="1"/>
          <p:nvPr/>
        </p:nvSpPr>
        <p:spPr>
          <a:xfrm>
            <a:off x="562356" y="3781651"/>
            <a:ext cx="315468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223042"/>
                </a:solidFill>
              </a:rPr>
              <a:t>Проектирование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3653028" y="3781651"/>
            <a:ext cx="178308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>
                <a:solidFill>
                  <a:srgbClr val="223042"/>
                </a:solidFill>
              </a:rPr>
              <a:t>26 191 107 ₽</a:t>
            </a:r>
          </a:p>
        </p:txBody>
      </p:sp>
      <p:sp>
        <p:nvSpPr>
          <p:cNvPr id="167" name="Rectangle 166"/>
          <p:cNvSpPr/>
          <p:nvPr/>
        </p:nvSpPr>
        <p:spPr>
          <a:xfrm>
            <a:off x="530352" y="4631436"/>
            <a:ext cx="5010912" cy="224028"/>
          </a:xfrm>
          <a:prstGeom prst="rect">
            <a:avLst/>
          </a:prstGeom>
          <a:solidFill>
            <a:srgbClr val="F7F9FC"/>
          </a:solidFill>
          <a:ln>
            <a:solidFill>
              <a:srgbClr val="D8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8" name="TextBox 167"/>
          <p:cNvSpPr txBox="1"/>
          <p:nvPr/>
        </p:nvSpPr>
        <p:spPr>
          <a:xfrm>
            <a:off x="576072" y="4697272"/>
            <a:ext cx="315468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30" b="1">
                <a:solidFill>
                  <a:srgbClr val="223042"/>
                </a:solidFill>
              </a:rPr>
              <a:t>Итог бюджета проекта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3666744" y="4697272"/>
            <a:ext cx="178308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30" b="1">
                <a:solidFill>
                  <a:srgbClr val="223042"/>
                </a:solidFill>
              </a:rPr>
              <a:t>573 303 895 ₽</a:t>
            </a:r>
          </a:p>
        </p:txBody>
      </p:sp>
      <p:sp>
        <p:nvSpPr>
          <p:cNvPr id="170" name="Rectangle 169"/>
          <p:cNvSpPr/>
          <p:nvPr/>
        </p:nvSpPr>
        <p:spPr>
          <a:xfrm>
            <a:off x="6327648" y="2340864"/>
            <a:ext cx="4846320" cy="256032"/>
          </a:xfrm>
          <a:prstGeom prst="rect">
            <a:avLst/>
          </a:prstGeom>
          <a:solidFill>
            <a:srgbClr val="FDF1E6"/>
          </a:solidFill>
          <a:ln w="12700">
            <a:solidFill>
              <a:srgbClr val="D8DFE8"/>
            </a:solidFill>
            <a:prstDash val="solid"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1" name="TextBox 170"/>
          <p:cNvSpPr txBox="1"/>
          <p:nvPr/>
        </p:nvSpPr>
        <p:spPr>
          <a:xfrm>
            <a:off x="6373368" y="2375612"/>
            <a:ext cx="306324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70" b="1">
                <a:solidFill>
                  <a:srgbClr val="223042"/>
                </a:solidFill>
              </a:rPr>
              <a:t>Статья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9299447" y="2375612"/>
            <a:ext cx="178308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70" b="1">
                <a:solidFill>
                  <a:srgbClr val="223042"/>
                </a:solidFill>
              </a:rPr>
              <a:t>Сумма с НДС, ₽</a:t>
            </a:r>
          </a:p>
        </p:txBody>
      </p:sp>
      <p:sp>
        <p:nvSpPr>
          <p:cNvPr id="173" name="Rectangle 172"/>
          <p:cNvSpPr/>
          <p:nvPr/>
        </p:nvSpPr>
        <p:spPr>
          <a:xfrm>
            <a:off x="6327648" y="2615184"/>
            <a:ext cx="4846320" cy="256032"/>
          </a:xfrm>
          <a:prstGeom prst="rect">
            <a:avLst/>
          </a:prstGeom>
          <a:solidFill>
            <a:srgbClr val="FFFFFF"/>
          </a:solidFill>
          <a:ln>
            <a:solidFill>
              <a:srgbClr val="D8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" name="TextBox 173"/>
          <p:cNvSpPr txBox="1"/>
          <p:nvPr/>
        </p:nvSpPr>
        <p:spPr>
          <a:xfrm>
            <a:off x="6373368" y="2681020"/>
            <a:ext cx="315468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223042"/>
                </a:solidFill>
              </a:rPr>
              <a:t>Базовая стоимость работ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9299447" y="2681020"/>
            <a:ext cx="178308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>
                <a:solidFill>
                  <a:srgbClr val="223042"/>
                </a:solidFill>
              </a:rPr>
              <a:t>128 374 466 ₽</a:t>
            </a:r>
          </a:p>
        </p:txBody>
      </p:sp>
      <p:sp>
        <p:nvSpPr>
          <p:cNvPr id="176" name="Rectangle 175"/>
          <p:cNvSpPr/>
          <p:nvPr/>
        </p:nvSpPr>
        <p:spPr>
          <a:xfrm>
            <a:off x="6327648" y="2871215"/>
            <a:ext cx="4846320" cy="256032"/>
          </a:xfrm>
          <a:prstGeom prst="rect">
            <a:avLst/>
          </a:prstGeom>
          <a:solidFill>
            <a:srgbClr val="FFFFFF"/>
          </a:solidFill>
          <a:ln>
            <a:solidFill>
              <a:srgbClr val="D8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7" name="TextBox 176"/>
          <p:cNvSpPr txBox="1"/>
          <p:nvPr/>
        </p:nvSpPr>
        <p:spPr>
          <a:xfrm>
            <a:off x="6373368" y="2937052"/>
            <a:ext cx="315468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223042"/>
                </a:solidFill>
              </a:rPr>
              <a:t>АХР и ОПР</a:t>
            </a:r>
          </a:p>
        </p:txBody>
      </p:sp>
      <p:sp>
        <p:nvSpPr>
          <p:cNvPr id="178" name="TextBox 177"/>
          <p:cNvSpPr txBox="1"/>
          <p:nvPr/>
        </p:nvSpPr>
        <p:spPr>
          <a:xfrm>
            <a:off x="9299447" y="2937052"/>
            <a:ext cx="178308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>
                <a:solidFill>
                  <a:srgbClr val="223042"/>
                </a:solidFill>
              </a:rPr>
              <a:t>59 052 254 ₽</a:t>
            </a:r>
          </a:p>
        </p:txBody>
      </p:sp>
      <p:sp>
        <p:nvSpPr>
          <p:cNvPr id="179" name="Rectangle 178"/>
          <p:cNvSpPr/>
          <p:nvPr/>
        </p:nvSpPr>
        <p:spPr>
          <a:xfrm>
            <a:off x="6327648" y="3127248"/>
            <a:ext cx="4846320" cy="256032"/>
          </a:xfrm>
          <a:prstGeom prst="rect">
            <a:avLst/>
          </a:prstGeom>
          <a:solidFill>
            <a:srgbClr val="FFFFFF"/>
          </a:solidFill>
          <a:ln>
            <a:solidFill>
              <a:srgbClr val="D8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2" name="Rectangle 181"/>
          <p:cNvSpPr/>
          <p:nvPr/>
        </p:nvSpPr>
        <p:spPr>
          <a:xfrm>
            <a:off x="6327648" y="3383280"/>
            <a:ext cx="4846320" cy="256032"/>
          </a:xfrm>
          <a:prstGeom prst="rect">
            <a:avLst/>
          </a:prstGeom>
          <a:solidFill>
            <a:srgbClr val="FFFFFF"/>
          </a:solidFill>
          <a:ln>
            <a:solidFill>
              <a:srgbClr val="D8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3" name="TextBox 182"/>
          <p:cNvSpPr txBox="1"/>
          <p:nvPr/>
        </p:nvSpPr>
        <p:spPr>
          <a:xfrm>
            <a:off x="6373368" y="3449116"/>
            <a:ext cx="315468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223042"/>
                </a:solidFill>
              </a:rPr>
              <a:t>Оборудование</a:t>
            </a:r>
          </a:p>
        </p:txBody>
      </p:sp>
      <p:sp>
        <p:nvSpPr>
          <p:cNvPr id="184" name="TextBox 183"/>
          <p:cNvSpPr txBox="1"/>
          <p:nvPr/>
        </p:nvSpPr>
        <p:spPr>
          <a:xfrm>
            <a:off x="9299447" y="3449116"/>
            <a:ext cx="178308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>
                <a:solidFill>
                  <a:srgbClr val="223042"/>
                </a:solidFill>
              </a:rPr>
              <a:t>117 689 942 ₽</a:t>
            </a:r>
          </a:p>
        </p:txBody>
      </p:sp>
      <p:sp>
        <p:nvSpPr>
          <p:cNvPr id="185" name="Rectangle 184"/>
          <p:cNvSpPr/>
          <p:nvPr/>
        </p:nvSpPr>
        <p:spPr>
          <a:xfrm>
            <a:off x="6327648" y="3639312"/>
            <a:ext cx="4846320" cy="256032"/>
          </a:xfrm>
          <a:prstGeom prst="rect">
            <a:avLst/>
          </a:prstGeom>
          <a:solidFill>
            <a:srgbClr val="FFFFFF"/>
          </a:solidFill>
          <a:ln>
            <a:solidFill>
              <a:srgbClr val="D8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6" name="TextBox 185"/>
          <p:cNvSpPr txBox="1"/>
          <p:nvPr/>
        </p:nvSpPr>
        <p:spPr>
          <a:xfrm>
            <a:off x="6373368" y="3705148"/>
            <a:ext cx="315468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223042"/>
                </a:solidFill>
              </a:rPr>
              <a:t>Материалы</a:t>
            </a:r>
          </a:p>
        </p:txBody>
      </p:sp>
      <p:sp>
        <p:nvSpPr>
          <p:cNvPr id="187" name="TextBox 186"/>
          <p:cNvSpPr txBox="1"/>
          <p:nvPr/>
        </p:nvSpPr>
        <p:spPr>
          <a:xfrm>
            <a:off x="9299447" y="3705148"/>
            <a:ext cx="178308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>
                <a:solidFill>
                  <a:srgbClr val="223042"/>
                </a:solidFill>
              </a:rPr>
              <a:t>45 378 696 ₽</a:t>
            </a:r>
          </a:p>
        </p:txBody>
      </p:sp>
      <p:sp>
        <p:nvSpPr>
          <p:cNvPr id="188" name="Rectangle 187"/>
          <p:cNvSpPr/>
          <p:nvPr/>
        </p:nvSpPr>
        <p:spPr>
          <a:xfrm>
            <a:off x="6327648" y="3895344"/>
            <a:ext cx="4846320" cy="256032"/>
          </a:xfrm>
          <a:prstGeom prst="rect">
            <a:avLst/>
          </a:prstGeom>
          <a:solidFill>
            <a:srgbClr val="FFFFFF"/>
          </a:solidFill>
          <a:ln>
            <a:solidFill>
              <a:srgbClr val="D8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9" name="TextBox 188"/>
          <p:cNvSpPr txBox="1"/>
          <p:nvPr/>
        </p:nvSpPr>
        <p:spPr>
          <a:xfrm>
            <a:off x="6373368" y="3168700"/>
            <a:ext cx="315468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223042"/>
                </a:solidFill>
              </a:rPr>
              <a:t>Проектирование</a:t>
            </a:r>
          </a:p>
        </p:txBody>
      </p:sp>
      <p:sp>
        <p:nvSpPr>
          <p:cNvPr id="190" name="TextBox 189"/>
          <p:cNvSpPr txBox="1"/>
          <p:nvPr/>
        </p:nvSpPr>
        <p:spPr>
          <a:xfrm>
            <a:off x="9299447" y="3168700"/>
            <a:ext cx="178308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>
                <a:solidFill>
                  <a:srgbClr val="223042"/>
                </a:solidFill>
              </a:rPr>
              <a:t>26 191 107 ₽</a:t>
            </a:r>
          </a:p>
        </p:txBody>
      </p:sp>
      <p:sp>
        <p:nvSpPr>
          <p:cNvPr id="191" name="Rectangle 190"/>
          <p:cNvSpPr/>
          <p:nvPr/>
        </p:nvSpPr>
        <p:spPr>
          <a:xfrm>
            <a:off x="6327648" y="4151376"/>
            <a:ext cx="4846320" cy="256032"/>
          </a:xfrm>
          <a:prstGeom prst="rect">
            <a:avLst/>
          </a:prstGeom>
          <a:solidFill>
            <a:srgbClr val="F7F9FC"/>
          </a:solidFill>
          <a:ln>
            <a:solidFill>
              <a:srgbClr val="D8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2" name="TextBox 191"/>
          <p:cNvSpPr txBox="1"/>
          <p:nvPr/>
        </p:nvSpPr>
        <p:spPr>
          <a:xfrm>
            <a:off x="6373368" y="4217212"/>
            <a:ext cx="315468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30" b="1">
                <a:solidFill>
                  <a:srgbClr val="223042"/>
                </a:solidFill>
              </a:rPr>
              <a:t>Итог бюджета проекта</a:t>
            </a:r>
          </a:p>
        </p:txBody>
      </p:sp>
      <p:sp>
        <p:nvSpPr>
          <p:cNvPr id="193" name="TextBox 192"/>
          <p:cNvSpPr txBox="1"/>
          <p:nvPr/>
        </p:nvSpPr>
        <p:spPr>
          <a:xfrm>
            <a:off x="9299447" y="4217212"/>
            <a:ext cx="178308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30" b="1">
                <a:solidFill>
                  <a:srgbClr val="223042"/>
                </a:solidFill>
              </a:rPr>
              <a:t>429 522 464 ₽</a:t>
            </a:r>
          </a:p>
        </p:txBody>
      </p:sp>
      <p:sp>
        <p:nvSpPr>
          <p:cNvPr id="194" name="TextBox 193"/>
          <p:cNvSpPr txBox="1"/>
          <p:nvPr/>
        </p:nvSpPr>
        <p:spPr>
          <a:xfrm>
            <a:off x="530352" y="5084064"/>
            <a:ext cx="182880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70" b="0">
                <a:solidFill>
                  <a:srgbClr val="223042"/>
                </a:solidFill>
              </a:rPr>
              <a:t>Доля систем в бюджете</a:t>
            </a:r>
          </a:p>
        </p:txBody>
      </p:sp>
      <p:sp>
        <p:nvSpPr>
          <p:cNvPr id="195" name="TextBox 194"/>
          <p:cNvSpPr txBox="1"/>
          <p:nvPr/>
        </p:nvSpPr>
        <p:spPr>
          <a:xfrm>
            <a:off x="530352" y="5294375"/>
            <a:ext cx="68580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10" b="0">
                <a:solidFill>
                  <a:srgbClr val="223042"/>
                </a:solidFill>
              </a:rPr>
              <a:t>СОТС</a:t>
            </a:r>
          </a:p>
        </p:txBody>
      </p:sp>
      <p:sp>
        <p:nvSpPr>
          <p:cNvPr id="196" name="Rectangle 195"/>
          <p:cNvSpPr/>
          <p:nvPr/>
        </p:nvSpPr>
        <p:spPr>
          <a:xfrm>
            <a:off x="1280160" y="5303519"/>
            <a:ext cx="3547872" cy="91440"/>
          </a:xfrm>
          <a:prstGeom prst="rect">
            <a:avLst/>
          </a:prstGeom>
          <a:solidFill>
            <a:srgbClr val="E7EE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7" name="Rectangle 196"/>
          <p:cNvSpPr/>
          <p:nvPr/>
        </p:nvSpPr>
        <p:spPr>
          <a:xfrm>
            <a:off x="1280160" y="5303519"/>
            <a:ext cx="566610" cy="91440"/>
          </a:xfrm>
          <a:prstGeom prst="rect">
            <a:avLst/>
          </a:prstGeom>
          <a:solidFill>
            <a:srgbClr val="219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8" name="TextBox 197"/>
          <p:cNvSpPr txBox="1"/>
          <p:nvPr/>
        </p:nvSpPr>
        <p:spPr>
          <a:xfrm>
            <a:off x="4882894" y="5276088"/>
            <a:ext cx="923545" cy="1969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80" b="0">
                <a:solidFill>
                  <a:srgbClr val="223042"/>
                </a:solidFill>
              </a:rPr>
              <a:t>16,0% • 91,6 млн ₽</a:t>
            </a:r>
          </a:p>
        </p:txBody>
      </p:sp>
      <p:sp>
        <p:nvSpPr>
          <p:cNvPr id="199" name="TextBox 198"/>
          <p:cNvSpPr txBox="1"/>
          <p:nvPr/>
        </p:nvSpPr>
        <p:spPr>
          <a:xfrm>
            <a:off x="530352" y="5458967"/>
            <a:ext cx="68580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10" b="0">
                <a:solidFill>
                  <a:srgbClr val="223042"/>
                </a:solidFill>
              </a:rPr>
              <a:t>СКУД</a:t>
            </a:r>
          </a:p>
        </p:txBody>
      </p:sp>
      <p:sp>
        <p:nvSpPr>
          <p:cNvPr id="200" name="Rectangle 199"/>
          <p:cNvSpPr/>
          <p:nvPr/>
        </p:nvSpPr>
        <p:spPr>
          <a:xfrm>
            <a:off x="1280160" y="5468111"/>
            <a:ext cx="3547872" cy="91440"/>
          </a:xfrm>
          <a:prstGeom prst="rect">
            <a:avLst/>
          </a:prstGeom>
          <a:solidFill>
            <a:srgbClr val="E7EE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1" name="Rectangle 200"/>
          <p:cNvSpPr/>
          <p:nvPr/>
        </p:nvSpPr>
        <p:spPr>
          <a:xfrm>
            <a:off x="1280160" y="5468111"/>
            <a:ext cx="1163599" cy="91440"/>
          </a:xfrm>
          <a:prstGeom prst="rect">
            <a:avLst/>
          </a:prstGeom>
          <a:solidFill>
            <a:srgbClr val="C88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2" name="TextBox 201"/>
          <p:cNvSpPr txBox="1"/>
          <p:nvPr/>
        </p:nvSpPr>
        <p:spPr>
          <a:xfrm>
            <a:off x="4882895" y="5431535"/>
            <a:ext cx="996696" cy="1969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80" b="0">
                <a:solidFill>
                  <a:srgbClr val="223042"/>
                </a:solidFill>
              </a:rPr>
              <a:t>32,8% • 188,0 млн ₽</a:t>
            </a:r>
          </a:p>
        </p:txBody>
      </p:sp>
      <p:sp>
        <p:nvSpPr>
          <p:cNvPr id="203" name="TextBox 202"/>
          <p:cNvSpPr txBox="1"/>
          <p:nvPr/>
        </p:nvSpPr>
        <p:spPr>
          <a:xfrm>
            <a:off x="530352" y="5623559"/>
            <a:ext cx="68580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10" b="0">
                <a:solidFill>
                  <a:srgbClr val="223042"/>
                </a:solidFill>
              </a:rPr>
              <a:t>ТСВ</a:t>
            </a:r>
          </a:p>
        </p:txBody>
      </p:sp>
      <p:sp>
        <p:nvSpPr>
          <p:cNvPr id="204" name="Rectangle 203"/>
          <p:cNvSpPr/>
          <p:nvPr/>
        </p:nvSpPr>
        <p:spPr>
          <a:xfrm>
            <a:off x="1280160" y="5632703"/>
            <a:ext cx="3547872" cy="91440"/>
          </a:xfrm>
          <a:prstGeom prst="rect">
            <a:avLst/>
          </a:prstGeom>
          <a:solidFill>
            <a:srgbClr val="E7EE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5" name="Rectangle 204"/>
          <p:cNvSpPr/>
          <p:nvPr/>
        </p:nvSpPr>
        <p:spPr>
          <a:xfrm>
            <a:off x="1280160" y="5632703"/>
            <a:ext cx="936496" cy="91440"/>
          </a:xfrm>
          <a:prstGeom prst="rect">
            <a:avLst/>
          </a:prstGeom>
          <a:solidFill>
            <a:srgbClr val="2C7F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6" name="TextBox 205"/>
          <p:cNvSpPr txBox="1"/>
          <p:nvPr/>
        </p:nvSpPr>
        <p:spPr>
          <a:xfrm>
            <a:off x="4882895" y="5596127"/>
            <a:ext cx="996696" cy="1969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80" b="0">
                <a:solidFill>
                  <a:srgbClr val="223042"/>
                </a:solidFill>
              </a:rPr>
              <a:t>26,4% • 151,3 млн ₽</a:t>
            </a:r>
          </a:p>
        </p:txBody>
      </p:sp>
      <p:sp>
        <p:nvSpPr>
          <p:cNvPr id="207" name="TextBox 206"/>
          <p:cNvSpPr txBox="1"/>
          <p:nvPr/>
        </p:nvSpPr>
        <p:spPr>
          <a:xfrm>
            <a:off x="530352" y="5788151"/>
            <a:ext cx="68580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10" b="0">
                <a:solidFill>
                  <a:srgbClr val="223042"/>
                </a:solidFill>
              </a:rPr>
              <a:t>КНС</a:t>
            </a:r>
          </a:p>
        </p:txBody>
      </p:sp>
      <p:sp>
        <p:nvSpPr>
          <p:cNvPr id="208" name="Rectangle 207"/>
          <p:cNvSpPr/>
          <p:nvPr/>
        </p:nvSpPr>
        <p:spPr>
          <a:xfrm>
            <a:off x="1280160" y="5797295"/>
            <a:ext cx="3547872" cy="91440"/>
          </a:xfrm>
          <a:prstGeom prst="rect">
            <a:avLst/>
          </a:prstGeom>
          <a:solidFill>
            <a:srgbClr val="E7EE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9" name="Rectangle 208"/>
          <p:cNvSpPr/>
          <p:nvPr/>
        </p:nvSpPr>
        <p:spPr>
          <a:xfrm>
            <a:off x="1280160" y="5797295"/>
            <a:ext cx="639709" cy="91440"/>
          </a:xfrm>
          <a:prstGeom prst="rect">
            <a:avLst/>
          </a:prstGeom>
          <a:solidFill>
            <a:srgbClr val="6B47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0" name="TextBox 209"/>
          <p:cNvSpPr txBox="1"/>
          <p:nvPr/>
        </p:nvSpPr>
        <p:spPr>
          <a:xfrm>
            <a:off x="4882895" y="5760719"/>
            <a:ext cx="996696" cy="1969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80" b="0">
                <a:solidFill>
                  <a:srgbClr val="223042"/>
                </a:solidFill>
              </a:rPr>
              <a:t>18,0% • 103,4 млн ₽</a:t>
            </a:r>
          </a:p>
        </p:txBody>
      </p:sp>
      <p:sp>
        <p:nvSpPr>
          <p:cNvPr id="211" name="TextBox 210"/>
          <p:cNvSpPr txBox="1"/>
          <p:nvPr/>
        </p:nvSpPr>
        <p:spPr>
          <a:xfrm>
            <a:off x="530352" y="5952743"/>
            <a:ext cx="68580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10" b="0">
                <a:solidFill>
                  <a:srgbClr val="223042"/>
                </a:solidFill>
              </a:rPr>
              <a:t>ССОИ</a:t>
            </a:r>
          </a:p>
        </p:txBody>
      </p:sp>
      <p:sp>
        <p:nvSpPr>
          <p:cNvPr id="212" name="Rectangle 211"/>
          <p:cNvSpPr/>
          <p:nvPr/>
        </p:nvSpPr>
        <p:spPr>
          <a:xfrm>
            <a:off x="1280160" y="5961887"/>
            <a:ext cx="3547872" cy="91440"/>
          </a:xfrm>
          <a:prstGeom prst="rect">
            <a:avLst/>
          </a:prstGeom>
          <a:solidFill>
            <a:srgbClr val="E7EE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3" name="Rectangle 212"/>
          <p:cNvSpPr/>
          <p:nvPr/>
        </p:nvSpPr>
        <p:spPr>
          <a:xfrm>
            <a:off x="1280160" y="5961887"/>
            <a:ext cx="241213" cy="91440"/>
          </a:xfrm>
          <a:prstGeom prst="rect">
            <a:avLst/>
          </a:prstGeom>
          <a:solidFill>
            <a:srgbClr val="119D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4" name="TextBox 213"/>
          <p:cNvSpPr txBox="1"/>
          <p:nvPr/>
        </p:nvSpPr>
        <p:spPr>
          <a:xfrm>
            <a:off x="4882895" y="5925311"/>
            <a:ext cx="996696" cy="1969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80" b="0">
                <a:solidFill>
                  <a:srgbClr val="223042"/>
                </a:solidFill>
              </a:rPr>
              <a:t>6,8% • 39,0 млн ₽</a:t>
            </a:r>
          </a:p>
        </p:txBody>
      </p:sp>
      <p:sp>
        <p:nvSpPr>
          <p:cNvPr id="215" name="TextBox 214"/>
          <p:cNvSpPr txBox="1"/>
          <p:nvPr/>
        </p:nvSpPr>
        <p:spPr>
          <a:xfrm>
            <a:off x="6327648" y="5084064"/>
            <a:ext cx="182880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70" b="0">
                <a:solidFill>
                  <a:srgbClr val="223042"/>
                </a:solidFill>
              </a:rPr>
              <a:t>Доля систем в бюджете</a:t>
            </a:r>
          </a:p>
        </p:txBody>
      </p:sp>
      <p:sp>
        <p:nvSpPr>
          <p:cNvPr id="216" name="TextBox 215"/>
          <p:cNvSpPr txBox="1"/>
          <p:nvPr/>
        </p:nvSpPr>
        <p:spPr>
          <a:xfrm>
            <a:off x="6327648" y="5294375"/>
            <a:ext cx="68580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10" b="0">
                <a:solidFill>
                  <a:srgbClr val="223042"/>
                </a:solidFill>
              </a:rPr>
              <a:t>СОТС</a:t>
            </a:r>
          </a:p>
        </p:txBody>
      </p:sp>
      <p:sp>
        <p:nvSpPr>
          <p:cNvPr id="217" name="Rectangle 216"/>
          <p:cNvSpPr/>
          <p:nvPr/>
        </p:nvSpPr>
        <p:spPr>
          <a:xfrm>
            <a:off x="7077456" y="5303519"/>
            <a:ext cx="3410712" cy="91440"/>
          </a:xfrm>
          <a:prstGeom prst="rect">
            <a:avLst/>
          </a:prstGeom>
          <a:solidFill>
            <a:srgbClr val="E7EE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8" name="Rectangle 217"/>
          <p:cNvSpPr/>
          <p:nvPr/>
        </p:nvSpPr>
        <p:spPr>
          <a:xfrm>
            <a:off x="7077456" y="5303519"/>
            <a:ext cx="498475" cy="91440"/>
          </a:xfrm>
          <a:prstGeom prst="rect">
            <a:avLst/>
          </a:prstGeom>
          <a:solidFill>
            <a:srgbClr val="219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9" name="TextBox 218"/>
          <p:cNvSpPr txBox="1"/>
          <p:nvPr/>
        </p:nvSpPr>
        <p:spPr>
          <a:xfrm>
            <a:off x="10543031" y="5245989"/>
            <a:ext cx="1148679" cy="1969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80" b="0">
                <a:solidFill>
                  <a:srgbClr val="223042"/>
                </a:solidFill>
              </a:rPr>
              <a:t>14,6% • 62,8 млн ₽</a:t>
            </a:r>
          </a:p>
        </p:txBody>
      </p:sp>
      <p:sp>
        <p:nvSpPr>
          <p:cNvPr id="220" name="TextBox 219"/>
          <p:cNvSpPr txBox="1"/>
          <p:nvPr/>
        </p:nvSpPr>
        <p:spPr>
          <a:xfrm>
            <a:off x="6327648" y="5458967"/>
            <a:ext cx="68580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10" b="0">
                <a:solidFill>
                  <a:srgbClr val="223042"/>
                </a:solidFill>
              </a:rPr>
              <a:t>СКУД</a:t>
            </a:r>
          </a:p>
        </p:txBody>
      </p:sp>
      <p:sp>
        <p:nvSpPr>
          <p:cNvPr id="221" name="Rectangle 220"/>
          <p:cNvSpPr/>
          <p:nvPr/>
        </p:nvSpPr>
        <p:spPr>
          <a:xfrm>
            <a:off x="7077456" y="5468111"/>
            <a:ext cx="3410712" cy="91440"/>
          </a:xfrm>
          <a:prstGeom prst="rect">
            <a:avLst/>
          </a:prstGeom>
          <a:solidFill>
            <a:srgbClr val="E7EE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2" name="Rectangle 221"/>
          <p:cNvSpPr/>
          <p:nvPr/>
        </p:nvSpPr>
        <p:spPr>
          <a:xfrm>
            <a:off x="7077456" y="5468111"/>
            <a:ext cx="1102526" cy="91440"/>
          </a:xfrm>
          <a:prstGeom prst="rect">
            <a:avLst/>
          </a:prstGeom>
          <a:solidFill>
            <a:srgbClr val="C88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3" name="TextBox 222"/>
          <p:cNvSpPr txBox="1"/>
          <p:nvPr/>
        </p:nvSpPr>
        <p:spPr>
          <a:xfrm>
            <a:off x="10543032" y="5401627"/>
            <a:ext cx="1069848" cy="1969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80" b="0">
                <a:solidFill>
                  <a:srgbClr val="223042"/>
                </a:solidFill>
              </a:rPr>
              <a:t>32,3% • 138,8 млн ₽</a:t>
            </a:r>
          </a:p>
        </p:txBody>
      </p:sp>
      <p:sp>
        <p:nvSpPr>
          <p:cNvPr id="224" name="TextBox 223"/>
          <p:cNvSpPr txBox="1"/>
          <p:nvPr/>
        </p:nvSpPr>
        <p:spPr>
          <a:xfrm>
            <a:off x="6327648" y="5623559"/>
            <a:ext cx="68580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10" b="0">
                <a:solidFill>
                  <a:srgbClr val="223042"/>
                </a:solidFill>
              </a:rPr>
              <a:t>ТСВ</a:t>
            </a:r>
          </a:p>
        </p:txBody>
      </p:sp>
      <p:sp>
        <p:nvSpPr>
          <p:cNvPr id="225" name="Rectangle 224"/>
          <p:cNvSpPr/>
          <p:nvPr/>
        </p:nvSpPr>
        <p:spPr>
          <a:xfrm>
            <a:off x="7077456" y="5632703"/>
            <a:ext cx="3410712" cy="91440"/>
          </a:xfrm>
          <a:prstGeom prst="rect">
            <a:avLst/>
          </a:prstGeom>
          <a:solidFill>
            <a:srgbClr val="E7EE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6" name="Rectangle 225"/>
          <p:cNvSpPr/>
          <p:nvPr/>
        </p:nvSpPr>
        <p:spPr>
          <a:xfrm>
            <a:off x="7077456" y="5632703"/>
            <a:ext cx="921509" cy="91440"/>
          </a:xfrm>
          <a:prstGeom prst="rect">
            <a:avLst/>
          </a:prstGeom>
          <a:solidFill>
            <a:srgbClr val="2C7F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7" name="TextBox 226"/>
          <p:cNvSpPr txBox="1"/>
          <p:nvPr/>
        </p:nvSpPr>
        <p:spPr>
          <a:xfrm>
            <a:off x="10543032" y="5575745"/>
            <a:ext cx="1069848" cy="1969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80" b="0">
                <a:solidFill>
                  <a:srgbClr val="223042"/>
                </a:solidFill>
              </a:rPr>
              <a:t>27,0% • 116,0 млн ₽</a:t>
            </a:r>
          </a:p>
        </p:txBody>
      </p:sp>
      <p:sp>
        <p:nvSpPr>
          <p:cNvPr id="228" name="TextBox 227"/>
          <p:cNvSpPr txBox="1"/>
          <p:nvPr/>
        </p:nvSpPr>
        <p:spPr>
          <a:xfrm>
            <a:off x="6327648" y="5788151"/>
            <a:ext cx="68580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10" b="0">
                <a:solidFill>
                  <a:srgbClr val="223042"/>
                </a:solidFill>
              </a:rPr>
              <a:t>КНС</a:t>
            </a:r>
          </a:p>
        </p:txBody>
      </p:sp>
      <p:sp>
        <p:nvSpPr>
          <p:cNvPr id="229" name="Rectangle 228"/>
          <p:cNvSpPr/>
          <p:nvPr/>
        </p:nvSpPr>
        <p:spPr>
          <a:xfrm>
            <a:off x="7077456" y="5797295"/>
            <a:ext cx="3410712" cy="91440"/>
          </a:xfrm>
          <a:prstGeom prst="rect">
            <a:avLst/>
          </a:prstGeom>
          <a:solidFill>
            <a:srgbClr val="E7EE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0" name="Rectangle 229"/>
          <p:cNvSpPr/>
          <p:nvPr/>
        </p:nvSpPr>
        <p:spPr>
          <a:xfrm>
            <a:off x="7077456" y="5797295"/>
            <a:ext cx="592717" cy="91440"/>
          </a:xfrm>
          <a:prstGeom prst="rect">
            <a:avLst/>
          </a:prstGeom>
          <a:solidFill>
            <a:srgbClr val="6B47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1" name="TextBox 230"/>
          <p:cNvSpPr txBox="1"/>
          <p:nvPr/>
        </p:nvSpPr>
        <p:spPr>
          <a:xfrm>
            <a:off x="10543032" y="5746623"/>
            <a:ext cx="1069848" cy="1969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80" b="0">
                <a:solidFill>
                  <a:srgbClr val="223042"/>
                </a:solidFill>
              </a:rPr>
              <a:t>17,4% • 74,6 млн ₽</a:t>
            </a:r>
          </a:p>
        </p:txBody>
      </p:sp>
      <p:sp>
        <p:nvSpPr>
          <p:cNvPr id="232" name="TextBox 231"/>
          <p:cNvSpPr txBox="1"/>
          <p:nvPr/>
        </p:nvSpPr>
        <p:spPr>
          <a:xfrm>
            <a:off x="6327648" y="5952743"/>
            <a:ext cx="68580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10" b="0">
                <a:solidFill>
                  <a:srgbClr val="223042"/>
                </a:solidFill>
              </a:rPr>
              <a:t>ССОИ</a:t>
            </a:r>
          </a:p>
        </p:txBody>
      </p:sp>
      <p:sp>
        <p:nvSpPr>
          <p:cNvPr id="233" name="Rectangle 232"/>
          <p:cNvSpPr/>
          <p:nvPr/>
        </p:nvSpPr>
        <p:spPr>
          <a:xfrm>
            <a:off x="7077456" y="5961887"/>
            <a:ext cx="3410712" cy="91440"/>
          </a:xfrm>
          <a:prstGeom prst="rect">
            <a:avLst/>
          </a:prstGeom>
          <a:solidFill>
            <a:srgbClr val="E7EE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4" name="Rectangle 233"/>
          <p:cNvSpPr/>
          <p:nvPr/>
        </p:nvSpPr>
        <p:spPr>
          <a:xfrm>
            <a:off x="7077456" y="5961887"/>
            <a:ext cx="295251" cy="91440"/>
          </a:xfrm>
          <a:prstGeom prst="rect">
            <a:avLst/>
          </a:prstGeom>
          <a:solidFill>
            <a:srgbClr val="119D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5" name="TextBox 234"/>
          <p:cNvSpPr txBox="1"/>
          <p:nvPr/>
        </p:nvSpPr>
        <p:spPr>
          <a:xfrm>
            <a:off x="10579608" y="5911215"/>
            <a:ext cx="1069848" cy="1969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80" b="0">
                <a:solidFill>
                  <a:srgbClr val="223042"/>
                </a:solidFill>
              </a:rPr>
              <a:t>8,7% • 37,2 млн ₽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562356" y="4449620"/>
            <a:ext cx="315468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223042"/>
                </a:solidFill>
              </a:rPr>
              <a:t>Рентабельность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3653028" y="4449620"/>
            <a:ext cx="178308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>
                <a:solidFill>
                  <a:srgbClr val="223042"/>
                </a:solidFill>
              </a:rPr>
              <a:t>68 241 151 ₽</a:t>
            </a:r>
          </a:p>
        </p:txBody>
      </p:sp>
      <p:sp>
        <p:nvSpPr>
          <p:cNvPr id="180" name="TextBox 179"/>
          <p:cNvSpPr txBox="1"/>
          <p:nvPr/>
        </p:nvSpPr>
        <p:spPr>
          <a:xfrm>
            <a:off x="6373368" y="3970324"/>
            <a:ext cx="315468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223042"/>
                </a:solidFill>
              </a:rPr>
              <a:t>Рентабельность</a:t>
            </a:r>
          </a:p>
        </p:txBody>
      </p:sp>
      <p:sp>
        <p:nvSpPr>
          <p:cNvPr id="181" name="TextBox 180"/>
          <p:cNvSpPr txBox="1"/>
          <p:nvPr/>
        </p:nvSpPr>
        <p:spPr>
          <a:xfrm>
            <a:off x="9299447" y="3970324"/>
            <a:ext cx="178308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>
                <a:solidFill>
                  <a:srgbClr val="223042"/>
                </a:solidFill>
              </a:rPr>
              <a:t>52 835 999 ₽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5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274320"/>
          </a:xfrm>
          <a:prstGeom prst="rect">
            <a:avLst/>
          </a:prstGeom>
          <a:solidFill>
            <a:srgbClr val="123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"/>
            <a:ext cx="53035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FFFFFF"/>
                </a:solidFill>
              </a:rPr>
              <a:t>Кутузовский 32 • ИТСО • все цены приведены с НДС 22%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438912"/>
            <a:ext cx="4057777" cy="42319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ru-RU" sz="2150" b="1">
                <a:solidFill>
                  <a:srgbClr val="12345B"/>
                </a:solidFill>
              </a:rPr>
              <a:t>График</a:t>
            </a:r>
            <a:r>
              <a:rPr sz="2150" b="1">
                <a:solidFill>
                  <a:srgbClr val="12345B"/>
                </a:solidFill>
              </a:rPr>
              <a:t> </a:t>
            </a:r>
            <a:r>
              <a:rPr lang="ru-RU" sz="2150" b="1">
                <a:solidFill>
                  <a:srgbClr val="12345B"/>
                </a:solidFill>
              </a:rPr>
              <a:t>реализации проекта</a:t>
            </a:r>
            <a:endParaRPr sz="2150" b="1">
              <a:solidFill>
                <a:srgbClr val="12345B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85800" y="804672"/>
            <a:ext cx="6277809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ru-RU" sz="1400">
                <a:solidFill>
                  <a:srgbClr val="5F6D84"/>
                </a:solidFill>
              </a:rPr>
              <a:t>Ориентир по срокам</a:t>
            </a:r>
            <a:r>
              <a:rPr sz="1400">
                <a:solidFill>
                  <a:srgbClr val="5F6D84"/>
                </a:solidFill>
              </a:rPr>
              <a:t>:</a:t>
            </a:r>
            <a:r>
              <a:rPr lang="ru-RU" sz="1400">
                <a:solidFill>
                  <a:srgbClr val="5F6D84"/>
                </a:solidFill>
              </a:rPr>
              <a:t> проектирование</a:t>
            </a:r>
            <a:r>
              <a:rPr sz="1400">
                <a:solidFill>
                  <a:srgbClr val="5F6D84"/>
                </a:solidFill>
              </a:rPr>
              <a:t>,</a:t>
            </a:r>
            <a:r>
              <a:rPr lang="ru-RU" sz="1400">
                <a:solidFill>
                  <a:srgbClr val="5F6D84"/>
                </a:solidFill>
              </a:rPr>
              <a:t> поставка</a:t>
            </a:r>
            <a:r>
              <a:rPr sz="1400">
                <a:solidFill>
                  <a:srgbClr val="5F6D84"/>
                </a:solidFill>
              </a:rPr>
              <a:t>, СМР, ПНР и</a:t>
            </a:r>
            <a:r>
              <a:rPr lang="ru-RU" sz="1400">
                <a:solidFill>
                  <a:srgbClr val="5F6D84"/>
                </a:solidFill>
              </a:rPr>
              <a:t> интеграция</a:t>
            </a:r>
            <a:endParaRPr sz="1400">
              <a:solidFill>
                <a:srgbClr val="5F6D84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12064" y="1133856"/>
            <a:ext cx="11228832" cy="18288"/>
          </a:xfrm>
          <a:prstGeom prst="rect">
            <a:avLst/>
          </a:prstGeom>
          <a:solidFill>
            <a:srgbClr val="0F9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42560" y="1450412"/>
            <a:ext cx="9129455" cy="4608576"/>
          </a:xfrm>
          <a:prstGeom prst="roundRect">
            <a:avLst>
              <a:gd name="adj" fmla="val 8000"/>
            </a:avLst>
          </a:prstGeom>
          <a:solidFill>
            <a:srgbClr val="FBFCFE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3035808" y="1783080"/>
            <a:ext cx="777240" cy="329184"/>
          </a:xfrm>
          <a:prstGeom prst="roundRect">
            <a:avLst>
              <a:gd name="adj" fmla="val 12000"/>
            </a:avLst>
          </a:prstGeom>
          <a:solidFill>
            <a:srgbClr val="EE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035808" y="1828800"/>
            <a:ext cx="77724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50" b="1">
                <a:solidFill>
                  <a:srgbClr val="12345B"/>
                </a:solidFill>
              </a:rPr>
              <a:t>M1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941063" y="1783080"/>
            <a:ext cx="777240" cy="329184"/>
          </a:xfrm>
          <a:prstGeom prst="roundRect">
            <a:avLst>
              <a:gd name="adj" fmla="val 12000"/>
            </a:avLst>
          </a:prstGeom>
          <a:solidFill>
            <a:srgbClr val="EE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941063" y="1828800"/>
            <a:ext cx="77724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50" b="1">
                <a:solidFill>
                  <a:srgbClr val="12345B"/>
                </a:solidFill>
              </a:rPr>
              <a:t>M2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46320" y="1783080"/>
            <a:ext cx="777240" cy="329184"/>
          </a:xfrm>
          <a:prstGeom prst="roundRect">
            <a:avLst>
              <a:gd name="adj" fmla="val 12000"/>
            </a:avLst>
          </a:prstGeom>
          <a:solidFill>
            <a:srgbClr val="EE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846320" y="1828800"/>
            <a:ext cx="77724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50" b="1">
                <a:solidFill>
                  <a:srgbClr val="12345B"/>
                </a:solidFill>
              </a:rPr>
              <a:t>M3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751575" y="1783080"/>
            <a:ext cx="777240" cy="329184"/>
          </a:xfrm>
          <a:prstGeom prst="roundRect">
            <a:avLst>
              <a:gd name="adj" fmla="val 12000"/>
            </a:avLst>
          </a:prstGeom>
          <a:solidFill>
            <a:srgbClr val="EE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751575" y="1828800"/>
            <a:ext cx="77724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50" b="1">
                <a:solidFill>
                  <a:srgbClr val="12345B"/>
                </a:solidFill>
              </a:rPr>
              <a:t>M4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656831" y="1783080"/>
            <a:ext cx="777240" cy="329184"/>
          </a:xfrm>
          <a:prstGeom prst="roundRect">
            <a:avLst>
              <a:gd name="adj" fmla="val 12000"/>
            </a:avLst>
          </a:prstGeom>
          <a:solidFill>
            <a:srgbClr val="EE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656831" y="1828800"/>
            <a:ext cx="77724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50" b="1">
                <a:solidFill>
                  <a:srgbClr val="12345B"/>
                </a:solidFill>
              </a:rPr>
              <a:t>M5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562088" y="1783080"/>
            <a:ext cx="777240" cy="329184"/>
          </a:xfrm>
          <a:prstGeom prst="roundRect">
            <a:avLst>
              <a:gd name="adj" fmla="val 12000"/>
            </a:avLst>
          </a:prstGeom>
          <a:solidFill>
            <a:srgbClr val="EE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562088" y="1828800"/>
            <a:ext cx="77724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50" b="1">
                <a:solidFill>
                  <a:srgbClr val="12345B"/>
                </a:solidFill>
              </a:rPr>
              <a:t>M6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467344" y="1783080"/>
            <a:ext cx="777240" cy="329184"/>
          </a:xfrm>
          <a:prstGeom prst="roundRect">
            <a:avLst>
              <a:gd name="adj" fmla="val 12000"/>
            </a:avLst>
          </a:prstGeom>
          <a:solidFill>
            <a:srgbClr val="EE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467344" y="1828800"/>
            <a:ext cx="77724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50" b="1">
                <a:solidFill>
                  <a:srgbClr val="12345B"/>
                </a:solidFill>
              </a:rPr>
              <a:t>M7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9335" y="2423160"/>
            <a:ext cx="1665071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ru-RU" sz="1400" b="1">
                <a:solidFill>
                  <a:srgbClr val="2D3A4F"/>
                </a:solidFill>
              </a:rPr>
              <a:t>Проектирование</a:t>
            </a:r>
            <a:endParaRPr sz="1400" b="1">
              <a:solidFill>
                <a:srgbClr val="2D3A4F"/>
              </a:solidFill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3035808" y="2423160"/>
            <a:ext cx="6172200" cy="365760"/>
          </a:xfrm>
          <a:prstGeom prst="roundRect">
            <a:avLst>
              <a:gd name="adj" fmla="val 12000"/>
            </a:avLst>
          </a:prstGeom>
          <a:solidFill>
            <a:srgbClr val="EE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3035808" y="2423160"/>
            <a:ext cx="2587751" cy="365760"/>
          </a:xfrm>
          <a:prstGeom prst="roundRect">
            <a:avLst>
              <a:gd name="adj" fmla="val 12000"/>
            </a:avLst>
          </a:prstGeom>
          <a:solidFill>
            <a:srgbClr val="EF9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32352" y="3059908"/>
            <a:ext cx="1987275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ru-RU" sz="1400" b="1">
                <a:solidFill>
                  <a:srgbClr val="2D3A4F"/>
                </a:solidFill>
              </a:rPr>
              <a:t>Закупка</a:t>
            </a:r>
            <a:r>
              <a:rPr sz="1400" b="1">
                <a:solidFill>
                  <a:srgbClr val="2D3A4F"/>
                </a:solidFill>
              </a:rPr>
              <a:t> и</a:t>
            </a:r>
            <a:r>
              <a:rPr lang="ru-RU" sz="1400" b="1">
                <a:solidFill>
                  <a:srgbClr val="2D3A4F"/>
                </a:solidFill>
              </a:rPr>
              <a:t> логистика</a:t>
            </a:r>
            <a:endParaRPr sz="1400" b="1">
              <a:solidFill>
                <a:srgbClr val="2D3A4F"/>
              </a:solidFill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3035808" y="3081528"/>
            <a:ext cx="6172200" cy="365760"/>
          </a:xfrm>
          <a:prstGeom prst="roundRect">
            <a:avLst>
              <a:gd name="adj" fmla="val 12000"/>
            </a:avLst>
          </a:prstGeom>
          <a:solidFill>
            <a:srgbClr val="EE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3035808" y="3081528"/>
            <a:ext cx="1682495" cy="365760"/>
          </a:xfrm>
          <a:prstGeom prst="roundRect">
            <a:avLst>
              <a:gd name="adj" fmla="val 12000"/>
            </a:avLst>
          </a:prstGeom>
          <a:solidFill>
            <a:srgbClr val="6D4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35308" y="3650061"/>
            <a:ext cx="2341923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ru-RU" sz="1400" b="1">
                <a:solidFill>
                  <a:srgbClr val="2D3A4F"/>
                </a:solidFill>
              </a:rPr>
              <a:t>Поставка</a:t>
            </a:r>
            <a:r>
              <a:rPr sz="1400" b="1">
                <a:solidFill>
                  <a:srgbClr val="2D3A4F"/>
                </a:solidFill>
              </a:rPr>
              <a:t> оборудования</a:t>
            </a:r>
            <a:endParaRPr lang="ru-RU" sz="1400" b="1">
              <a:solidFill>
                <a:srgbClr val="2D3A4F"/>
              </a:solidFill>
            </a:endParaRPr>
          </a:p>
          <a:p>
            <a:r>
              <a:rPr lang="ru-RU" sz="1400" b="1">
                <a:solidFill>
                  <a:srgbClr val="2D3A4F"/>
                </a:solidFill>
              </a:rPr>
              <a:t>и материалов</a:t>
            </a:r>
            <a:endParaRPr sz="1400" b="1">
              <a:solidFill>
                <a:srgbClr val="2D3A4F"/>
              </a:solidFill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3035808" y="3739896"/>
            <a:ext cx="6172200" cy="365760"/>
          </a:xfrm>
          <a:prstGeom prst="roundRect">
            <a:avLst>
              <a:gd name="adj" fmla="val 12000"/>
            </a:avLst>
          </a:prstGeom>
          <a:solidFill>
            <a:srgbClr val="EE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3941063" y="3739896"/>
            <a:ext cx="3493008" cy="365760"/>
          </a:xfrm>
          <a:prstGeom prst="roundRect">
            <a:avLst>
              <a:gd name="adj" fmla="val 12000"/>
            </a:avLst>
          </a:prstGeom>
          <a:solidFill>
            <a:srgbClr val="0F9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32352" y="4315982"/>
            <a:ext cx="1925079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ru-RU" sz="1400" b="1">
                <a:solidFill>
                  <a:srgbClr val="2D3A4F"/>
                </a:solidFill>
              </a:rPr>
              <a:t>Строительно-</a:t>
            </a:r>
          </a:p>
          <a:p>
            <a:r>
              <a:rPr lang="ru-RU" sz="1400" b="1">
                <a:solidFill>
                  <a:srgbClr val="2D3A4F"/>
                </a:solidFill>
              </a:rPr>
              <a:t>монтажные работы</a:t>
            </a:r>
            <a:endParaRPr sz="1400" b="1">
              <a:solidFill>
                <a:srgbClr val="2D3A4F"/>
              </a:solidFill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3035808" y="4398264"/>
            <a:ext cx="6172200" cy="365760"/>
          </a:xfrm>
          <a:prstGeom prst="roundRect">
            <a:avLst>
              <a:gd name="adj" fmla="val 12000"/>
            </a:avLst>
          </a:prstGeom>
          <a:solidFill>
            <a:srgbClr val="EE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4846320" y="4398264"/>
            <a:ext cx="3040379" cy="365760"/>
          </a:xfrm>
          <a:prstGeom prst="roundRect">
            <a:avLst>
              <a:gd name="adj" fmla="val 12000"/>
            </a:avLst>
          </a:prstGeom>
          <a:solidFill>
            <a:srgbClr val="2B7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32352" y="4950892"/>
            <a:ext cx="2526846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ru-RU" sz="1400" b="1">
                <a:solidFill>
                  <a:srgbClr val="2D3A4F"/>
                </a:solidFill>
              </a:rPr>
              <a:t>Пусконаладочные работы</a:t>
            </a:r>
          </a:p>
          <a:p>
            <a:r>
              <a:rPr lang="ru-RU" sz="1400" b="1">
                <a:solidFill>
                  <a:srgbClr val="2D3A4F"/>
                </a:solidFill>
              </a:rPr>
              <a:t>и интеграция</a:t>
            </a:r>
            <a:endParaRPr sz="1400" b="1">
              <a:solidFill>
                <a:srgbClr val="2D3A4F"/>
              </a:solidFill>
            </a:endParaRPr>
          </a:p>
        </p:txBody>
      </p:sp>
      <p:sp>
        <p:nvSpPr>
          <p:cNvPr id="35" name="Rounded Rectangle 34"/>
          <p:cNvSpPr/>
          <p:nvPr/>
        </p:nvSpPr>
        <p:spPr>
          <a:xfrm>
            <a:off x="3035808" y="5056631"/>
            <a:ext cx="6172200" cy="365760"/>
          </a:xfrm>
          <a:prstGeom prst="roundRect">
            <a:avLst>
              <a:gd name="adj" fmla="val 12000"/>
            </a:avLst>
          </a:prstGeom>
          <a:solidFill>
            <a:srgbClr val="EE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ounded Rectangle 35"/>
          <p:cNvSpPr/>
          <p:nvPr/>
        </p:nvSpPr>
        <p:spPr>
          <a:xfrm>
            <a:off x="7562088" y="5056631"/>
            <a:ext cx="1682495" cy="365760"/>
          </a:xfrm>
          <a:prstGeom prst="roundRect">
            <a:avLst>
              <a:gd name="adj" fmla="val 12000"/>
            </a:avLst>
          </a:prstGeom>
          <a:solidFill>
            <a:srgbClr val="2592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6515136" y="5857814"/>
            <a:ext cx="2677668" cy="338326"/>
          </a:xfrm>
          <a:prstGeom prst="roundRect">
            <a:avLst>
              <a:gd name="adj" fmla="val 12000"/>
            </a:avLst>
          </a:prstGeom>
          <a:solidFill>
            <a:srgbClr val="167F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589848" y="5874579"/>
            <a:ext cx="2528257" cy="269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ru-RU" sz="1150" b="1">
                <a:solidFill>
                  <a:srgbClr val="FFFFFF"/>
                </a:solidFill>
              </a:rPr>
              <a:t>Готовность к сдаче – 7 месяцев</a:t>
            </a:r>
            <a:endParaRPr sz="1150" b="1">
              <a:solidFill>
                <a:srgbClr val="FFFFFF"/>
              </a:solidFill>
            </a:endParaRPr>
          </a:p>
        </p:txBody>
      </p:sp>
      <p:sp>
        <p:nvSpPr>
          <p:cNvPr id="39" name="Rounded Rectangle 38"/>
          <p:cNvSpPr/>
          <p:nvPr/>
        </p:nvSpPr>
        <p:spPr>
          <a:xfrm>
            <a:off x="9436607" y="1444752"/>
            <a:ext cx="2642181" cy="187451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9601200" y="1664208"/>
            <a:ext cx="1828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2345B"/>
                </a:solidFill>
              </a:rPr>
              <a:t>Силы и средства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601200" y="1975104"/>
            <a:ext cx="2477588" cy="9278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019">
                <a:solidFill>
                  <a:srgbClr val="243248"/>
                </a:solidFill>
              </a:defRPr>
            </a:pPr>
            <a:r>
              <a:t>СМР — 4 </a:t>
            </a:r>
            <a:r>
              <a:rPr lang="ru-RU"/>
              <a:t>бригады</a:t>
            </a:r>
            <a:r>
              <a:t> по 5 </a:t>
            </a:r>
            <a:r>
              <a:rPr lang="ru-RU"/>
              <a:t>чел</a:t>
            </a:r>
            <a:r>
              <a:t>. + 2 ИТР</a:t>
            </a:r>
          </a:p>
          <a:p>
            <a:pPr>
              <a:spcAft>
                <a:spcPts val="100"/>
              </a:spcAft>
              <a:defRPr sz="1019">
                <a:solidFill>
                  <a:srgbClr val="243248"/>
                </a:solidFill>
              </a:defRPr>
            </a:pPr>
            <a:r>
              <a:rPr lang="ru-RU"/>
              <a:t>Ориентир для </a:t>
            </a:r>
            <a:r>
              <a:t>СМР: 22 </a:t>
            </a:r>
            <a:r>
              <a:rPr lang="ru-RU"/>
              <a:t>чел</a:t>
            </a:r>
            <a:r>
              <a:t>.</a:t>
            </a:r>
            <a:endParaRPr lang="ru-RU"/>
          </a:p>
          <a:p>
            <a:pPr>
              <a:spcAft>
                <a:spcPts val="100"/>
              </a:spcAft>
              <a:defRPr sz="1019">
                <a:solidFill>
                  <a:srgbClr val="243248"/>
                </a:solidFill>
              </a:defRPr>
            </a:pPr>
            <a:endParaRPr/>
          </a:p>
          <a:p>
            <a:pPr>
              <a:spcAft>
                <a:spcPts val="100"/>
              </a:spcAft>
              <a:defRPr sz="1019">
                <a:solidFill>
                  <a:srgbClr val="243248"/>
                </a:solidFill>
              </a:defRPr>
            </a:pPr>
            <a:r>
              <a:t>ПНР — 5 </a:t>
            </a:r>
            <a:r>
              <a:rPr lang="ru-RU"/>
              <a:t>инженеров </a:t>
            </a:r>
            <a:r>
              <a:t>+ 1 </a:t>
            </a:r>
            <a:r>
              <a:rPr lang="ru-RU"/>
              <a:t>интегратор</a:t>
            </a:r>
            <a:endParaRPr/>
          </a:p>
          <a:p>
            <a:pPr>
              <a:spcAft>
                <a:spcPts val="100"/>
              </a:spcAft>
              <a:defRPr sz="1019">
                <a:solidFill>
                  <a:srgbClr val="243248"/>
                </a:solidFill>
              </a:defRPr>
            </a:pPr>
            <a:r>
              <a:rPr lang="ru-RU"/>
              <a:t>Ориентир для </a:t>
            </a:r>
            <a:r>
              <a:t>ПНР: 6 </a:t>
            </a:r>
            <a:r>
              <a:rPr lang="ru-RU"/>
              <a:t>чел</a:t>
            </a:r>
            <a:r>
              <a:t>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436608" y="3529584"/>
            <a:ext cx="2642180" cy="17556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9601200" y="3749039"/>
            <a:ext cx="1828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2345B"/>
                </a:solidFill>
              </a:rPr>
              <a:t>Ключевые этапы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601200" y="4041648"/>
            <a:ext cx="2642180" cy="9130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200"/>
              </a:spcAft>
              <a:defRPr sz="1000">
                <a:solidFill>
                  <a:srgbClr val="5F6D84"/>
                </a:solidFill>
              </a:defRPr>
            </a:pPr>
            <a:r>
              <a:rPr lang="ru-RU"/>
              <a:t>Проектирование</a:t>
            </a:r>
            <a:r>
              <a:t> — 3</a:t>
            </a:r>
            <a:r>
              <a:rPr lang="ru-RU"/>
              <a:t> месяца</a:t>
            </a:r>
            <a:r>
              <a:t>.</a:t>
            </a:r>
            <a:endParaRPr lang="ru-RU"/>
          </a:p>
          <a:p>
            <a:pPr>
              <a:lnSpc>
                <a:spcPct val="150000"/>
              </a:lnSpc>
              <a:spcAft>
                <a:spcPts val="200"/>
              </a:spcAft>
              <a:defRPr sz="1000">
                <a:solidFill>
                  <a:srgbClr val="5F6D84"/>
                </a:solidFill>
              </a:defRPr>
            </a:pPr>
            <a:r>
              <a:rPr lang="ru-RU"/>
              <a:t>Поставка стартует со </a:t>
            </a:r>
            <a:r>
              <a:t>2-го</a:t>
            </a:r>
            <a:r>
              <a:rPr lang="ru-RU"/>
              <a:t> месяца</a:t>
            </a:r>
            <a:r>
              <a:t>.</a:t>
            </a:r>
            <a:endParaRPr lang="ru-RU"/>
          </a:p>
          <a:p>
            <a:pPr>
              <a:spcAft>
                <a:spcPts val="200"/>
              </a:spcAft>
              <a:defRPr sz="1000">
                <a:solidFill>
                  <a:srgbClr val="5F6D84"/>
                </a:solidFill>
              </a:defRPr>
            </a:pPr>
            <a:r>
              <a:t>ПНР </a:t>
            </a:r>
            <a:r>
              <a:rPr lang="ru-RU"/>
              <a:t>начинается после готовности ядра </a:t>
            </a:r>
            <a:r>
              <a:t>и </a:t>
            </a:r>
            <a:r>
              <a:rPr lang="ru-RU"/>
              <a:t>полевого уровня</a:t>
            </a:r>
            <a:r>
              <a:t>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58368" y="6492240"/>
            <a:ext cx="420624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>
                <a:solidFill>
                  <a:srgbClr val="5F6D84"/>
                </a:solidFill>
              </a:rPr>
              <a:t>Кутузовский 32 • ИТСО • все цены приведены с НДС 22%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476441" y="6473952"/>
            <a:ext cx="319319" cy="2385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lang="ru-RU" sz="950">
                <a:solidFill>
                  <a:srgbClr val="5F6D84"/>
                </a:solidFill>
              </a:rPr>
              <a:t>10</a:t>
            </a:r>
            <a:endParaRPr sz="950">
              <a:solidFill>
                <a:srgbClr val="5F6D84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23A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84048" y="310896"/>
            <a:ext cx="8138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50" b="1">
                <a:solidFill>
                  <a:srgbClr val="223042"/>
                </a:solidFill>
              </a:rPr>
              <a:t>Допущения при расчетах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630936"/>
            <a:ext cx="111556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80" b="0">
                <a:solidFill>
                  <a:srgbClr val="667789"/>
                </a:solidFill>
              </a:rPr>
              <a:t>Расчет выполнен при ограниченном наборе исходных данных; значения являются предварительной финансовой моделью.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868680"/>
            <a:ext cx="11292840" cy="18288"/>
          </a:xfrm>
          <a:prstGeom prst="rect">
            <a:avLst/>
          </a:prstGeom>
          <a:solidFill>
            <a:srgbClr val="2C7F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219076" y="1005840"/>
            <a:ext cx="6520052" cy="5504688"/>
          </a:xfrm>
          <a:prstGeom prst="roundRect">
            <a:avLst/>
          </a:prstGeom>
          <a:solidFill>
            <a:srgbClr val="FFFFFF"/>
          </a:solidFill>
          <a:ln>
            <a:solidFill>
              <a:srgbClr val="D8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7172" y="1171416"/>
            <a:ext cx="58521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>
                <a:solidFill>
                  <a:srgbClr val="223042"/>
                </a:solidFill>
              </a:rPr>
              <a:t>Принятые допущения и логика оценки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1" y="1720840"/>
            <a:ext cx="5995721" cy="48167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1">
                <a:solidFill>
                  <a:srgbClr val="223042"/>
                </a:solidFill>
              </a:rPr>
              <a:t>Исходные данные</a:t>
            </a:r>
            <a:endParaRPr lang="ru-RU" sz="1400" b="1" i="1">
              <a:solidFill>
                <a:srgbClr val="223042"/>
              </a:solidFill>
            </a:endParaRPr>
          </a:p>
          <a:p>
            <a:pPr algn="l"/>
            <a:endParaRPr sz="1200" b="1" i="1">
              <a:solidFill>
                <a:srgbClr val="223042"/>
              </a:solidFill>
            </a:endParaRPr>
          </a:p>
          <a:p>
            <a:pPr algn="l"/>
            <a:r>
              <a:rPr sz="1200" b="0">
                <a:solidFill>
                  <a:srgbClr val="223042"/>
                </a:solidFill>
              </a:rPr>
              <a:t>• Расчет выполнен на стадии предварительной бюджетной оценки, без полного комплекта РД и детальных спецификаций.</a:t>
            </a:r>
            <a:endParaRPr lang="ru-RU" sz="1200" b="0">
              <a:solidFill>
                <a:srgbClr val="223042"/>
              </a:solidFill>
            </a:endParaRPr>
          </a:p>
          <a:p>
            <a:pPr algn="l"/>
            <a:endParaRPr sz="1200" b="0">
              <a:solidFill>
                <a:srgbClr val="223042"/>
              </a:solidFill>
            </a:endParaRPr>
          </a:p>
          <a:p>
            <a:pPr algn="l"/>
            <a:r>
              <a:rPr sz="1200" b="0">
                <a:solidFill>
                  <a:srgbClr val="223042"/>
                </a:solidFill>
              </a:rPr>
              <a:t>• Объемы приняты по защищаемой площади 120 804 м², этажности объекта и укрупненным показателям по аналогичным объектам.</a:t>
            </a:r>
          </a:p>
          <a:p>
            <a:pPr algn="l"/>
            <a:endParaRPr lang="ru-RU" sz="900" b="1" i="1">
              <a:solidFill>
                <a:srgbClr val="223042"/>
              </a:solidFill>
            </a:endParaRPr>
          </a:p>
          <a:p>
            <a:pPr algn="l"/>
            <a:endParaRPr sz="900" b="1" i="1">
              <a:solidFill>
                <a:srgbClr val="223042"/>
              </a:solidFill>
            </a:endParaRPr>
          </a:p>
          <a:p>
            <a:pPr algn="l"/>
            <a:r>
              <a:rPr sz="1400" b="1" i="1">
                <a:solidFill>
                  <a:srgbClr val="223042"/>
                </a:solidFill>
              </a:rPr>
              <a:t>Как считалось количество оборудования</a:t>
            </a:r>
            <a:endParaRPr lang="ru-RU" sz="1400" b="1" i="1">
              <a:solidFill>
                <a:srgbClr val="223042"/>
              </a:solidFill>
            </a:endParaRPr>
          </a:p>
          <a:p>
            <a:pPr algn="l"/>
            <a:endParaRPr sz="1200" b="1" i="1">
              <a:solidFill>
                <a:srgbClr val="223042"/>
              </a:solidFill>
            </a:endParaRPr>
          </a:p>
          <a:p>
            <a:pPr algn="l"/>
            <a:r>
              <a:rPr sz="1200" b="0">
                <a:solidFill>
                  <a:srgbClr val="223042"/>
                </a:solidFill>
              </a:rPr>
              <a:t>• СОТС — по защищаемой площади, внутренним зонам, периметру и трем рубежам охраны.</a:t>
            </a:r>
            <a:endParaRPr lang="ru-RU" sz="1200" b="0">
              <a:solidFill>
                <a:srgbClr val="223042"/>
              </a:solidFill>
            </a:endParaRPr>
          </a:p>
          <a:p>
            <a:pPr algn="l"/>
            <a:endParaRPr sz="1200" b="0">
              <a:solidFill>
                <a:srgbClr val="223042"/>
              </a:solidFill>
            </a:endParaRPr>
          </a:p>
          <a:p>
            <a:pPr algn="l"/>
            <a:r>
              <a:rPr sz="1200" b="0">
                <a:solidFill>
                  <a:srgbClr val="223042"/>
                </a:solidFill>
              </a:rPr>
              <a:t>• СКУД — по 575 точкам прохода, турникетным группам, контроллерам и периферии дверных узлов.</a:t>
            </a:r>
            <a:endParaRPr lang="ru-RU" sz="1200" b="0">
              <a:solidFill>
                <a:srgbClr val="223042"/>
              </a:solidFill>
            </a:endParaRPr>
          </a:p>
          <a:p>
            <a:pPr algn="l"/>
            <a:endParaRPr sz="1200" b="0">
              <a:solidFill>
                <a:srgbClr val="223042"/>
              </a:solidFill>
            </a:endParaRPr>
          </a:p>
          <a:p>
            <a:pPr algn="l"/>
            <a:r>
              <a:rPr sz="1200" b="0">
                <a:solidFill>
                  <a:srgbClr val="223042"/>
                </a:solidFill>
              </a:rPr>
              <a:t>• ТСВ — по 890 видеокамерам с разделением на стандартные и специальные точки наблюдения.</a:t>
            </a:r>
            <a:endParaRPr lang="ru-RU" sz="1200" b="0">
              <a:solidFill>
                <a:srgbClr val="223042"/>
              </a:solidFill>
            </a:endParaRPr>
          </a:p>
          <a:p>
            <a:pPr algn="l"/>
            <a:endParaRPr sz="1200" b="0">
              <a:solidFill>
                <a:srgbClr val="223042"/>
              </a:solidFill>
            </a:endParaRPr>
          </a:p>
          <a:p>
            <a:pPr algn="l"/>
            <a:r>
              <a:rPr sz="1200" b="0">
                <a:solidFill>
                  <a:srgbClr val="223042"/>
                </a:solidFill>
              </a:rPr>
              <a:t>• КНС — по агрегированной длине трасс: лоток 12 000 м, гофра 45 000 м, общий трассовый фонд 90 000 м.</a:t>
            </a:r>
            <a:endParaRPr lang="ru-RU" sz="1200" b="0">
              <a:solidFill>
                <a:srgbClr val="223042"/>
              </a:solidFill>
            </a:endParaRPr>
          </a:p>
          <a:p>
            <a:pPr algn="l"/>
            <a:endParaRPr sz="1200" b="0">
              <a:solidFill>
                <a:srgbClr val="223042"/>
              </a:solidFill>
            </a:endParaRPr>
          </a:p>
          <a:p>
            <a:pPr algn="l"/>
            <a:r>
              <a:rPr sz="1200" b="0">
                <a:solidFill>
                  <a:srgbClr val="223042"/>
                </a:solidFill>
              </a:rPr>
              <a:t>• ССОИ — по ядру сети, серверной части, 4 интеграционным контурам и резерву по активному оборудованию.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22008" y="1005840"/>
            <a:ext cx="4873752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D8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040879" y="1047520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sz="1200" b="1">
                <a:solidFill>
                  <a:srgbClr val="223042"/>
                </a:solidFill>
              </a:defRPr>
            </a:lvl1pPr>
          </a:lstStyle>
          <a:p>
            <a:r>
              <a:rPr sz="1800"/>
              <a:t>Принятые условия работ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68312" y="1417320"/>
            <a:ext cx="452628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3042"/>
                </a:solidFill>
              </a:rPr>
              <a:t>• Скрытая прокладка инженерных коммуникаций в действующем здании.</a:t>
            </a:r>
          </a:p>
          <a:p>
            <a:pPr algn="l"/>
            <a:r>
              <a:rPr sz="1200" b="0">
                <a:solidFill>
                  <a:srgbClr val="223042"/>
                </a:solidFill>
              </a:rPr>
              <a:t>• Ограничения доступа, ночные окна и частичное выполнение работ в выходные.</a:t>
            </a:r>
          </a:p>
          <a:p>
            <a:pPr algn="l"/>
            <a:r>
              <a:rPr sz="1200" b="0">
                <a:solidFill>
                  <a:srgbClr val="223042"/>
                </a:solidFill>
              </a:rPr>
              <a:t>• Для СКУД технология прокладки и сложность работ приняты на уровне СОТС.</a:t>
            </a:r>
          </a:p>
          <a:p>
            <a:pPr algn="l"/>
            <a:r>
              <a:rPr sz="1200" b="0">
                <a:solidFill>
                  <a:srgbClr val="223042"/>
                </a:solidFill>
              </a:rPr>
              <a:t>• Для ССОИ учтен запас по коммутаторам и настройка единого контура управления.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922008" y="3337560"/>
            <a:ext cx="4873752" cy="2743200"/>
          </a:xfrm>
          <a:prstGeom prst="roundRect">
            <a:avLst/>
          </a:prstGeom>
          <a:solidFill>
            <a:srgbClr val="FFFFFF"/>
          </a:solidFill>
          <a:ln>
            <a:solidFill>
              <a:srgbClr val="D8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050403" y="3413700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sz="1200" b="1">
                <a:solidFill>
                  <a:srgbClr val="223042"/>
                </a:solidFill>
              </a:defRPr>
            </a:lvl1pPr>
          </a:lstStyle>
          <a:p>
            <a:r>
              <a:rPr sz="1800"/>
              <a:t>Факторы возможного удорожания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68312" y="3749039"/>
            <a:ext cx="452628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3042"/>
                </a:solidFill>
              </a:rPr>
              <a:t>• Уточнение архитектуры и количества конечных устройств после обследования.</a:t>
            </a:r>
          </a:p>
          <a:p>
            <a:pPr algn="l"/>
            <a:r>
              <a:rPr sz="1200" b="0">
                <a:solidFill>
                  <a:srgbClr val="223042"/>
                </a:solidFill>
              </a:rPr>
              <a:t>• Рост доли скрытых, высотных и ночных работ, а также увеличение </a:t>
            </a:r>
            <a:r>
              <a:rPr lang="ru-RU" sz="1200" b="0">
                <a:solidFill>
                  <a:srgbClr val="223042"/>
                </a:solidFill>
              </a:rPr>
              <a:t>"</a:t>
            </a:r>
            <a:r>
              <a:rPr sz="1200" b="0">
                <a:solidFill>
                  <a:srgbClr val="223042"/>
                </a:solidFill>
              </a:rPr>
              <a:t>окон</a:t>
            </a:r>
            <a:r>
              <a:rPr lang="ru-RU" sz="1200" b="0">
                <a:solidFill>
                  <a:srgbClr val="223042"/>
                </a:solidFill>
              </a:rPr>
              <a:t>"</a:t>
            </a:r>
            <a:r>
              <a:rPr sz="1200" b="0">
                <a:solidFill>
                  <a:srgbClr val="223042"/>
                </a:solidFill>
              </a:rPr>
              <a:t> в выходные.</a:t>
            </a:r>
          </a:p>
          <a:p>
            <a:pPr algn="l"/>
            <a:r>
              <a:rPr sz="1200" b="0">
                <a:solidFill>
                  <a:srgbClr val="223042"/>
                </a:solidFill>
              </a:rPr>
              <a:t>• Усложнение проходок, огнезащиты, креплений и межэтажных переходов по КНС.</a:t>
            </a:r>
          </a:p>
          <a:p>
            <a:pPr algn="l"/>
            <a:r>
              <a:rPr sz="1200" b="0">
                <a:solidFill>
                  <a:srgbClr val="223042"/>
                </a:solidFill>
              </a:rPr>
              <a:t>• Расширение аналитики ТСВ, увеличение глубины архива, изменение серверного и сетевого ядра.</a:t>
            </a:r>
          </a:p>
          <a:p>
            <a:pPr algn="l"/>
            <a:r>
              <a:rPr sz="1200" b="0">
                <a:solidFill>
                  <a:srgbClr val="223042"/>
                </a:solidFill>
              </a:rPr>
              <a:t>• Замена вендоров, колебание рыночных цен, сроки поставки и требования к резервированию.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4048" y="6510528"/>
            <a:ext cx="758952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67789"/>
                </a:solidFill>
              </a:rPr>
              <a:t>Кутузовский 32 • ИТСО • все цены приведены с НДС 22%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612879" y="6492240"/>
            <a:ext cx="360045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ru-RU" sz="800">
                <a:solidFill>
                  <a:srgbClr val="667789"/>
                </a:solidFill>
              </a:rPr>
              <a:t>11</a:t>
            </a:r>
            <a:endParaRPr sz="800" b="0">
              <a:solidFill>
                <a:srgbClr val="667789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153</TotalTime>
  <Words>2361</Words>
  <Application>Microsoft Office PowerPoint</Application>
  <PresentationFormat>Широкоэкранный</PresentationFormat>
  <Paragraphs>498</Paragraphs>
  <Slides>11</Slides>
  <Notes>9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4" baseType="lpstr">
      <vt:lpstr>Aptos</vt:lpstr>
      <vt:lpstr>Arial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Комплексные системы безопасности — Кутузовский 32</dc:title>
  <dc:subject>Кутузовский 32 — бюджет ИТСО</dc:subject>
  <dc:creator>OpenAI</dc:creator>
  <cp:lastModifiedBy>Тартаковский Александр Александрович</cp:lastModifiedBy>
  <cp:revision>29</cp:revision>
  <cp:lastPrinted>2026-03-19T11:08:02Z</cp:lastPrinted>
  <dcterms:created xsi:type="dcterms:W3CDTF">2026-03-18T14:04:17Z</dcterms:created>
  <dcterms:modified xsi:type="dcterms:W3CDTF">2026-03-19T11:40:42Z</dcterms:modified>
</cp:coreProperties>
</file>