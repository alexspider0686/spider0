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1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493776"/>
            <a:ext cx="233172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3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D4F7"/>
                </a:solidFill>
                <a:latin typeface="Aptos"/>
              </a:rPr>
              <a:t>AI-платформа для пресейла и ТКП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87552"/>
            <a:ext cx="4389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Project.Core™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5303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Сайт и платформа предварительной бюджетной оценки
систем безопасности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4983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3ECF5"/>
                </a:solidFill>
                <a:latin typeface="Aptos"/>
              </a:rPr>
              <a:t>Единый продукт для быстрого формирования бюджетной картины проекта, объяснения логики расчёта и подготовки коммерческого предложения.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785615"/>
            <a:ext cx="1892807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8A3D"/>
                </a:solidFill>
                <a:latin typeface="Aptos"/>
              </a:rPr>
              <a:t>6 подсистем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03704" y="3785615"/>
            <a:ext cx="178308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8A3D"/>
                </a:solidFill>
                <a:latin typeface="Aptos"/>
              </a:rPr>
              <a:t>5–10 минут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3785615"/>
            <a:ext cx="244144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8A3D"/>
                </a:solidFill>
                <a:latin typeface="Aptos"/>
              </a:rPr>
              <a:t>85+ субъектов РФ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0056" y="3785615"/>
            <a:ext cx="2002536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8A3D"/>
                </a:solidFill>
                <a:latin typeface="Aptos"/>
              </a:rPr>
              <a:t>AI-аудит цен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3785615"/>
            <a:ext cx="244144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8A3D"/>
                </a:solidFill>
                <a:latin typeface="Aptos"/>
              </a:rPr>
              <a:t>Сайт + платформа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11112" y="804672"/>
            <a:ext cx="4983480" cy="5413248"/>
          </a:xfrm>
          <a:prstGeom prst="round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37960" y="713232"/>
            <a:ext cx="4983480" cy="5413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ite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768096"/>
            <a:ext cx="4873752" cy="530352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647688" y="5687568"/>
            <a:ext cx="2606040" cy="274320"/>
          </a:xfrm>
          <a:prstGeom prst="round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Главная страница продукта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53328"/>
            <a:ext cx="4572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AADC2"/>
                </a:solidFill>
                <a:latin typeface="Aptos"/>
              </a:rPr>
              <a:t>Презентация по текущей версии разрабатываемого продукта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93776"/>
            <a:ext cx="5943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63D4F7"/>
                </a:solidFill>
                <a:latin typeface="Aptos"/>
              </a:rPr>
              <a:t>ПРОДУКТ В ОДНОМ КОНТУРЕ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5943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Project.Core™ объединяет публичный сайт и рабочую платформу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28216"/>
            <a:ext cx="5943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3ECF5"/>
                </a:solidFill>
                <a:latin typeface="Aptos"/>
              </a:rPr>
              <a:t>Сайт объясняет продукт и заводит пользователя в демо-контур. Платформа собирает объект, считает бюджет и формирует выходные материалы.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993392"/>
            <a:ext cx="4709160" cy="3090672"/>
          </a:xfrm>
          <a:prstGeom prst="roundRect">
            <a:avLst/>
          </a:prstGeom>
          <a:solidFill>
            <a:srgbClr val="0B1729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2062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3ECF5"/>
                </a:solidFill>
                <a:latin typeface="Aptos"/>
              </a:rPr>
              <a:t>• Публичный сайт: позиционирование, демонстрация преимуществ, legal-контур, вход в демо.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3ECF5"/>
                </a:solidFill>
                <a:latin typeface="Aptos"/>
              </a:rPr>
              <a:t>• Рабочая платформа: объект, зоны, системы, проектирование, бюджет, логика расчёта, AI-риски.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3ECF5"/>
                </a:solidFill>
                <a:latin typeface="Aptos"/>
              </a:rPr>
              <a:t>• Результат: быстрый бюджет по объекту, который можно защищать на переговорах.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3ECF5"/>
                </a:solidFill>
                <a:latin typeface="Aptos"/>
              </a:rPr>
              <a:t>• Дополнительные выходы: ТКП, план проекта, спецификации и выгрузки.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79592" y="1737360"/>
            <a:ext cx="5532120" cy="2907792"/>
          </a:xfrm>
          <a:prstGeom prst="round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806440" y="1645920"/>
            <a:ext cx="5532120" cy="2907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3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ite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303" y="1700784"/>
            <a:ext cx="5422392" cy="279806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916168" y="4114800"/>
            <a:ext cx="2606040" cy="274320"/>
          </a:xfrm>
          <a:prstGeom prst="round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Сайт продукта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4892040"/>
            <a:ext cx="1783080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3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34455" y="5038344"/>
            <a:ext cx="152704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4455" y="5404104"/>
            <a:ext cx="1527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3ECF5"/>
                </a:solidFill>
                <a:latin typeface="Aptos"/>
              </a:rPr>
              <a:t>систем в одном расчёте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99248" y="4892040"/>
            <a:ext cx="1783080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3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27264" y="5038344"/>
            <a:ext cx="152704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5–10 мин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7264" y="5404104"/>
            <a:ext cx="1527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3ECF5"/>
                </a:solidFill>
                <a:latin typeface="Aptos"/>
              </a:rPr>
              <a:t>среднее время оценки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92056" y="4892040"/>
            <a:ext cx="1783080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3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20072" y="5038344"/>
            <a:ext cx="152704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85+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0072" y="5404104"/>
            <a:ext cx="1527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3ECF5"/>
                </a:solidFill>
                <a:latin typeface="Aptos"/>
              </a:rPr>
              <a:t>субъектов РФ в модели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644652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9AADC2"/>
                </a:solidFill>
                <a:latin typeface="Aptos"/>
              </a:rPr>
              <a:t>Project.Core™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28232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9AADC2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si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93776"/>
            <a:ext cx="5394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63D4F7"/>
                </a:solidFill>
                <a:latin typeface="Aptos"/>
              </a:rPr>
              <a:t>ПУБЛИЧНЫЙ САЙТ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53949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Сайт показывает ценность продукта и переводит пользователя в платформу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28216"/>
            <a:ext cx="5394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3ECF5"/>
                </a:solidFill>
                <a:latin typeface="Aptos"/>
              </a:rPr>
              <a:t>Маркетинговый контур сделан не как одностраничная витрина, а как часть продуктовой системы: от позиционирования до юридически прозрачного доступа.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01952"/>
            <a:ext cx="4526280" cy="4023360"/>
          </a:xfrm>
          <a:prstGeom prst="roundRect">
            <a:avLst/>
          </a:prstGeom>
          <a:solidFill>
            <a:srgbClr val="0B1729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267712"/>
            <a:ext cx="3977639" cy="3063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3ECF5"/>
                </a:solidFill>
                <a:latin typeface="Aptos"/>
              </a:rPr>
              <a:t>• Главный экран с УТП, метриками и входом в расчёт.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3ECF5"/>
                </a:solidFill>
                <a:latin typeface="Aptos"/>
              </a:rPr>
              <a:t>• Блоки «Почему это работает», сравнение с альтернативами и объяснение AI-движка.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3ECF5"/>
                </a:solidFill>
                <a:latin typeface="Aptos"/>
              </a:rPr>
              <a:t>• Страница «О системе» с подробным описанием модулей, алгоритмов и источников данных.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3ECF5"/>
                </a:solidFill>
                <a:latin typeface="Aptos"/>
              </a:rPr>
              <a:t>• Legal-контур: privacy, ПДн, cookies, пользовательское соглашение и disclaimer.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59552" y="1664208"/>
            <a:ext cx="5897880" cy="2331720"/>
          </a:xfrm>
          <a:prstGeom prst="round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0" y="1572768"/>
            <a:ext cx="5897880" cy="23317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ite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264" y="1627632"/>
            <a:ext cx="5788152" cy="222199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596128" y="3465575"/>
            <a:ext cx="2606040" cy="274320"/>
          </a:xfrm>
          <a:prstGeom prst="round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Главный экран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59552" y="4160520"/>
            <a:ext cx="2834640" cy="1874519"/>
          </a:xfrm>
          <a:prstGeom prst="round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0" y="4069080"/>
            <a:ext cx="2834640" cy="187451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3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ite-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1264" y="4123944"/>
            <a:ext cx="2724912" cy="1764791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596128" y="5504688"/>
            <a:ext cx="2606040" cy="274320"/>
          </a:xfrm>
          <a:prstGeom prst="round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Позиционирование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13648" y="4160520"/>
            <a:ext cx="2834640" cy="1874519"/>
          </a:xfrm>
          <a:prstGeom prst="round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40496" y="4069080"/>
            <a:ext cx="2834640" cy="187451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AD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ite-ai-eng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4123944"/>
            <a:ext cx="2724912" cy="1764791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650224" y="5504688"/>
            <a:ext cx="2606040" cy="274320"/>
          </a:xfrm>
          <a:prstGeom prst="round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AI-блок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44652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9AADC2"/>
                </a:solidFill>
                <a:latin typeface="Aptos"/>
              </a:rPr>
              <a:t>Project.Core™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28232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9AADC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site-bloc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93776"/>
            <a:ext cx="749807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63D4F7"/>
                </a:solidFill>
                <a:latin typeface="Aptos"/>
              </a:rPr>
              <a:t>БЛОКИ САЙТА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749807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На сайте уже видны ключевые сценарии демонстрации продукта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28216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3ECF5"/>
                </a:solidFill>
                <a:latin typeface="Aptos"/>
              </a:rPr>
              <a:t>Пользователь последовательно получает УТП, методологию расчёта, объяснение AI-контура и подробное описание системы.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19" y="2011680"/>
            <a:ext cx="3611880" cy="3474720"/>
          </a:xfrm>
          <a:prstGeom prst="round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920240"/>
            <a:ext cx="3611880" cy="34747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te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975104"/>
            <a:ext cx="3502152" cy="336499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8096" y="4956048"/>
            <a:ext cx="2606040" cy="274320"/>
          </a:xfrm>
          <a:prstGeom prst="round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УТП и вход в демо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011680"/>
            <a:ext cx="3611880" cy="3474720"/>
          </a:xfrm>
          <a:prstGeom prst="round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53128" y="1920240"/>
            <a:ext cx="3611880" cy="34747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3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ite-ai-eng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2" y="1975104"/>
            <a:ext cx="3502152" cy="3364991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62856" y="4956048"/>
            <a:ext cx="2606040" cy="274320"/>
          </a:xfrm>
          <a:prstGeom prst="round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Как работает AI-контур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011680"/>
            <a:ext cx="3291840" cy="3474720"/>
          </a:xfrm>
          <a:prstGeom prst="round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47888" y="1920240"/>
            <a:ext cx="3291840" cy="34747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AD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ite-about-preview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1975104"/>
            <a:ext cx="3182112" cy="3364991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357615" y="4956048"/>
            <a:ext cx="2606040" cy="274320"/>
          </a:xfrm>
          <a:prstGeom prst="round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Страница «О системе»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5577840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Лендинг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9784" y="5577840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AI-движок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557784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Подробное описание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644652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9AADC2"/>
                </a:solidFill>
                <a:latin typeface="Aptos"/>
              </a:rPr>
              <a:t>Project.Core™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28232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9AADC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plat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93776"/>
            <a:ext cx="6949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63D4F7"/>
                </a:solidFill>
                <a:latin typeface="Aptos"/>
              </a:rPr>
              <a:t>ПЛАТФОРМА: РАБОЧИЙ ИНТЕРФЕЙС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69494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Пользовательский контур платформы уже разбит на прикладные окна и шаги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28216"/>
            <a:ext cx="6949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3ECF5"/>
                </a:solidFill>
                <a:latin typeface="Aptos"/>
              </a:rPr>
              <a:t>В интерфейсе есть объект, зонирование, состав систем, проектирование, бюджет, стоимость проекта, логика расчёта и AI-риски.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19" y="1920240"/>
            <a:ext cx="5532120" cy="4343400"/>
          </a:xfrm>
          <a:prstGeom prst="round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5532120" cy="4343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3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tform-object-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83664"/>
            <a:ext cx="5422392" cy="423367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8096" y="5733288"/>
            <a:ext cx="2606040" cy="274320"/>
          </a:xfrm>
          <a:prstGeom prst="round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Окно «Объект»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920240"/>
            <a:ext cx="5166360" cy="4343400"/>
          </a:xfrm>
          <a:prstGeom prst="round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73368" y="1828800"/>
            <a:ext cx="5166360" cy="4343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latform-systems-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1" y="1883664"/>
            <a:ext cx="5056632" cy="423367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483096" y="5733288"/>
            <a:ext cx="2606040" cy="274320"/>
          </a:xfrm>
          <a:prstGeom prst="round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Окно «Системы»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6355080"/>
            <a:ext cx="1892807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3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D4F7"/>
                </a:solidFill>
                <a:latin typeface="Aptos"/>
              </a:rPr>
              <a:t>Зонирование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57400" y="6355080"/>
            <a:ext cx="233172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3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D4F7"/>
                </a:solidFill>
                <a:latin typeface="Aptos"/>
              </a:rPr>
              <a:t>AI-обследование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22191" y="6355080"/>
            <a:ext cx="1453895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3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D4F7"/>
                </a:solidFill>
                <a:latin typeface="Aptos"/>
              </a:rPr>
              <a:t>PDF APS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6355080"/>
            <a:ext cx="201168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8A3D"/>
                </a:solidFill>
                <a:latin typeface="Aptos"/>
              </a:rPr>
              <a:t>Вендоры и спецификация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42631" y="6355080"/>
            <a:ext cx="193852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8A3D"/>
                </a:solidFill>
                <a:latin typeface="Aptos"/>
              </a:rPr>
              <a:t>Экспорт Excel / ТКП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44652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9AADC2"/>
                </a:solidFill>
                <a:latin typeface="Aptos"/>
              </a:rPr>
              <a:t>Project.Core™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28232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9AADC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platform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93776"/>
            <a:ext cx="5669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63D4F7"/>
                </a:solidFill>
                <a:latin typeface="Aptos"/>
              </a:rPr>
              <a:t>ФУНКЦИОНАЛ ПЛАТФОРМЫ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56692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Платформа считает, объясняет результат и заранее показывает риск-контур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28216"/>
            <a:ext cx="5669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3ECF5"/>
                </a:solidFill>
                <a:latin typeface="Aptos"/>
              </a:rPr>
              <a:t>На текущей версии уже присутствуют окна бюджета, стоимости проекта, логики расчёта и AI-рисков.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993392"/>
            <a:ext cx="3182112" cy="4160520"/>
          </a:xfrm>
          <a:prstGeom prst="roundRect">
            <a:avLst/>
          </a:prstGeom>
          <a:solidFill>
            <a:srgbClr val="0B1729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40864"/>
            <a:ext cx="2697480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E3ECF5"/>
                </a:solidFill>
                <a:latin typeface="Aptos"/>
              </a:rPr>
              <a:t>• Управление коэффициентами и условиями расчёта бюджета.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E3ECF5"/>
                </a:solidFill>
                <a:latin typeface="Aptos"/>
              </a:rPr>
              <a:t>• Агрегация стоимости по системам и по проекту в целом.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E3ECF5"/>
                </a:solidFill>
                <a:latin typeface="Aptos"/>
              </a:rPr>
              <a:t>• Подробная объяснимость: что повлияло на сумму и трудозатраты.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E3ECF5"/>
                </a:solidFill>
                <a:latin typeface="Aptos"/>
              </a:rPr>
              <a:t>• AI-риски проекта: критичные точки по спецификации, срокам и резервам.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E3ECF5"/>
                </a:solidFill>
                <a:latin typeface="Aptos"/>
              </a:rPr>
              <a:t>• Выходные материалы: ТКП, план проекта, спецификации, презентации.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011680"/>
            <a:ext cx="3456432" cy="1883664"/>
          </a:xfrm>
          <a:prstGeom prst="round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33087" y="1920240"/>
            <a:ext cx="3456432" cy="188366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3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latform-budget-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951" y="1975104"/>
            <a:ext cx="3346703" cy="177393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242816" y="3364992"/>
            <a:ext cx="2606040" cy="274320"/>
          </a:xfrm>
          <a:prstGeom prst="round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Бюджет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011680"/>
            <a:ext cx="3456432" cy="1883664"/>
          </a:xfrm>
          <a:prstGeom prst="round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90688" y="1920240"/>
            <a:ext cx="3456432" cy="188366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latform-cost-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1975104"/>
            <a:ext cx="3346703" cy="177393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900415" y="3364992"/>
            <a:ext cx="2606040" cy="274320"/>
          </a:xfrm>
          <a:prstGeom prst="round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Стоимость проекта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4169663"/>
            <a:ext cx="3456432" cy="1883664"/>
          </a:xfrm>
          <a:prstGeom prst="round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33087" y="4078224"/>
            <a:ext cx="3456432" cy="188366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AD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latform-logic-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7951" y="4133087"/>
            <a:ext cx="3346703" cy="1773936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4242816" y="5522975"/>
            <a:ext cx="2606040" cy="274320"/>
          </a:xfrm>
          <a:prstGeom prst="round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Логика расчёта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4169663"/>
            <a:ext cx="3456432" cy="1883664"/>
          </a:xfrm>
          <a:prstGeom prst="round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90688" y="4078224"/>
            <a:ext cx="3456432" cy="188366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3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latform-risks-vie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5552" y="4133087"/>
            <a:ext cx="3346703" cy="1773936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7900415" y="5522975"/>
            <a:ext cx="2606040" cy="274320"/>
          </a:xfrm>
          <a:prstGeom prst="round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AI-риски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44652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9AADC2"/>
                </a:solidFill>
                <a:latin typeface="Aptos"/>
              </a:rPr>
              <a:t>Project.Core™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28232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9AADC2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road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93776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63D4F7"/>
                </a:solidFill>
                <a:latin typeface="Aptos"/>
              </a:rPr>
              <a:t>ПЛАНЫ ПО ДОРАБОТКАМ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73152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Следующий этап развития продукта после завершения основного кода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28216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3ECF5"/>
                </a:solidFill>
                <a:latin typeface="Aptos"/>
              </a:rPr>
              <a:t>Roadmap состоит из технического, правового и корпоративного контуров развития.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2176272"/>
            <a:ext cx="2331720" cy="3154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3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395728"/>
            <a:ext cx="2011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1. Завершение core-code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999232"/>
            <a:ext cx="1975104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E3ECF5"/>
                </a:solidFill>
                <a:latin typeface="Aptos"/>
              </a:rPr>
              <a:t>Доведение основного функционала платформы и сайта до стабильной продуктовой версии.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39312" y="2176272"/>
            <a:ext cx="2331720" cy="3154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3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5615" y="2395728"/>
            <a:ext cx="2011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2. Переход на отечественное ПО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5615" y="2999232"/>
            <a:ext cx="1975104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E3ECF5"/>
                </a:solidFill>
                <a:latin typeface="Aptos"/>
              </a:rPr>
              <a:t>После завершения написания основного кода — замена и адаптация стека под целевой отечественный контур.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176272"/>
            <a:ext cx="2331720" cy="3154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3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9984" y="2395728"/>
            <a:ext cx="2011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3. Правовая упаковка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9984" y="2999232"/>
            <a:ext cx="1975104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E3ECF5"/>
                </a:solidFill>
                <a:latin typeface="Aptos"/>
              </a:rPr>
              <a:t>Регистрация товарного знака и самого продукта в соответствии с законодательством РФ.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28048" y="2176272"/>
            <a:ext cx="2331720" cy="3154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3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74352" y="2395728"/>
            <a:ext cx="2011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4. Корпоративный secure-контур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74352" y="2999232"/>
            <a:ext cx="1975104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E3ECF5"/>
                </a:solidFill>
                <a:latin typeface="Aptos"/>
              </a:rPr>
              <a:t>Выделенная доработка для ООО «СТК» (ПАО Сбер) с приведением в соответствие стандартам кибербезопасности РФ и ПАО Сбер.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44652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9AADC2"/>
                </a:solidFill>
                <a:latin typeface="Aptos"/>
              </a:rPr>
              <a:t>Project.Core™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28232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9AADC2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spl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93776"/>
            <a:ext cx="7132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63D4F7"/>
                </a:solidFill>
                <a:latin typeface="Aptos"/>
              </a:rPr>
              <a:t>ДВА ПРОДУКТА / ДВА КОНТУРА ПОСТАВКИ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71323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Развитие продукта разделяется на корпоративную ветку и внешний рынок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28216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3ECF5"/>
                </a:solidFill>
                <a:latin typeface="Aptos"/>
              </a:rPr>
              <a:t>Это позволяет одновременно решать задачи стратегического заказчика и строить масштабируемую коммерческую модель.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920240"/>
            <a:ext cx="5340096" cy="4443984"/>
          </a:xfrm>
          <a:prstGeom prst="roundRect">
            <a:avLst/>
          </a:prstGeom>
          <a:solidFill>
            <a:srgbClr val="0B1729"/>
          </a:solidFill>
          <a:ln w="1397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53912" y="1920240"/>
            <a:ext cx="5340096" cy="4443984"/>
          </a:xfrm>
          <a:prstGeom prst="roundRect">
            <a:avLst/>
          </a:prstGeom>
          <a:solidFill>
            <a:srgbClr val="0B1729"/>
          </a:solidFill>
          <a:ln w="13970">
            <a:solidFill>
              <a:srgbClr val="63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2139696"/>
            <a:ext cx="107899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8A3D"/>
                </a:solidFill>
                <a:latin typeface="Aptos"/>
              </a:rPr>
              <a:t>Продукт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505456"/>
            <a:ext cx="4526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Отдельная версия для ООО «СТК» (ПАО Сбер)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127248"/>
            <a:ext cx="4498848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3ECF5"/>
                </a:solidFill>
                <a:latin typeface="Aptos"/>
              </a:rPr>
              <a:t>• Работа под Генеральное соглашение с ПАО Сбер.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3ECF5"/>
                </a:solidFill>
                <a:latin typeface="Aptos"/>
              </a:rPr>
              <a:t>• Приведение решения в соответствие стандартам кибербезопасности РФ и ПАО Сбер.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3ECF5"/>
                </a:solidFill>
                <a:latin typeface="Aptos"/>
              </a:rPr>
              <a:t>• Отдельный контур внедрения, эксплуатации и сопровождения.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3ECF5"/>
                </a:solidFill>
                <a:latin typeface="Aptos"/>
              </a:rPr>
              <a:t>• Фокус на корпоративные требования, комплаенс и защищённость.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139696"/>
            <a:ext cx="107899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3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D4F7"/>
                </a:solidFill>
                <a:latin typeface="Aptos"/>
              </a:rPr>
              <a:t>Продукт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505456"/>
            <a:ext cx="4526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Внешний рынок: доступ к платформе по подписке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3127248"/>
            <a:ext cx="4498848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3ECF5"/>
                </a:solidFill>
                <a:latin typeface="Aptos"/>
              </a:rPr>
              <a:t>• Продажа доступа к платформе как коммерческого продукта.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3ECF5"/>
                </a:solidFill>
                <a:latin typeface="Aptos"/>
              </a:rPr>
              <a:t>• Тарифные планы с разной глубиной функционала и уровнем сервиса.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3ECF5"/>
                </a:solidFill>
                <a:latin typeface="Aptos"/>
              </a:rPr>
              <a:t>• Браузерный доступ без тяжёлого локального контура для клиента.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3ECF5"/>
                </a:solidFill>
                <a:latin typeface="Aptos"/>
              </a:rPr>
              <a:t>• Абонентская модель и масштабирование на несколько категорий заказчиков.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44652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9AADC2"/>
                </a:solidFill>
                <a:latin typeface="Aptos"/>
              </a:rPr>
              <a:t>Project.Core™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28232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9AADC2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tariff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93776"/>
            <a:ext cx="7406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63D4F7"/>
                </a:solidFill>
                <a:latin typeface="Aptos"/>
              </a:rPr>
              <a:t>ПРЕДВАРИТЕЛЬНАЯ МОДЕЛЬ ТАРИФОВ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74066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Внешний рынок: доступ к платформе по абонентской плате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28216"/>
            <a:ext cx="7406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3ECF5"/>
                </a:solidFill>
                <a:latin typeface="Aptos"/>
              </a:rPr>
              <a:t>Ниже приведена рабочая схема тарификации, которую можно уточнить перед коммерческим запуском.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93392"/>
            <a:ext cx="2907792" cy="42245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3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304288"/>
            <a:ext cx="2560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724912"/>
            <a:ext cx="2560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63D4F7"/>
                </a:solidFill>
                <a:latin typeface="Aptos"/>
              </a:rPr>
              <a:t>от 49 000 ₽/мес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310128"/>
            <a:ext cx="2514600" cy="1901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E3ECF5"/>
                </a:solidFill>
                <a:latin typeface="Aptos"/>
              </a:rPr>
              <a:t>• Базовый пресейл-контур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E3ECF5"/>
                </a:solidFill>
                <a:latin typeface="Aptos"/>
              </a:rPr>
              <a:t>• Ограниченное число пользователей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E3ECF5"/>
                </a:solidFill>
                <a:latin typeface="Aptos"/>
              </a:rPr>
              <a:t>• Стандартный экспорт результатов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5650992"/>
            <a:ext cx="166420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3D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D4F7"/>
                </a:solidFill>
                <a:latin typeface="Aptos"/>
              </a:rPr>
              <a:t>Абонентская модель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41648" y="1993392"/>
            <a:ext cx="2907792" cy="42245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2304288"/>
            <a:ext cx="2560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Pro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724912"/>
            <a:ext cx="2560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8A3D"/>
                </a:solidFill>
                <a:latin typeface="Aptos"/>
              </a:rPr>
              <a:t>от 119 000 ₽/мес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310128"/>
            <a:ext cx="2514600" cy="1901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E3ECF5"/>
                </a:solidFill>
                <a:latin typeface="Aptos"/>
              </a:rPr>
              <a:t>• Полный multi-system расчёт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E3ECF5"/>
                </a:solidFill>
                <a:latin typeface="Aptos"/>
              </a:rPr>
              <a:t>• AI-обследование и AI-риски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E3ECF5"/>
                </a:solidFill>
                <a:latin typeface="Aptos"/>
              </a:rPr>
              <a:t>• Расширенные выгрузки и план проекта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5650992"/>
            <a:ext cx="166420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8A3D"/>
                </a:solidFill>
                <a:latin typeface="Aptos"/>
              </a:rPr>
              <a:t>Абонентская модель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51775" y="1993392"/>
            <a:ext cx="2907792" cy="42245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AD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7" y="2304288"/>
            <a:ext cx="2560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Enterprise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7" y="2724912"/>
            <a:ext cx="2560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8AD185"/>
                </a:solidFill>
                <a:latin typeface="Aptos"/>
              </a:rPr>
              <a:t>индивидуально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7" y="3310128"/>
            <a:ext cx="2514600" cy="1901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E3ECF5"/>
                </a:solidFill>
                <a:latin typeface="Aptos"/>
              </a:rPr>
              <a:t>• Корпоративная конфигурация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E3ECF5"/>
                </a:solidFill>
                <a:latin typeface="Aptos"/>
              </a:rPr>
              <a:t>• Приоритетная поддержка и SLA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E3ECF5"/>
                </a:solidFill>
                <a:latin typeface="Aptos"/>
              </a:rPr>
              <a:t>• Доработки и интеграции под заказчика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16367" y="5650992"/>
            <a:ext cx="166420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D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8AD185"/>
                </a:solidFill>
                <a:latin typeface="Aptos"/>
              </a:rPr>
              <a:t>Абонентская модель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6364224"/>
            <a:ext cx="10424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AADC2"/>
                </a:solidFill>
                <a:latin typeface="Aptos"/>
              </a:rPr>
              <a:t>Для версии ООО «СТК» (ПАО Сбер) предполагается отдельная договорная модель поставки вне стандартной SaaS-тарификации.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44652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9AADC2"/>
                </a:solidFill>
                <a:latin typeface="Aptos"/>
              </a:rPr>
              <a:t>Project.Core™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28232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9AADC2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Project.Core™ — продуктовая презентация</dc:title>
  <dc:subject>Сайт и платформа предварительной бюджетной оценки систем безопасности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