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1.jpg" ContentType="image/jpg"/>
  <Override PartName="/ppt/media/image2.webp" ContentType="image/webp"/>
  <Override PartName="/ppt/media/image3.webp" ContentType="image/webp"/>
  <Override PartName="/ppt/media/image4.webp" ContentType="image/webp"/>
  <Override PartName="/ppt/media/image5.webp" ContentType="image/webp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291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9"/>
          <c:h val="0.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5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1E6-41F3-A70F-139939D7DC9A}"/>
              </c:ext>
            </c:extLst>
          </c:dPt>
          <c:dPt>
            <c:idx val="1"/>
            <c:bubble3D val="0"/>
            <c:spPr>
              <a:solidFill>
                <a:srgbClr val="F2A6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1E6-41F3-A70F-139939D7DC9A}"/>
              </c:ext>
            </c:extLst>
          </c:dPt>
          <c:dPt>
            <c:idx val="2"/>
            <c:bubble3D val="0"/>
            <c:spPr>
              <a:solidFill>
                <a:srgbClr val="A8AD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E6-41F3-A70F-139939D7DC9A}"/>
              </c:ext>
            </c:extLst>
          </c:dPt>
          <c:dPt>
            <c:idx val="3"/>
            <c:bubble3D val="0"/>
            <c:spPr>
              <a:solidFill>
                <a:srgbClr val="F0C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E6-41F3-A70F-139939D7DC9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E6-41F3-A70F-139939D7DC9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E6-41F3-A70F-139939D7DC9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E6-41F3-A70F-139939D7DC9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1E6-41F3-A70F-139939D7DC9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Оборудование</c:v>
                </c:pt>
                <c:pt idx="1">
                  <c:v>Материалы</c:v>
                </c:pt>
                <c:pt idx="2">
                  <c:v>Работы</c:v>
                </c:pt>
                <c:pt idx="3">
                  <c:v>Проектирование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35.799999999999997</c:v>
                </c:pt>
                <c:pt idx="1">
                  <c:v>11.6</c:v>
                </c:pt>
                <c:pt idx="2">
                  <c:v>28.16</c:v>
                </c:pt>
                <c:pt idx="3">
                  <c:v>2.2098636699999998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1E6-41F3-A70F-139939D7DC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16C3C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56.083258032325517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CE-4F03-9E90-E92795280E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spPr>
            <a:solidFill>
              <a:srgbClr val="2D65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Проектирование</c:v>
                </c:pt>
                <c:pt idx="1">
                  <c:v>Материалы</c:v>
                </c:pt>
                <c:pt idx="2">
                  <c:v>Оборудование</c:v>
                </c:pt>
                <c:pt idx="3">
                  <c:v>Работы</c:v>
                </c:pt>
                <c:pt idx="4">
                  <c:v>Накладные/прибыль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2.2098636699999998</c:v>
                </c:pt>
                <c:pt idx="1">
                  <c:v>10.086956521739131</c:v>
                </c:pt>
                <c:pt idx="2">
                  <c:v>29.833333333333332</c:v>
                </c:pt>
                <c:pt idx="3">
                  <c:v>28.16</c:v>
                </c:pt>
                <c:pt idx="4">
                  <c:v>24.543612936859265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EF-46DE-AED6-D66A5F06DE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063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Building exterior photo: https://moscow-city.guide/upload/iblock/82a/82ae3e863735a5f17c4a2b262b474e9c.jpg
- Object overview: https://moscow-city.guide/towers/sberbank-city/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Complex composition, total area, parking, corp. G workplaces and conference hall: https://realty.rbc.ru/news/61ab178b9a7947160b836725
- Corp. G project area 61 652 m²: https://realty.rbc.ru/news/5e707f0f9a7947ee5645252e
- Object card (9 floors, location): https://2gis.ru/moscow/geo/4504235282797775
- Reconstruction details / ~62 thousand m²: https://archsovet.msk.ru/article/aktualno/novaya-shtab-kvartira-sberbanka-ot-evolution-design-i-t-t-architects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design estimate workbook: /mnt/data/Кутузовский_пр-т,_32,_корп.__Г__САПС.xls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User-provided preliminary survey narrative and photos supplied in the conversation.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webp"/><Relationship Id="rId4" Type="http://schemas.openxmlformats.org/officeDocument/2006/relationships/image" Target="../media/image3.webp"/><Relationship Id="rId5" Type="http://schemas.openxmlformats.org/officeDocument/2006/relationships/image" Target="../media/image4.webp"/><Relationship Id="rId6" Type="http://schemas.openxmlformats.org/officeDocument/2006/relationships/image" Target="../media/image5.webp"/><Relationship Id="rId7" Type="http://schemas.openxmlformats.org/officeDocument/2006/relationships/image" Target="../media/image6.web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4773168" y="0"/>
            <a:ext cx="502920" cy="6858000"/>
          </a:xfrm>
          <a:prstGeom prst="rect">
            <a:avLst/>
          </a:prstGeom>
          <a:solidFill>
            <a:srgbClr val="0C315A">
              <a:alpha val="75000"/>
            </a:srgbClr>
          </a:solidFill>
          <a:ln w="12700">
            <a:solidFill>
              <a:srgbClr val="0C31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0" descr="/mnt/data/building_k32g.jpg"/>
          <p:cNvPicPr>
            <a:picLocks noChangeAspect="1"/>
          </p:cNvPicPr>
          <p:nvPr/>
        </p:nvPicPr>
        <p:blipFill>
          <a:blip r:embed="rId3"/>
          <a:srcRect l="13200" r="13200"/>
          <a:stretch/>
        </p:blipFill>
        <p:spPr>
          <a:xfrm>
            <a:off x="4617720" y="0"/>
            <a:ext cx="7571232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0"/>
            <a:ext cx="7571232" cy="6858000"/>
          </a:xfrm>
          <a:prstGeom prst="rect">
            <a:avLst/>
          </a:prstGeom>
          <a:solidFill>
            <a:srgbClr val="113B6D">
              <a:alpha val="40000"/>
            </a:srgbClr>
          </a:solidFill>
          <a:ln w="12700">
            <a:solidFill>
              <a:srgbClr val="113B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384048" y="320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СТК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84048" y="1097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Проект: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модернизация системы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автоматической пожарной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сигнализации объекта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Кутузовский 32, корп. 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84048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DCE7F5"/>
                </a:solidFill>
              </a:rPr>
              <a:t>Предварительная финансовая модель проекта рассчитана с учетом проектирования, стоимости оборудования, материалов, строительно-монтажных и пусконаладочных работ.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384048" y="4846320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75488" y="49194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Площадь</a:t>
            </a:r>
            <a:endParaRPr lang="en-US" sz="770" dirty="0"/>
          </a:p>
        </p:txBody>
      </p:sp>
      <p:sp>
        <p:nvSpPr>
          <p:cNvPr id="11" name="Text 8"/>
          <p:cNvSpPr/>
          <p:nvPr/>
        </p:nvSpPr>
        <p:spPr>
          <a:xfrm>
            <a:off x="475488" y="506577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60 515 м²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1755648" y="48463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1847088" y="491947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Системы</a:t>
            </a:r>
            <a:endParaRPr lang="en-US" sz="770" dirty="0"/>
          </a:p>
        </p:txBody>
      </p:sp>
      <p:sp>
        <p:nvSpPr>
          <p:cNvPr id="14" name="Text 11"/>
          <p:cNvSpPr/>
          <p:nvPr/>
        </p:nvSpPr>
        <p:spPr>
          <a:xfrm>
            <a:off x="1847088" y="50657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1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2761488" y="484632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2852928" y="49194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Бюджет проекта</a:t>
            </a:r>
          </a:p>
        </p:txBody>
      </p:sp>
      <p:sp>
        <p:nvSpPr>
          <p:cNvPr id="17" name="Text 14"/>
          <p:cNvSpPr/>
          <p:nvPr/>
        </p:nvSpPr>
        <p:spPr>
          <a:xfrm>
            <a:off x="2852928" y="50657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94,0 млн ₽</a:t>
            </a:r>
          </a:p>
          <a:p>
            <a:r>
              <a:t>Собственный: 127,7 млн ₽</a:t>
            </a:r>
          </a:p>
        </p:txBody>
      </p:sp>
      <p:sp>
        <p:nvSpPr>
          <p:cNvPr id="18" name="Shape 15"/>
          <p:cNvSpPr/>
          <p:nvPr/>
        </p:nvSpPr>
        <p:spPr>
          <a:xfrm>
            <a:off x="384048" y="5532120"/>
            <a:ext cx="1874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75488" y="560527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Собственный ресурс</a:t>
            </a:r>
            <a:endParaRPr lang="en-US" sz="770" dirty="0"/>
          </a:p>
        </p:txBody>
      </p:sp>
      <p:sp>
        <p:nvSpPr>
          <p:cNvPr id="20" name="Text 17"/>
          <p:cNvSpPr/>
          <p:nvPr/>
        </p:nvSpPr>
        <p:spPr>
          <a:xfrm>
            <a:off x="475488" y="575157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127,7 млн ₽</a:t>
            </a:r>
          </a:p>
        </p:txBody>
      </p:sp>
      <p:sp>
        <p:nvSpPr>
          <p:cNvPr id="21" name="Shape 18"/>
          <p:cNvSpPr/>
          <p:nvPr/>
        </p:nvSpPr>
        <p:spPr>
          <a:xfrm>
            <a:off x="2395728" y="5532120"/>
            <a:ext cx="17830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r>
              <a:t>127,7 ??? ?</a:t>
            </a:r>
          </a:p>
        </p:txBody>
      </p:sp>
      <p:sp>
        <p:nvSpPr>
          <p:cNvPr id="22" name="Text 19"/>
          <p:cNvSpPr/>
          <p:nvPr/>
        </p:nvSpPr>
        <p:spPr>
          <a:xfrm>
            <a:off x="2487168" y="560527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Подрядный ресурс</a:t>
            </a:r>
            <a:endParaRPr lang="en-US" sz="770" dirty="0"/>
          </a:p>
        </p:txBody>
      </p:sp>
      <p:sp>
        <p:nvSpPr>
          <p:cNvPr id="23" name="Text 20"/>
          <p:cNvSpPr/>
          <p:nvPr/>
        </p:nvSpPr>
        <p:spPr>
          <a:xfrm>
            <a:off x="2487168" y="575157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94,0 млн ₽</a:t>
            </a:r>
          </a:p>
        </p:txBody>
      </p:sp>
      <p:sp>
        <p:nvSpPr>
          <p:cNvPr id="24" name="Text 21"/>
          <p:cNvSpPr/>
          <p:nvPr/>
        </p:nvSpPr>
        <p:spPr>
          <a:xfrm>
            <a:off x="5010912" y="6144768"/>
            <a:ext cx="6629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94,0 ??? ?</a:t>
            </a:r>
          </a:p>
        </p:txBody>
      </p:sp>
      <p:sp>
        <p:nvSpPr>
          <p:cNvPr id="25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Параметры объекта и методология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В основе модели — предварительные расчеты стоимости оборудования, материалов, работ (СМР/ПНР) и проектирования.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39319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75488" y="8778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Параметры объекта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475488" y="1078992"/>
            <a:ext cx="3611880" cy="11155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</a:rPr>
              <a:t>Кутузовский пр-т, 32, корп. Г — часть комплекса «Сбербанк-Сити» на Кутузовском проспекте.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</a:rPr>
              <a:t>Открытые источники описывают корпус Г как реконструированное административное здание площадью 61 652–62 000 м².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</a:rPr>
              <a:t>В корпусе предусмотрены 1 700 рабочих мест, конференц-зал на 500 человек и общественные пространства agile-формата.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</a:rPr>
              <a:t>В расчет модели принята защищаемая площадь 60 515 м²; функциональный состав — 9 надземных и 4 подземных уровня.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334155"/>
                </a:solidFill>
              </a:rPr>
              <a:t>АПС: полная замена существующей системы Edwards на отечественную адресную платформу.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4443984" y="749808"/>
            <a:ext cx="192024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53712" y="82296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Итог модели (бюджет проекта)</a:t>
            </a:r>
          </a:p>
        </p:txBody>
      </p:sp>
      <p:sp>
        <p:nvSpPr>
          <p:cNvPr id="10" name="Text 8"/>
          <p:cNvSpPr/>
          <p:nvPr/>
        </p:nvSpPr>
        <p:spPr>
          <a:xfrm>
            <a:off x="4553712" y="98755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94,0 млн ₽</a:t>
            </a:r>
          </a:p>
          <a:p>
            <a:r>
              <a:t>Собственный: 127,7 млн ₽</a:t>
            </a:r>
          </a:p>
        </p:txBody>
      </p:sp>
      <p:sp>
        <p:nvSpPr>
          <p:cNvPr id="11" name="Shape 9"/>
          <p:cNvSpPr/>
          <p:nvPr/>
        </p:nvSpPr>
        <p:spPr>
          <a:xfrm>
            <a:off x="6492240" y="749808"/>
            <a:ext cx="12344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583680" y="8229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Оборудование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583680" y="969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35,8 млн ₽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845552" y="749808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936992" y="82296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Материалы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7936992" y="9692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11,6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9098280" y="749808"/>
            <a:ext cx="10515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9189720" y="822960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Работы / ПНР</a:t>
            </a:r>
          </a:p>
        </p:txBody>
      </p:sp>
      <p:sp>
        <p:nvSpPr>
          <p:cNvPr id="19" name="Text 17"/>
          <p:cNvSpPr/>
          <p:nvPr/>
        </p:nvSpPr>
        <p:spPr>
          <a:xfrm>
            <a:off x="9189720" y="96926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28,2 млн ₽</a:t>
            </a:r>
          </a:p>
          <a:p>
            <a:r>
              <a:t>Собственный: 49,5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10222992" y="749808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0314432" y="8229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Проектирование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0314432" y="969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2,2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4443984" y="1481328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590288" y="16093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</a:rPr>
              <a:t>Примененные коэффициенты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4590288" y="18013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</a:rPr>
              <a:t>Ночь K=2,0 (20%)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</a:rPr>
              <a:t>Доступ K=1,15 (100%)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</a:rPr>
              <a:t>Высота K=1,05 (30%)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</a:rPr>
              <a:t>Эксплуатируемое здание K=1,2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E7EFF8"/>
                </a:solidFill>
              </a:rPr>
              <a:t>Выходные K=1,5 (10%)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7095744" y="1481328"/>
            <a:ext cx="4544568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269480" y="160934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Функциональное распределение площади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7269480" y="181051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5" dirty="0">
                <a:solidFill>
                  <a:srgbClr val="334155"/>
                </a:solidFill>
              </a:rPr>
              <a:t>B4: паркинг 70% / техпомещения 30%   •   B3: 85% / 15%   •   B2: 90% / 10%   •   B1: 90% / 10%</a:t>
            </a:r>
            <a:endParaRPr lang="en-US" sz="835" dirty="0"/>
          </a:p>
          <a:p>
            <a:pPr marL="0" indent="0">
              <a:buNone/>
            </a:pPr>
            <a:r>
              <a:rPr lang="en-US" sz="835" dirty="0">
                <a:solidFill>
                  <a:srgbClr val="334155"/>
                </a:solidFill>
              </a:rPr>
              <a:t>1–2 этажи: торговля 20% / общественные зоны 50% / техпомещения 30%</a:t>
            </a:r>
            <a:endParaRPr lang="en-US" sz="835" dirty="0"/>
          </a:p>
          <a:p>
            <a:pPr marL="0" indent="0">
              <a:buNone/>
            </a:pPr>
            <a:r>
              <a:rPr lang="en-US" sz="835" dirty="0">
                <a:solidFill>
                  <a:srgbClr val="334155"/>
                </a:solidFill>
              </a:rPr>
              <a:t>3–9 этажи: офисы 85% / техпомещения 15%</a:t>
            </a:r>
            <a:endParaRPr lang="en-US" sz="835" dirty="0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45720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02920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Зонирование для расчета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8368" y="306324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66928" y="309067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9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58368" y="328269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66928" y="331012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50215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66928" y="352958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7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" y="372160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66928" y="374904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6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" y="394106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66928" y="396849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58368" y="416052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66928" y="41879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8368" y="437997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2D65B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66928" y="440740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58368" y="459943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" y="4818888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F2A6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66928" y="4846320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" y="5038344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566928" y="5065776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-1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58368" y="5257800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566928" y="528523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-2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" y="5477256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66928" y="5504688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-3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58368" y="5696712"/>
            <a:ext cx="1051560" cy="192024"/>
          </a:xfrm>
          <a:prstGeom prst="roundRect">
            <a:avLst>
              <a:gd name="adj" fmla="val 19048"/>
            </a:avLst>
          </a:prstGeom>
          <a:solidFill>
            <a:srgbClr val="7EC9B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566928" y="5724144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13B6D"/>
                </a:solidFill>
              </a:rPr>
              <a:t>-4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965960" y="303580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b="1" dirty="0">
                <a:solidFill>
                  <a:srgbClr val="334155"/>
                </a:solidFill>
              </a:rPr>
              <a:t>Агрегированные площади:</a:t>
            </a:r>
            <a:endParaRPr lang="en-US" sz="910" dirty="0"/>
          </a:p>
        </p:txBody>
      </p:sp>
      <p:sp>
        <p:nvSpPr>
          <p:cNvPr id="58" name="Shape 56"/>
          <p:cNvSpPr/>
          <p:nvPr/>
        </p:nvSpPr>
        <p:spPr>
          <a:xfrm>
            <a:off x="1920240" y="3291840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2057400" y="337413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2D65B1"/>
                </a:solidFill>
              </a:rPr>
              <a:t>Офисы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3218688" y="336499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</a:rPr>
              <a:t>27 697 м²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920240" y="3803904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2057400" y="38862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4D8F78"/>
                </a:solidFill>
              </a:rPr>
              <a:t>Паркинг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218688" y="3877056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</a:rPr>
              <a:t>15 594 м²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1920240" y="4315968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5" name="Text 63"/>
          <p:cNvSpPr/>
          <p:nvPr/>
        </p:nvSpPr>
        <p:spPr>
          <a:xfrm>
            <a:off x="2057400" y="4398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2A640"/>
                </a:solidFill>
              </a:rPr>
              <a:t>Общественные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3218688" y="4389120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</a:rPr>
              <a:t>4 655 м²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920240" y="4828032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FF8E8"/>
          </a:solidFill>
          <a:ln w="12700">
            <a:solidFill>
              <a:srgbClr val="FFF8E8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2057400" y="49103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F0C84B"/>
                </a:solidFill>
              </a:rPr>
              <a:t>Торговля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3218688" y="4901184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</a:rPr>
              <a:t>1 862 м²</a:t>
            </a:r>
            <a:endParaRPr lang="en-US" sz="960" dirty="0"/>
          </a:p>
        </p:txBody>
      </p:sp>
      <p:sp>
        <p:nvSpPr>
          <p:cNvPr id="70" name="Shape 68"/>
          <p:cNvSpPr/>
          <p:nvPr/>
        </p:nvSpPr>
        <p:spPr>
          <a:xfrm>
            <a:off x="1920240" y="5340096"/>
            <a:ext cx="2606040" cy="384048"/>
          </a:xfrm>
          <a:prstGeom prst="roundRect">
            <a:avLst>
              <a:gd name="adj" fmla="val 28571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2057400" y="54223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7E6BAA"/>
                </a:solidFill>
              </a:rPr>
              <a:t>Технические</a:t>
            </a:r>
            <a:endParaRPr lang="en-US" sz="880" dirty="0"/>
          </a:p>
        </p:txBody>
      </p:sp>
      <p:sp>
        <p:nvSpPr>
          <p:cNvPr id="72" name="Text 70"/>
          <p:cNvSpPr/>
          <p:nvPr/>
        </p:nvSpPr>
        <p:spPr>
          <a:xfrm>
            <a:off x="3218688" y="541324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60" b="1" dirty="0">
                <a:solidFill>
                  <a:srgbClr val="113B6D"/>
                </a:solidFill>
              </a:rPr>
              <a:t>10 707 м²</a:t>
            </a:r>
            <a:endParaRPr lang="en-US" sz="960" dirty="0"/>
          </a:p>
        </p:txBody>
      </p:sp>
      <p:sp>
        <p:nvSpPr>
          <p:cNvPr id="73" name="Text 71"/>
          <p:cNvSpPr/>
          <p:nvPr/>
        </p:nvSpPr>
        <p:spPr>
          <a:xfrm>
            <a:off x="512064" y="5577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5" dirty="0">
                <a:solidFill>
                  <a:srgbClr val="7C8796"/>
                </a:solidFill>
              </a:rPr>
              <a:t>Количественная модель АПС сформирована по функциональным зонам, а не «руб/м²» одной строкой: плотность извещателей, модулей, кабельного фонда и трудоемкость монтажа меняются в зависимости от типа помещения.</a:t>
            </a:r>
            <a:endParaRPr lang="en-US" sz="855" dirty="0"/>
          </a:p>
        </p:txBody>
      </p:sp>
      <p:sp>
        <p:nvSpPr>
          <p:cNvPr id="74" name="Shape 72"/>
          <p:cNvSpPr/>
          <p:nvPr/>
        </p:nvSpPr>
        <p:spPr>
          <a:xfrm>
            <a:off x="5102352" y="2560320"/>
            <a:ext cx="3712464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5" name="Text 73"/>
          <p:cNvSpPr/>
          <p:nvPr/>
        </p:nvSpPr>
        <p:spPr>
          <a:xfrm>
            <a:off x="5321808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Распределение бюджета</a:t>
            </a:r>
          </a:p>
        </p:txBody>
      </p:sp>
      <p:graphicFrame>
        <p:nvGraphicFramePr>
          <p:cNvPr id="76" name="Chart 0"/>
          <p:cNvGraphicFramePr/>
          <p:nvPr/>
        </p:nvGraphicFramePr>
        <p:xfrm>
          <a:off x="5504688" y="3154680"/>
          <a:ext cx="2240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7" name="Text 74"/>
          <p:cNvSpPr/>
          <p:nvPr/>
        </p:nvSpPr>
        <p:spPr>
          <a:xfrm>
            <a:off x="5916168" y="5120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94,0 млн ₽ / 1 554 ₽/м²</a:t>
            </a:r>
          </a:p>
          <a:p>
            <a:r>
              <a:t>Собственный: 127,7 млн ₽ / 2 110 ₽/м²</a:t>
            </a:r>
          </a:p>
        </p:txBody>
      </p:sp>
      <p:sp>
        <p:nvSpPr>
          <p:cNvPr id="78" name="Shape 75"/>
          <p:cNvSpPr/>
          <p:nvPr/>
        </p:nvSpPr>
        <p:spPr>
          <a:xfrm>
            <a:off x="9015984" y="2560320"/>
            <a:ext cx="2624328" cy="361188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9" name="Text 76"/>
          <p:cNvSpPr/>
          <p:nvPr/>
        </p:nvSpPr>
        <p:spPr>
          <a:xfrm>
            <a:off x="9217152" y="27249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Что учтено в модели</a:t>
            </a:r>
            <a:endParaRPr lang="en-US" sz="960" dirty="0"/>
          </a:p>
        </p:txBody>
      </p:sp>
      <p:sp>
        <p:nvSpPr>
          <p:cNvPr id="80" name="Text 77"/>
          <p:cNvSpPr/>
          <p:nvPr/>
        </p:nvSpPr>
        <p:spPr>
          <a:xfrm>
            <a:off x="9217152" y="2971800"/>
            <a:ext cx="2212848" cy="1993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Полная замена полевого уровня и ядра существующей АПС Edwards.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Скрытая прокладка FRLS-линий в действующем офисно-общественном здании.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Формирование импульсов на СПДВ, инженерные системы и сценарии пожарной автоматики.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Частичное использование линейных/специальных извещателей в общественных пространствах.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Пусконаладка АРМ, ППКУП, модулей управления и сценариев взаимодействия.</a:t>
            </a:r>
            <a:endParaRPr lang="en-US" sz="855" dirty="0"/>
          </a:p>
        </p:txBody>
      </p:sp>
      <p:sp>
        <p:nvSpPr>
          <p:cNvPr id="81" name="Shape 78"/>
          <p:cNvSpPr/>
          <p:nvPr/>
        </p:nvSpPr>
        <p:spPr>
          <a:xfrm>
            <a:off x="9217152" y="5193792"/>
            <a:ext cx="214884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2" name="Text 79"/>
          <p:cNvSpPr/>
          <p:nvPr/>
        </p:nvSpPr>
        <p:spPr>
          <a:xfrm>
            <a:off x="9308592" y="5266944"/>
            <a:ext cx="1965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Удельный бюджет</a:t>
            </a:r>
          </a:p>
        </p:txBody>
      </p:sp>
      <p:sp>
        <p:nvSpPr>
          <p:cNvPr id="83" name="Text 80"/>
          <p:cNvSpPr/>
          <p:nvPr/>
        </p:nvSpPr>
        <p:spPr>
          <a:xfrm>
            <a:off x="9308592" y="5413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1 554 ₽ / м²</a:t>
            </a:r>
          </a:p>
          <a:p>
            <a:r>
              <a:t>Собственный: 2 110 ₽ / м²</a:t>
            </a:r>
          </a:p>
        </p:txBody>
      </p:sp>
      <p:sp>
        <p:nvSpPr>
          <p:cNvPr id="84" name="Text 8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Проектирование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Смета проектных работ сформирована по предоставленной форме №2П для Кутузовский пр-т, 32, корп. Г (САПС).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672084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Состав и логика расчета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48640" y="1225296"/>
            <a:ext cx="6272784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334155"/>
                </a:solidFill>
              </a:rPr>
              <a:t>Смета проектных работ принята по форме №2П из файла «Кутузовский пр-т, 32, корп. Г, САПС».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334155"/>
                </a:solidFill>
              </a:rPr>
              <a:t>Базовая позиция — АПС для объекта площадью свыше 21 000–25 000 м²; далее — добавка за площадь свыше 25 000 м².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334155"/>
                </a:solidFill>
              </a:rPr>
              <a:t>Учтены стадии ПД 25% и РД 75%; итоговая стоимость с НДС 22% — 2 209 863,67 ₽.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334155"/>
                </a:solidFill>
              </a:rPr>
              <a:t>В расчете заданы ценообразующие коэффициенты: скрытая прокладка K1=1,2; управление системами противопожарной защиты K2=1,5; ручные извещатели K3=1,15; линейные/световые извещатели K4=1,2; рабочий проект K5=0,9.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334155"/>
                </a:solidFill>
              </a:rPr>
              <a:t>Переход в текущий уровень цен выполнен с коэффициентом Ктек = 53,48.</a:t>
            </a:r>
            <a:endParaRPr lang="en-US" sz="91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6291072" cy="2697480"/>
          </a:xfrm>
          <a:prstGeom prst="roundRect">
            <a:avLst>
              <a:gd name="adj" fmla="val 4068"/>
            </a:avLst>
          </a:prstGeom>
          <a:solidFill>
            <a:srgbClr val="FDFEFE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9808" y="32918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</a:rPr>
              <a:t>Параметры сметы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</a:rPr>
              <a:t>Стадии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417320" y="356616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ПД 25% • РД 75%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777240" y="385876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</a:rPr>
              <a:t>Ктек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417320" y="385876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53,48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777240" y="4151376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</a:rPr>
              <a:t>K1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417320" y="4151376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1,2 • скрытая прокладка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" y="44439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</a:rPr>
              <a:t>K2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417320" y="44439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1,5 • импульсы на СПЗ / инженерные системы</a:t>
            </a:r>
            <a:endParaRPr lang="en-US" sz="890" dirty="0"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</a:rPr>
              <a:t>K3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1417320" y="47365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1,15 • ручные извещатели</a:t>
            </a:r>
            <a:endParaRPr lang="en-US" sz="890" dirty="0"/>
          </a:p>
        </p:txBody>
      </p:sp>
      <p:sp>
        <p:nvSpPr>
          <p:cNvPr id="20" name="Text 18"/>
          <p:cNvSpPr/>
          <p:nvPr/>
        </p:nvSpPr>
        <p:spPr>
          <a:xfrm>
            <a:off x="777240" y="502920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</a:rPr>
              <a:t>K4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1417320" y="502920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1,2 • линейные и световые извещатели</a:t>
            </a:r>
            <a:endParaRPr lang="en-US" sz="890" dirty="0"/>
          </a:p>
        </p:txBody>
      </p:sp>
      <p:sp>
        <p:nvSpPr>
          <p:cNvPr id="22" name="Text 20"/>
          <p:cNvSpPr/>
          <p:nvPr/>
        </p:nvSpPr>
        <p:spPr>
          <a:xfrm>
            <a:off x="777240" y="5321808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7C8796"/>
                </a:solidFill>
              </a:rPr>
              <a:t>K5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1417320" y="532180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34155"/>
                </a:solidFill>
              </a:rPr>
              <a:t>0,9 • рабочий проект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4069080" y="329184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334155"/>
                </a:solidFill>
              </a:rPr>
              <a:t>Распределение по стадиям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096512" y="3703320"/>
            <a:ext cx="2331720" cy="256032"/>
          </a:xfrm>
          <a:prstGeom prst="roundRect">
            <a:avLst>
              <a:gd name="adj" fmla="val 17857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096512" y="3703320"/>
            <a:ext cx="585216" cy="256032"/>
          </a:xfrm>
          <a:prstGeom prst="roundRect">
            <a:avLst>
              <a:gd name="adj" fmla="val 17857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169664" y="37307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ПД 25%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РД 75%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096512" y="4224528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187952" y="4297680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Основание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4187952" y="4443984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Форма №2П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303520" y="4224528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5394960" y="4297680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Раздел</a:t>
            </a:r>
            <a:endParaRPr lang="en-US" sz="770" dirty="0"/>
          </a:p>
        </p:txBody>
      </p:sp>
      <p:sp>
        <p:nvSpPr>
          <p:cNvPr id="34" name="Text 32"/>
          <p:cNvSpPr/>
          <p:nvPr/>
        </p:nvSpPr>
        <p:spPr>
          <a:xfrm>
            <a:off x="5394960" y="4443984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САПС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4096512" y="4828032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187952" y="4901184"/>
            <a:ext cx="8961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НДС</a:t>
            </a:r>
            <a:endParaRPr lang="en-US" sz="770" dirty="0"/>
          </a:p>
        </p:txBody>
      </p:sp>
      <p:sp>
        <p:nvSpPr>
          <p:cNvPr id="37" name="Text 35"/>
          <p:cNvSpPr/>
          <p:nvPr/>
        </p:nvSpPr>
        <p:spPr>
          <a:xfrm>
            <a:off x="4187952" y="504748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22%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303520" y="4828032"/>
            <a:ext cx="11247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394960" y="4901184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Итог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5394960" y="5047488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2,2 млн ₽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7315200" y="841248"/>
            <a:ext cx="452628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7424928" y="914400"/>
            <a:ext cx="4306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6F0FA"/>
                </a:solidFill>
              </a:rPr>
              <a:t>Итого по проектированию (сметная стоимость)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7424928" y="1078992"/>
            <a:ext cx="4306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2,2 млн ₽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7315200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7406640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ПД</a:t>
            </a:r>
            <a:endParaRPr lang="en-US" sz="770" dirty="0"/>
          </a:p>
        </p:txBody>
      </p:sp>
      <p:sp>
        <p:nvSpPr>
          <p:cNvPr id="46" name="Text 44"/>
          <p:cNvSpPr/>
          <p:nvPr/>
        </p:nvSpPr>
        <p:spPr>
          <a:xfrm>
            <a:off x="7406640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0,6 млн ₽</a:t>
            </a:r>
            <a:endParaRPr lang="en-US" sz="1320" dirty="0"/>
          </a:p>
        </p:txBody>
      </p:sp>
      <p:sp>
        <p:nvSpPr>
          <p:cNvPr id="47" name="Shape 45"/>
          <p:cNvSpPr/>
          <p:nvPr/>
        </p:nvSpPr>
        <p:spPr>
          <a:xfrm>
            <a:off x="8796528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8887968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РД</a:t>
            </a:r>
            <a:endParaRPr lang="en-US" sz="770" dirty="0"/>
          </a:p>
        </p:txBody>
      </p:sp>
      <p:sp>
        <p:nvSpPr>
          <p:cNvPr id="49" name="Text 47"/>
          <p:cNvSpPr/>
          <p:nvPr/>
        </p:nvSpPr>
        <p:spPr>
          <a:xfrm>
            <a:off x="8887968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1,7 млн ₽</a:t>
            </a:r>
            <a:endParaRPr lang="en-US" sz="1320" dirty="0"/>
          </a:p>
        </p:txBody>
      </p:sp>
      <p:sp>
        <p:nvSpPr>
          <p:cNvPr id="50" name="Shape 48"/>
          <p:cNvSpPr/>
          <p:nvPr/>
        </p:nvSpPr>
        <p:spPr>
          <a:xfrm>
            <a:off x="10277856" y="1591056"/>
            <a:ext cx="135331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10369296" y="1664208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С НДС 22%</a:t>
            </a:r>
            <a:endParaRPr lang="en-US" sz="770" dirty="0"/>
          </a:p>
        </p:txBody>
      </p:sp>
      <p:sp>
        <p:nvSpPr>
          <p:cNvPr id="52" name="Text 50"/>
          <p:cNvSpPr/>
          <p:nvPr/>
        </p:nvSpPr>
        <p:spPr>
          <a:xfrm>
            <a:off x="10369296" y="1810512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учтено</a:t>
            </a:r>
            <a:endParaRPr lang="en-US" sz="1320" dirty="0"/>
          </a:p>
        </p:txBody>
      </p:sp>
      <p:sp>
        <p:nvSpPr>
          <p:cNvPr id="53" name="Shape 51"/>
          <p:cNvSpPr/>
          <p:nvPr/>
        </p:nvSpPr>
        <p:spPr>
          <a:xfrm>
            <a:off x="7315200" y="2377440"/>
            <a:ext cx="4526280" cy="3904488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7498080" y="254203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Что включает проектирование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7498080" y="2788920"/>
            <a:ext cx="38862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ПД/РД по новой адресной системе АПС на отечественной платформе.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Решения по полевому уровню, ППКУП, АРМ, шкафам, линиям связи и интерфейсным модулям.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Сигналы управления СПДВ, инженерными системами и связанными противопожарными сценариями.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Сметная документация и комплект графической/текстовой документации для замены системы.</a:t>
            </a:r>
            <a:endParaRPr lang="en-US" sz="890" dirty="0"/>
          </a:p>
        </p:txBody>
      </p:sp>
      <p:sp>
        <p:nvSpPr>
          <p:cNvPr id="56" name="Text 54"/>
          <p:cNvSpPr/>
          <p:nvPr/>
        </p:nvSpPr>
        <p:spPr>
          <a:xfrm>
            <a:off x="7498080" y="42976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Смета на проектирование вынесена в отдельный блок бюджета и не дублируется в стоимости СМР/ПНР.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7498080" y="475488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8FBFA"/>
          </a:solidFill>
          <a:ln w="12700">
            <a:solidFill>
              <a:srgbClr val="E8FB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8" name="Shape 56"/>
          <p:cNvSpPr/>
          <p:nvPr/>
        </p:nvSpPr>
        <p:spPr>
          <a:xfrm>
            <a:off x="9326880" y="475488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9" name="Text 57"/>
          <p:cNvSpPr/>
          <p:nvPr/>
        </p:nvSpPr>
        <p:spPr>
          <a:xfrm>
            <a:off x="7635240" y="488289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16C3C6"/>
                </a:solidFill>
              </a:rPr>
              <a:t>Основание</a:t>
            </a:r>
            <a:endParaRPr lang="en-US" sz="830" dirty="0"/>
          </a:p>
        </p:txBody>
      </p:sp>
      <p:sp>
        <p:nvSpPr>
          <p:cNvPr id="60" name="Text 58"/>
          <p:cNvSpPr/>
          <p:nvPr/>
        </p:nvSpPr>
        <p:spPr>
          <a:xfrm>
            <a:off x="7635240" y="5047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</a:rPr>
              <a:t>Форма №2П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13B6D"/>
                </a:solidFill>
              </a:rPr>
              <a:t>АПС / САПС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473184" y="4882896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D65B1"/>
                </a:solidFill>
              </a:rPr>
              <a:t>Экспликация проекта</a:t>
            </a:r>
            <a:endParaRPr lang="en-US" sz="830" dirty="0"/>
          </a:p>
        </p:txBody>
      </p:sp>
      <p:sp>
        <p:nvSpPr>
          <p:cNvPr id="62" name="Text 60"/>
          <p:cNvSpPr/>
          <p:nvPr/>
        </p:nvSpPr>
        <p:spPr>
          <a:xfrm>
            <a:off x="9473184" y="50474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334155"/>
                </a:solidFill>
              </a:rPr>
              <a:t>Скрытая прокладка, интеграция с пожарной автоматикой и ручные извещатели.</a:t>
            </a:r>
            <a:endParaRPr lang="en-US" sz="870" dirty="0"/>
          </a:p>
        </p:txBody>
      </p:sp>
      <p:sp>
        <p:nvSpPr>
          <p:cNvPr id="63" name="Text 61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Автоматическая пожарная сигнализация (АПС)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Базис — Отечественная адресная система «Рубеж R3».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9184" y="868680"/>
            <a:ext cx="6537960" cy="539496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102412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Состав оборудования, материалов и работ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2529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Система обеспечивает обнаружение пожара, передачу тревоги, формирование управляющих импульсов на инженерные системы и работу в контуре действующего здания.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EC9B3"/>
                </a:solidFill>
              </a:rPr>
              <a:t>Оборудование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ППКУП / сетевые шкафы — 8 шт.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Автоматические адресные извещатели — 1 794 шт.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Ручные извещатели — 168 шт.; линейные извещатели — 24 шт.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Адресные интерфейсные и релейные модули — 240 шт.; РИП/ББП — 36 шт.</a:t>
            </a:r>
            <a:endParaRPr lang="en-US" sz="890" dirty="0"/>
          </a:p>
        </p:txBody>
      </p:sp>
      <p:sp>
        <p:nvSpPr>
          <p:cNvPr id="10" name="Text 8"/>
          <p:cNvSpPr/>
          <p:nvPr/>
        </p:nvSpPr>
        <p:spPr>
          <a:xfrm>
            <a:off x="530352" y="285292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2D65B1"/>
                </a:solidFill>
              </a:rPr>
              <a:t>Материалы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6217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Кабель КПСнг(А)-FRLS / FRHF — 58 000 м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Коробки и адресные точки подключения — 620 шт.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Крепеж, маркировка, огнестойкие проходки, расходные материалы и элементы кабельного хозяйства.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530352" y="39776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F2A640"/>
                </a:solidFill>
              </a:rPr>
              <a:t>Работы / ПНР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48640" y="4178808"/>
            <a:ext cx="621792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Демонтаж / поэтапная замена существующего полевого уровня и монтаж новой адресной системы.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Прокладка FRLS-линий в действующем здании, оконцевание, адресация, сценарии управления СПДВ и смежными системами.</a:t>
            </a:r>
            <a:endParaRPr lang="en-US" sz="890" dirty="0"/>
          </a:p>
          <a:p>
            <a:pPr marL="152400" indent="-152400"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</a:rPr>
              <a:t>Пусконаладка АРМ, ППКУП, модулей управления и приемо-сдаточные испытания.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059168" y="868680"/>
            <a:ext cx="4535424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7168896" y="941832"/>
            <a:ext cx="43159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Итого по системе (бюджет проекта)</a:t>
            </a:r>
          </a:p>
        </p:txBody>
      </p:sp>
      <p:sp>
        <p:nvSpPr>
          <p:cNvPr id="16" name="Text 14"/>
          <p:cNvSpPr/>
          <p:nvPr/>
        </p:nvSpPr>
        <p:spPr>
          <a:xfrm>
            <a:off x="7168896" y="1106424"/>
            <a:ext cx="4315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94,0 млн ₽</a:t>
            </a:r>
          </a:p>
          <a:p>
            <a:r>
              <a:t>Собственный: 127,7 млн ₽</a:t>
            </a:r>
          </a:p>
        </p:txBody>
      </p:sp>
      <p:sp>
        <p:nvSpPr>
          <p:cNvPr id="17" name="Shape 15"/>
          <p:cNvSpPr/>
          <p:nvPr/>
        </p:nvSpPr>
        <p:spPr>
          <a:xfrm>
            <a:off x="7059168" y="1627632"/>
            <a:ext cx="125272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150608" y="1700784"/>
            <a:ext cx="1069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Оборудование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150608" y="1847088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35,8 млн ₽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439912" y="1627632"/>
            <a:ext cx="1161288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531352" y="1700784"/>
            <a:ext cx="978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Материалы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8531352" y="184708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11,6 млн ₽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720072" y="1627632"/>
            <a:ext cx="1060704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811512" y="1700784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Работы / ПНР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9811512" y="1847088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28,2 млн ₽</a:t>
            </a:r>
          </a:p>
          <a:p>
            <a:r>
              <a:t>Собственный: 49,5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863072" y="1627632"/>
            <a:ext cx="7315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0954512" y="1700784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Проект.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0954512" y="18470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2,2 млн ₽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7059168" y="2404872"/>
            <a:ext cx="4535424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7269480" y="254203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Обор. 46,0% • Матер. 14,9% • Работы 36,2% • Проект. 2,8%</a:t>
            </a:r>
          </a:p>
          <a:p>
            <a:r>
              <a:t>Собственный: Обор. 36,1% • Матер. 11,7% • Работы 49,9% • Проект. 2,2%</a:t>
            </a:r>
          </a:p>
        </p:txBody>
      </p:sp>
      <p:sp>
        <p:nvSpPr>
          <p:cNvPr id="31" name="Shape 29"/>
          <p:cNvSpPr/>
          <p:nvPr/>
        </p:nvSpPr>
        <p:spPr>
          <a:xfrm>
            <a:off x="7388352" y="2971800"/>
            <a:ext cx="3611880" cy="128016"/>
          </a:xfrm>
          <a:prstGeom prst="roundRect">
            <a:avLst>
              <a:gd name="adj" fmla="val 28571"/>
            </a:avLst>
          </a:prstGeom>
          <a:solidFill>
            <a:srgbClr val="B7BEC8"/>
          </a:solidFill>
          <a:ln w="12700">
            <a:solidFill>
              <a:srgbClr val="B7BEC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7388352" y="2971800"/>
            <a:ext cx="1662666" cy="128016"/>
          </a:xfrm>
          <a:prstGeom prst="roundRect">
            <a:avLst>
              <a:gd name="adj" fmla="val 28571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9051018" y="2971800"/>
            <a:ext cx="538741" cy="128016"/>
          </a:xfrm>
          <a:prstGeom prst="roundRect">
            <a:avLst>
              <a:gd name="adj" fmla="val 28571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9589759" y="2971800"/>
            <a:ext cx="1307840" cy="128016"/>
          </a:xfrm>
          <a:prstGeom prst="roundRect">
            <a:avLst>
              <a:gd name="adj" fmla="val 28571"/>
            </a:avLst>
          </a:prstGeom>
          <a:solidFill>
            <a:srgbClr val="A8ADB7"/>
          </a:solidFill>
          <a:ln w="12700">
            <a:solidFill>
              <a:srgbClr val="A8ADB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10897599" y="2971800"/>
            <a:ext cx="102633" cy="128016"/>
          </a:xfrm>
          <a:prstGeom prst="roundRect">
            <a:avLst>
              <a:gd name="adj" fmla="val 35638"/>
            </a:avLst>
          </a:prstGeom>
          <a:solidFill>
            <a:srgbClr val="F0C84B"/>
          </a:solidFill>
          <a:ln w="12700">
            <a:solidFill>
              <a:srgbClr val="F0C84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7114032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7168896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3B6D"/>
                </a:solidFill>
              </a:rPr>
              <a:t>1 794 авт. извещателей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7168896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7C8796"/>
                </a:solidFill>
              </a:rPr>
              <a:t>дымовые / тепловые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229600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8284464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3B6D"/>
                </a:solidFill>
              </a:rPr>
              <a:t>168 ручных ИПР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284464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7C8796"/>
                </a:solidFill>
              </a:rPr>
              <a:t>эвакуационные маршруты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9345168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9400032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3B6D"/>
                </a:solidFill>
              </a:rPr>
              <a:t>240 адресных модулей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400032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7C8796"/>
                </a:solidFill>
              </a:rPr>
              <a:t>управление СПДВ / инженеркой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10460736" y="340156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10515600" y="348386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3B6D"/>
                </a:solidFill>
              </a:rPr>
              <a:t>8 шкафов / ППКУП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10515600" y="387705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7C8796"/>
                </a:solidFill>
              </a:rPr>
              <a:t>серверная и этажные узлы</a:t>
            </a:r>
            <a:endParaRPr lang="en-US" sz="730" dirty="0"/>
          </a:p>
        </p:txBody>
      </p:sp>
      <p:sp>
        <p:nvSpPr>
          <p:cNvPr id="48" name="Shape 46"/>
          <p:cNvSpPr/>
          <p:nvPr/>
        </p:nvSpPr>
        <p:spPr>
          <a:xfrm>
            <a:off x="7114032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9" name="Text 47"/>
          <p:cNvSpPr/>
          <p:nvPr/>
        </p:nvSpPr>
        <p:spPr>
          <a:xfrm>
            <a:off x="7168896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13B6D"/>
                </a:solidFill>
              </a:rPr>
              <a:t>Кабель 58 000 м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7168896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7C8796"/>
                </a:solidFill>
              </a:rPr>
              <a:t>FRLS / FRHF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8229600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FF2E2"/>
          </a:solidFill>
          <a:ln w="12700">
            <a:solidFill>
              <a:srgbClr val="FFF2E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8284464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486 / 853 ₽ за 1 м кабеля</a:t>
            </a:r>
          </a:p>
        </p:txBody>
      </p:sp>
      <p:sp>
        <p:nvSpPr>
          <p:cNvPr id="53" name="Text 51"/>
          <p:cNvSpPr/>
          <p:nvPr/>
        </p:nvSpPr>
        <p:spPr>
          <a:xfrm>
            <a:off x="8284464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 / собственный ресурс</a:t>
            </a:r>
          </a:p>
        </p:txBody>
      </p:sp>
      <p:sp>
        <p:nvSpPr>
          <p:cNvPr id="54" name="Shape 52"/>
          <p:cNvSpPr/>
          <p:nvPr/>
        </p:nvSpPr>
        <p:spPr>
          <a:xfrm>
            <a:off x="9345168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 w="12700">
            <a:solidFill>
              <a:srgbClr val="ECF7F2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5" name="Text 53"/>
          <p:cNvSpPr/>
          <p:nvPr/>
        </p:nvSpPr>
        <p:spPr>
          <a:xfrm>
            <a:off x="9400032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12 423 / 21 797 ₽ за 1 устройство</a:t>
            </a:r>
          </a:p>
        </p:txBody>
      </p:sp>
      <p:sp>
        <p:nvSpPr>
          <p:cNvPr id="56" name="Text 54"/>
          <p:cNvSpPr/>
          <p:nvPr/>
        </p:nvSpPr>
        <p:spPr>
          <a:xfrm>
            <a:off x="9400032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монтаж / адресация</a:t>
            </a:r>
          </a:p>
        </p:txBody>
      </p:sp>
      <p:sp>
        <p:nvSpPr>
          <p:cNvPr id="57" name="Shape 55"/>
          <p:cNvSpPr/>
          <p:nvPr/>
        </p:nvSpPr>
        <p:spPr>
          <a:xfrm>
            <a:off x="10460736" y="4361688"/>
            <a:ext cx="960120" cy="768096"/>
          </a:xfrm>
          <a:prstGeom prst="roundRect">
            <a:avLst>
              <a:gd name="adj" fmla="val 14286"/>
            </a:avLst>
          </a:prstGeom>
          <a:solidFill>
            <a:srgbClr val="F2EEFA"/>
          </a:solidFill>
          <a:ln w="12700">
            <a:solidFill>
              <a:srgbClr val="F2EE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10515600" y="4443984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59" name="Text 57"/>
          <p:cNvSpPr/>
          <p:nvPr/>
        </p:nvSpPr>
        <p:spPr>
          <a:xfrm>
            <a:off x="10515600" y="4837176"/>
            <a:ext cx="8503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/>
        </p:txBody>
      </p:sp>
      <p:sp>
        <p:nvSpPr>
          <p:cNvPr id="60" name="Text 58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Результаты предварительного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</a:rPr>
              <a:t>обследования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585216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На основании визуального технического осмотра существующей системы АПС Edwards и материалов обследования ГИП.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69080" cy="548640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Выявленные ограничения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36576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На АРМ фиксируются неисправности: потеря приборов, потеря сигнала, часть участков ЗКПС снята с охраны.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Полноценная диагностика невозможна: отсутствуют лицензионный ключ-флешка и специализированное ПО для доступа к ППКУП и АРМ.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В серверной установлены 8 станций ППКУП; по внешнему осмотру работоспособны, но отсутствуют конфигурационные файлы и ЗИП.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Для модулей управления СПДВ, сопутствующими инженерными системами, а также для АУВПТ и контроллеров запорной арматуры отсутствует запас запчастей.</a:t>
            </a:r>
            <a:endParaRPr lang="en-US" sz="880" dirty="0"/>
          </a:p>
          <a:p>
            <a:pPr marL="152400" indent="-152400"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</a:rPr>
              <a:t>Проектная и исполнительная документация на объекте фактически отсутствует; доступен только неполный электронный комплект рабочих материалов.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530352" y="3611880"/>
            <a:ext cx="3639312" cy="2084832"/>
          </a:xfrm>
          <a:prstGeom prst="roundRect">
            <a:avLst>
              <a:gd name="adj" fmla="val 5263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13232" y="376732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D9534F"/>
                </a:solidFill>
              </a:rPr>
              <a:t>Вывод ГИП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13232" y="400507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</a:rPr>
              <a:t>Легитимное, безаварийное и своевременное техническое обслуживание действующей американской системы APS «Edwards» без ПО, ключа, ЗИП и полного комплекта документации невозможно. Рекомендуется полная замена на отечественного производителя (например, «Болид» или «Рубеж»).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13232" y="5138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7C8796"/>
                </a:solidFill>
              </a:rPr>
              <a:t>Дополнительно: на территории РФ отсутствует официальный представитель Edwards, техподдержка и обучение специалистов ограничены; доступные пусконаладчики по системе редки и стоят непропорционально дорого.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553712" y="822960"/>
            <a:ext cx="7296912" cy="5486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73659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Фотофиксация обследования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5" name="Image 0" descr="/mnt/data/9.webp"/>
          <p:cNvPicPr>
            <a:picLocks noChangeAspect="1"/>
          </p:cNvPicPr>
          <p:nvPr/>
        </p:nvPicPr>
        <p:blipFill>
          <a:blip r:embed="rId3"/>
          <a:srcRect l="647" r="647"/>
          <a:stretch/>
        </p:blipFill>
        <p:spPr>
          <a:xfrm>
            <a:off x="4782312" y="1261872"/>
            <a:ext cx="2093976" cy="15910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40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7" name="Image 1" descr="/mnt/data/3.webp"/>
          <p:cNvPicPr>
            <a:picLocks noChangeAspect="1"/>
          </p:cNvPicPr>
          <p:nvPr/>
        </p:nvPicPr>
        <p:blipFill>
          <a:blip r:embed="rId4"/>
          <a:srcRect l="647" r="647"/>
          <a:stretch/>
        </p:blipFill>
        <p:spPr>
          <a:xfrm>
            <a:off x="7068312" y="1261872"/>
            <a:ext cx="2093976" cy="15910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326880" y="1234440"/>
            <a:ext cx="21488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19" name="Image 2" descr="/mnt/data/6.webp"/>
          <p:cNvPicPr>
            <a:picLocks noChangeAspect="1"/>
          </p:cNvPicPr>
          <p:nvPr/>
        </p:nvPicPr>
        <p:blipFill>
          <a:blip r:embed="rId5"/>
          <a:srcRect l="647" r="647"/>
          <a:stretch/>
        </p:blipFill>
        <p:spPr>
          <a:xfrm>
            <a:off x="9354312" y="1261872"/>
            <a:ext cx="2093976" cy="15910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54880" y="3063240"/>
            <a:ext cx="3246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1" name="Image 3" descr="/mnt/data/7.webp"/>
          <p:cNvPicPr>
            <a:picLocks noChangeAspect="1"/>
          </p:cNvPicPr>
          <p:nvPr/>
        </p:nvPicPr>
        <p:blipFill>
          <a:blip r:embed="rId6"/>
          <a:srcRect t="2436" b="2436"/>
          <a:stretch/>
        </p:blipFill>
        <p:spPr>
          <a:xfrm>
            <a:off x="4782312" y="3090672"/>
            <a:ext cx="3191256" cy="227685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83880" y="30632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23" name="Image 4" descr="/mnt/data/4.webp"/>
          <p:cNvPicPr>
            <a:picLocks noChangeAspect="1"/>
          </p:cNvPicPr>
          <p:nvPr/>
        </p:nvPicPr>
        <p:blipFill>
          <a:blip r:embed="rId7"/>
          <a:srcRect t="23623" b="23623"/>
          <a:stretch/>
        </p:blipFill>
        <p:spPr>
          <a:xfrm>
            <a:off x="8211312" y="3090672"/>
            <a:ext cx="3236976" cy="22768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46320" y="276148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</a:rPr>
              <a:t>Серверная / шкафы ППКУП</a:t>
            </a:r>
            <a:endParaRPr lang="en-US" sz="740" dirty="0"/>
          </a:p>
        </p:txBody>
      </p:sp>
      <p:sp>
        <p:nvSpPr>
          <p:cNvPr id="25" name="Text 18"/>
          <p:cNvSpPr/>
          <p:nvPr/>
        </p:nvSpPr>
        <p:spPr>
          <a:xfrm>
            <a:off x="7150608" y="276148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</a:rPr>
              <a:t>Существующие шкафы и модули</a:t>
            </a:r>
            <a:endParaRPr lang="en-US" sz="740" dirty="0"/>
          </a:p>
        </p:txBody>
      </p:sp>
      <p:sp>
        <p:nvSpPr>
          <p:cNvPr id="26" name="Text 19"/>
          <p:cNvSpPr/>
          <p:nvPr/>
        </p:nvSpPr>
        <p:spPr>
          <a:xfrm>
            <a:off x="9528048" y="2761488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</a:rPr>
              <a:t>План АРМ / этажность</a:t>
            </a:r>
            <a:endParaRPr lang="en-US" sz="740" dirty="0"/>
          </a:p>
        </p:txBody>
      </p:sp>
      <p:sp>
        <p:nvSpPr>
          <p:cNvPr id="27" name="Text 20"/>
          <p:cNvSpPr/>
          <p:nvPr/>
        </p:nvSpPr>
        <p:spPr>
          <a:xfrm>
            <a:off x="5715000" y="546811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</a:rPr>
              <a:t>План-схема этажа</a:t>
            </a:r>
            <a:endParaRPr lang="en-US" sz="740" dirty="0"/>
          </a:p>
        </p:txBody>
      </p:sp>
      <p:sp>
        <p:nvSpPr>
          <p:cNvPr id="28" name="Text 21"/>
          <p:cNvSpPr/>
          <p:nvPr/>
        </p:nvSpPr>
        <p:spPr>
          <a:xfrm>
            <a:off x="9098280" y="546811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7C8796"/>
                </a:solidFill>
              </a:rPr>
              <a:t>Релейные / адресные модули</a:t>
            </a:r>
            <a:endParaRPr lang="en-US" sz="740" dirty="0"/>
          </a:p>
        </p:txBody>
      </p:sp>
      <p:sp>
        <p:nvSpPr>
          <p:cNvPr id="29" name="Text 22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30" name="Text 23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Общая бюджетная оценка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Оба бюджета включают проектирование, оборудование, материалы и исполнение работ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4173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11480" y="85039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Оборудование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411480" y="9966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35,8 млн ₽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828800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1920240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Материалы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1920240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11,6 млн ₽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3255264" y="777240"/>
            <a:ext cx="11430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346704" y="850392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Работы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3346704" y="99669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28,2 млн ₽</a:t>
            </a:r>
          </a:p>
          <a:p>
            <a:r>
              <a:t>Собственный: 49,5 млн ₽</a:t>
            </a:r>
          </a:p>
        </p:txBody>
      </p:sp>
      <p:sp>
        <p:nvSpPr>
          <p:cNvPr id="14" name="Shape 12"/>
          <p:cNvSpPr/>
          <p:nvPr/>
        </p:nvSpPr>
        <p:spPr>
          <a:xfrm>
            <a:off x="4498848" y="777240"/>
            <a:ext cx="132588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90288" y="8503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Проектирование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4590288" y="99669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13B6D"/>
                </a:solidFill>
              </a:rPr>
              <a:t>2,2 млн ₽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98932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09904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Бюджет проекта</a:t>
            </a:r>
          </a:p>
        </p:txBody>
      </p:sp>
      <p:sp>
        <p:nvSpPr>
          <p:cNvPr id="19" name="Text 17"/>
          <p:cNvSpPr/>
          <p:nvPr/>
        </p:nvSpPr>
        <p:spPr>
          <a:xfrm>
            <a:off x="609904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Подрядный: 94,0 млн ₽</a:t>
            </a:r>
          </a:p>
          <a:p>
            <a:r>
              <a:t>Собственный: 127,7 млн ₽</a:t>
            </a:r>
          </a:p>
        </p:txBody>
      </p:sp>
      <p:sp>
        <p:nvSpPr>
          <p:cNvPr id="20" name="Shape 18"/>
          <p:cNvSpPr/>
          <p:nvPr/>
        </p:nvSpPr>
        <p:spPr>
          <a:xfrm>
            <a:off x="763524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74496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6F0FA"/>
                </a:solidFill>
              </a:rPr>
              <a:t>Собственный ресурс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774496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127,7 млн ₽</a:t>
            </a:r>
          </a:p>
        </p:txBody>
      </p:sp>
      <p:sp>
        <p:nvSpPr>
          <p:cNvPr id="23" name="Shape 21"/>
          <p:cNvSpPr/>
          <p:nvPr/>
        </p:nvSpPr>
        <p:spPr>
          <a:xfrm>
            <a:off x="9281160" y="768096"/>
            <a:ext cx="1508760" cy="612648"/>
          </a:xfrm>
          <a:prstGeom prst="roundRect">
            <a:avLst>
              <a:gd name="adj" fmla="val 17910"/>
            </a:avLst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9390888" y="84124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E6F0FA"/>
                </a:solidFill>
              </a:rPr>
              <a:t>Подрядный ресурс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9390888" y="100584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94,0 млн ₽</a:t>
            </a:r>
          </a:p>
        </p:txBody>
      </p:sp>
      <p:sp>
        <p:nvSpPr>
          <p:cNvPr id="26" name="Shape 24"/>
          <p:cNvSpPr/>
          <p:nvPr/>
        </p:nvSpPr>
        <p:spPr>
          <a:xfrm>
            <a:off x="10927080" y="7772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1018520" y="850392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70" dirty="0">
                <a:solidFill>
                  <a:srgbClr val="7C8796"/>
                </a:solidFill>
              </a:rPr>
              <a:t>₽ / м²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11018520" y="9966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1 554 / 2 110 ₽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1645920"/>
            <a:ext cx="57150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12064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Собственный ресурс</a:t>
            </a:r>
            <a:endParaRPr lang="en-US" sz="96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057400"/>
          <a:ext cx="5394960" cy="2468880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r>
                        <a:t>База расчета по работам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28 200 000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ФОТ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48 341 849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ФОТ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1 137 709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Работы / ПНР собственным ресурсом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49 479 558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Инструмент / расходники / СИЗ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4 834 185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23 777 134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Оборудование (без наценки 20%)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Материалы (без наценки 15%)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127 700 740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530352" y="4645152"/>
            <a:ext cx="5230368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530352" y="480974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Удельный бюджет: 2 110 ₽ / м²</a:t>
            </a:r>
          </a:p>
        </p:txBody>
      </p:sp>
      <p:sp>
        <p:nvSpPr>
          <p:cNvPr id="34" name="Text 31"/>
          <p:cNvSpPr/>
          <p:nvPr/>
        </p:nvSpPr>
        <p:spPr>
          <a:xfrm>
            <a:off x="530352" y="504748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Работы / ПНР: подрядный 28,2 млн ₽ • собственный 49,5 млн ₽</a:t>
            </a:r>
          </a:p>
        </p:txBody>
      </p:sp>
      <p:graphicFrame>
        <p:nvGraphicFramePr>
          <p:cNvPr id="35" name="Chart 0"/>
          <p:cNvGraphicFramePr/>
          <p:nvPr/>
        </p:nvGraphicFramePr>
        <p:xfrm>
          <a:off x="2999232" y="4681728"/>
          <a:ext cx="26060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6" name="Shape 32"/>
          <p:cNvSpPr/>
          <p:nvPr/>
        </p:nvSpPr>
        <p:spPr>
          <a:xfrm>
            <a:off x="6190488" y="1645920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7" name="Text 33"/>
          <p:cNvSpPr/>
          <p:nvPr/>
        </p:nvSpPr>
        <p:spPr>
          <a:xfrm>
            <a:off x="6382512" y="181051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Подрядный ресурс</a:t>
            </a:r>
            <a:endParaRPr lang="en-US" sz="960" dirty="0"/>
          </a:p>
        </p:txBody>
      </p:sp>
      <p:graphicFrame>
        <p:nvGraphicFramePr>
          <p:cNvPr id="3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57400"/>
          <a:ext cx="5349240" cy="182880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t>Базовая стоимость работ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28 200 000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Корректировка работ на коэффициенты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13 553 625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ОПР + АХР и ОПР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2 677 592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Оборудование (без наценки 20%)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35 800 000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Материалы (без наценки 15%)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11 600 000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Проектирование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2 209 864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t>Итог бюджета проекта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94 041 081 ₽</a:t>
                      </a:r>
                    </a:p>
                  </a:txBody>
                  <a:tcPr marL="45720" marR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4"/>
          <p:cNvSpPr/>
          <p:nvPr/>
        </p:nvSpPr>
        <p:spPr>
          <a:xfrm>
            <a:off x="6391656" y="4041648"/>
            <a:ext cx="5166360" cy="0"/>
          </a:xfrm>
          <a:prstGeom prst="line">
            <a:avLst/>
          </a:prstGeom>
          <a:noFill/>
          <a:ln w="12700">
            <a:solidFill>
              <a:srgbClr val="D9E0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5"/>
          <p:cNvSpPr/>
          <p:nvPr/>
        </p:nvSpPr>
        <p:spPr>
          <a:xfrm>
            <a:off x="6419088" y="423367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Удельный бюджет: 1 554 ₽ / м²</a:t>
            </a:r>
          </a:p>
        </p:txBody>
      </p:sp>
      <p:sp>
        <p:nvSpPr>
          <p:cNvPr id="41" name="Text 36"/>
          <p:cNvSpPr/>
          <p:nvPr/>
        </p:nvSpPr>
        <p:spPr>
          <a:xfrm>
            <a:off x="6419088" y="44714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7C8796"/>
                </a:solidFill>
              </a:rPr>
              <a:t>Наценки на оборудование и материалы перенесены в рентабельность и не задвоены в отдельных строках.</a:t>
            </a:r>
            <a:endParaRPr lang="en-US" sz="8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6492240" y="4663440"/>
          <a:ext cx="493776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7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4" name="Text 38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График реализации проекта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Ориентир по срокам: проектирование, поставка оборудования, СМР, ПНР и сдача АПС в эксплуатацию.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41248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12064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План-график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290779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290779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3B6D"/>
                </a:solidFill>
              </a:rPr>
              <a:t>M1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356616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56616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3B6D"/>
                </a:solidFill>
              </a:rPr>
              <a:t>M2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224528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224528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3B6D"/>
                </a:solidFill>
              </a:rPr>
              <a:t>M3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82896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4882896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3B6D"/>
                </a:solidFill>
              </a:rPr>
              <a:t>M4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541264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541264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3B6D"/>
                </a:solidFill>
              </a:rPr>
              <a:t>M5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199632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199632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3B6D"/>
                </a:solidFill>
              </a:rPr>
              <a:t>M6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58000" y="1426464"/>
            <a:ext cx="502920" cy="310896"/>
          </a:xfrm>
          <a:prstGeom prst="roundRect">
            <a:avLst>
              <a:gd name="adj" fmla="val 3529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6858000" y="1517904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13B6D"/>
                </a:solidFill>
              </a:rPr>
              <a:t>M7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658368" y="20665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Проектирование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07792" y="199339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F2A640"/>
          </a:solidFill>
          <a:ln w="12700">
            <a:solidFill>
              <a:srgbClr val="F2A6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658368" y="266090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Закупка и логистика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3566160" y="258775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58368" y="325526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Поставка оборудования и материалов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224528" y="3182112"/>
            <a:ext cx="1225296" cy="237744"/>
          </a:xfrm>
          <a:prstGeom prst="roundRect">
            <a:avLst>
              <a:gd name="adj" fmla="val 15385"/>
            </a:avLst>
          </a:prstGeom>
          <a:solidFill>
            <a:srgbClr val="7EC9B3"/>
          </a:solidFill>
          <a:ln w="12700">
            <a:solidFill>
              <a:srgbClr val="7EC9B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58368" y="384962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Строительно-монтажные работы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224528" y="3776472"/>
            <a:ext cx="2542032" cy="237744"/>
          </a:xfrm>
          <a:prstGeom prst="roundRect">
            <a:avLst>
              <a:gd name="adj" fmla="val 15385"/>
            </a:avLst>
          </a:prstGeom>
          <a:solidFill>
            <a:srgbClr val="2D65B1"/>
          </a:solidFill>
          <a:ln w="12700">
            <a:solidFill>
              <a:srgbClr val="2D65B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658368" y="444398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Пусконаладочные работы и испытания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541264" y="4370832"/>
            <a:ext cx="1883664" cy="237744"/>
          </a:xfrm>
          <a:prstGeom prst="roundRect">
            <a:avLst>
              <a:gd name="adj" fmla="val 15385"/>
            </a:avLst>
          </a:prstGeom>
          <a:solidFill>
            <a:srgbClr val="7E6BAA"/>
          </a:solidFill>
          <a:ln w="12700">
            <a:solidFill>
              <a:srgbClr val="7E6BA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658368" y="503834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334155"/>
                </a:solidFill>
              </a:rPr>
              <a:t>Сдача и исполнительная документация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858000" y="4965192"/>
            <a:ext cx="566928" cy="237744"/>
          </a:xfrm>
          <a:prstGeom prst="roundRect">
            <a:avLst>
              <a:gd name="adj" fmla="val 15385"/>
            </a:avLst>
          </a:prstGeom>
          <a:solidFill>
            <a:srgbClr val="16A3A7"/>
          </a:solidFill>
          <a:ln w="12700">
            <a:solidFill>
              <a:srgbClr val="16A3A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3639312" y="5650992"/>
            <a:ext cx="4434840" cy="320040"/>
          </a:xfrm>
          <a:prstGeom prst="roundRect">
            <a:avLst>
              <a:gd name="adj" fmla="val 34286"/>
            </a:avLst>
          </a:prstGeom>
          <a:solidFill>
            <a:srgbClr val="16C3C6"/>
          </a:solidFill>
          <a:ln w="12700">
            <a:solidFill>
              <a:srgbClr val="16C3C6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3794760" y="5742432"/>
            <a:ext cx="4114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Готовность к сдаче — 7 месяцев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42832" y="822960"/>
            <a:ext cx="2926080" cy="54406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9125712" y="98755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6C3C6"/>
                </a:solidFill>
              </a:rPr>
              <a:t>Силы и средства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9162288" y="12801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СМР — 3 бригады по 5 чел. + 2 ИТР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Ориентир для СМР: 17 чел.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62288" y="193852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ПНР — 4 инженера + 1 ведущий инженер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Ориентир для ПНР: 5 чел.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2743200"/>
            <a:ext cx="2423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9326880" y="2889504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b="1" dirty="0">
                <a:solidFill>
                  <a:srgbClr val="113B6D"/>
                </a:solidFill>
              </a:rPr>
              <a:t>Ключевые этапы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9308592" y="3127248"/>
            <a:ext cx="1993392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Проектирование — 2 месяца.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Закупка стартует после выпуска основных проектных решений.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СМР выполняются поэтапно, без остановки эксплуатации здания.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ПНР начинается после готовности ядра и полевого уровня по зонам.</a:t>
            </a:r>
            <a:endParaRPr lang="en-US" sz="855" dirty="0"/>
          </a:p>
          <a:p>
            <a:pPr marL="152400" indent="-152400">
              <a:buSzPct val="100000"/>
              <a:buChar char="•"/>
            </a:pPr>
            <a:r>
              <a:rPr lang="en-US" sz="855" dirty="0">
                <a:solidFill>
                  <a:srgbClr val="334155"/>
                </a:solidFill>
              </a:rPr>
              <a:t>Заключительный этап — комплексные испытания и ввод в эксплуатацию.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13B6D"/>
          </a:solidFill>
          <a:ln w="12700">
            <a:solidFill>
              <a:srgbClr val="113B6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Допущения при расчетах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C8796"/>
                </a:solidFill>
              </a:rPr>
              <a:t>Расчет выполнен при ограниченном наборе исходных данных; значения являются предварительной финансовой моделью по АПС.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233672" y="841248"/>
            <a:ext cx="3822192" cy="5440680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8147304" y="841248"/>
            <a:ext cx="3721608" cy="5440680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12700">
            <a:solidFill>
              <a:srgbClr val="D9E0E7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12064" y="10241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6D"/>
                </a:solidFill>
              </a:rPr>
              <a:t>Принятые допущения и логика оценки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Расчет выполнен на стадии предварительной бюджетной оценки по защищаемой площади 60 515 м² без полного комплекта исполнительной документации.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Количество оборудования определено по функциональным зонам, этажности, площади, типовым плотностям пожарных извещателей и существующей архитектуре объекта.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В модели учтена замена существующих 8 станций ППКУП и построение нового адресного контура на отечественном оборудовании.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Кабельный фонд принят укрупненно — 58 000 м с учетом скрытой прокладки, межэтажных переходов и резервов на замену в действующем здании.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Смета проектирования принята по предоставленной форме №2П, с НДС 22%.</a:t>
            </a:r>
            <a:endParaRPr lang="en-US" sz="875" dirty="0"/>
          </a:p>
        </p:txBody>
      </p:sp>
      <p:sp>
        <p:nvSpPr>
          <p:cNvPr id="10" name="Text 8"/>
          <p:cNvSpPr/>
          <p:nvPr/>
        </p:nvSpPr>
        <p:spPr>
          <a:xfrm>
            <a:off x="4425696" y="102412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3B6D"/>
                </a:solidFill>
              </a:rPr>
              <a:t>Принятые условия работ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43984" y="1298448"/>
            <a:ext cx="338328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Работы выполняются в эксплуатируемом здании с ограничениями доступа.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Часть работ производится в ночные окна и частично в выходные дни.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Скрытая прокладка инженерных коммуникаций и сохранение работающих зон приняты как базовое ограничение.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В учтенные СМР входят монтаж, адресация, сценарии управления и комплексное ПНР.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Итоговые бюджеты собственного и подрядного ресурса рассчитаны по той же методике накладных и рентабельности, что и в исходной презентации-аналоге.</a:t>
            </a:r>
            <a:endParaRPr lang="en-US" sz="875" dirty="0"/>
          </a:p>
        </p:txBody>
      </p:sp>
      <p:sp>
        <p:nvSpPr>
          <p:cNvPr id="12" name="Text 10"/>
          <p:cNvSpPr/>
          <p:nvPr/>
        </p:nvSpPr>
        <p:spPr>
          <a:xfrm>
            <a:off x="8339328" y="102412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</a:rPr>
              <a:t>Факторы возможного удорожания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57616" y="1298448"/>
            <a:ext cx="3246120" cy="3474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Уточнение архитектуры АПС после доступа к конфигурациям и детальной диагностике существующей системы.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Рост доли скрытых, ночных, высотных и поэтапных работ в действующем здании.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Уточнение количества модулей управления СПДВ, АУВПТ и смежными инженерными системами.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Дополнительные огнестойкие проходки, кабельное хозяйство, усиление креплений и огнезащита.</a:t>
            </a:r>
            <a:endParaRPr lang="en-US" sz="875" dirty="0"/>
          </a:p>
          <a:p>
            <a:pPr marL="152400" indent="-152400">
              <a:buSzPct val="100000"/>
              <a:buChar char="•"/>
            </a:pPr>
            <a:r>
              <a:rPr lang="en-US" sz="875" dirty="0">
                <a:solidFill>
                  <a:srgbClr val="334155"/>
                </a:solidFill>
              </a:rPr>
              <a:t>Изменение вендора, дефицит оборудования, сроки поставки и требования по резервированию.</a:t>
            </a:r>
            <a:endParaRPr lang="en-US" sz="875" dirty="0"/>
          </a:p>
        </p:txBody>
      </p:sp>
      <p:sp>
        <p:nvSpPr>
          <p:cNvPr id="14" name="Shape 12"/>
          <p:cNvSpPr/>
          <p:nvPr/>
        </p:nvSpPr>
        <p:spPr>
          <a:xfrm>
            <a:off x="8339328" y="5120640"/>
            <a:ext cx="3246120" cy="676656"/>
          </a:xfrm>
          <a:prstGeom prst="roundRect">
            <a:avLst>
              <a:gd name="adj" fmla="val 16216"/>
            </a:avLst>
          </a:prstGeom>
          <a:solidFill>
            <a:srgbClr val="FFF3F1"/>
          </a:solidFill>
          <a:ln w="12700">
            <a:solidFill>
              <a:srgbClr val="FAD1CB"/>
            </a:solidFill>
            <a:prstDash val="solid"/>
          </a:ln>
          <a:effectLst>
            <a:outerShdw blurRad="12700" dist="50800" dir="2700000" algn="bl" rotWithShape="0">
              <a:srgbClr val="DDE4EA">
                <a:alpha val="1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485632" y="52395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D9534F"/>
                </a:solidFill>
              </a:rPr>
              <a:t>Дисклеймер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235440" y="52029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10" dirty="0">
                <a:solidFill>
                  <a:srgbClr val="334155"/>
                </a:solidFill>
              </a:rPr>
              <a:t>Расчет предназначен для предварительной бюджетной оценки проекта и не заменяет рабочую смету и исполнительное обследование.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347472" y="65288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7B8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Кутузовский 32, корп. Г • АПС • все цены приведены с НДС 22% • Не является публичной офертой.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686032" y="64922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2258</Words>
  <Application>Microsoft Office PowerPoint</Application>
  <PresentationFormat>Широкоэкранный</PresentationFormat>
  <Paragraphs>334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Бюджетная оценка модернизации АПС — Кутузовский проспект, 32 корп. Г</dc:title>
  <dc:subject>АПС — Кутузовский проспект, 32 корп. Г</dc:subject>
  <dc:creator>OpenAI</dc:creator>
  <cp:lastModifiedBy>0 Alexander</cp:lastModifiedBy>
  <cp:revision>2</cp:revision>
  <dcterms:created xsi:type="dcterms:W3CDTF">2026-03-25T12:05:55Z</dcterms:created>
  <dcterms:modified xsi:type="dcterms:W3CDTF">2026-03-25T15:39:25Z</dcterms:modified>
</cp:coreProperties>
</file>