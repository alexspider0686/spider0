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530352"/>
            <a:ext cx="5166360" cy="5715000"/>
          </a:xfrm>
          <a:prstGeom prst="roundRect">
            <a:avLst/>
          </a:prstGeom>
          <a:solidFill>
            <a:srgbClr val="0A14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713232"/>
            <a:ext cx="22402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7C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7C9EB"/>
                </a:solidFill>
                <a:latin typeface="Aptos"/>
              </a:rPr>
              <a:t>Inspired by modern SaaS decks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07008"/>
            <a:ext cx="4023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Project.Core™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00784"/>
            <a:ext cx="4617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Сайт и платформа
предварительной бюджетной оценки
систем безопасности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4343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Новая версия презентации в более современной SaaS-стилистике: крупные product-shot’ы, чистая сетка, акцентные метрики и ясное деление на продуктовые контуры.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4590288"/>
            <a:ext cx="1499616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7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7F3F"/>
                </a:solidFill>
                <a:latin typeface="Aptos"/>
              </a:rPr>
              <a:t>6 систем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93392" y="4590288"/>
            <a:ext cx="170992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7C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7C9EB"/>
                </a:solidFill>
                <a:latin typeface="Aptos"/>
              </a:rPr>
              <a:t>5–10 минут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3008" y="4590288"/>
            <a:ext cx="173736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C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C08B"/>
                </a:solidFill>
                <a:latin typeface="Aptos"/>
              </a:rPr>
              <a:t>Сайт + платформа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2512" y="768096"/>
            <a:ext cx="5257800" cy="5504688"/>
          </a:xfrm>
          <a:prstGeom prst="roundRect">
            <a:avLst/>
          </a:prstGeom>
          <a:solidFill>
            <a:srgbClr val="0A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658368"/>
            <a:ext cx="5257800" cy="5504688"/>
          </a:xfrm>
          <a:prstGeom prst="roundRect">
            <a:avLst/>
          </a:prstGeom>
          <a:solidFill>
            <a:srgbClr val="0A1423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28232" y="822959"/>
            <a:ext cx="5020056" cy="5221224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ite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850392"/>
            <a:ext cx="4965192" cy="51663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Продукт в одном экране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9264"/>
            <a:ext cx="67665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8667E"/>
                </a:solidFill>
                <a:latin typeface="Aptos"/>
              </a:rPr>
              <a:t>Project.Core™ состоит из двух визуально разных, но логически связанных частей: сайта для презентации ценности и платформы для расчёта бюджета.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64208"/>
            <a:ext cx="22402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64208"/>
            <a:ext cx="73152" cy="1005840"/>
          </a:xfrm>
          <a:prstGeom prst="rect">
            <a:avLst/>
          </a:prstGeom>
          <a:solidFill>
            <a:srgbClr val="2E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92224"/>
            <a:ext cx="1965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40280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8667E"/>
                </a:solidFill>
                <a:latin typeface="Aptos"/>
              </a:rPr>
              <a:t>подсистем в одном расчёте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35808" y="1664208"/>
            <a:ext cx="22402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35808" y="1664208"/>
            <a:ext cx="73152" cy="1005840"/>
          </a:xfrm>
          <a:prstGeom prst="rect">
            <a:avLst/>
          </a:prstGeom>
          <a:solidFill>
            <a:srgbClr val="47C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36976" y="1792224"/>
            <a:ext cx="1965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85+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2240280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8667E"/>
                </a:solidFill>
                <a:latin typeface="Aptos"/>
              </a:rPr>
              <a:t>субъектов РФ в модели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31536" y="1664208"/>
            <a:ext cx="22402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31536" y="1664208"/>
            <a:ext cx="73152" cy="1005840"/>
          </a:xfrm>
          <a:prstGeom prst="rect">
            <a:avLst/>
          </a:prstGeom>
          <a:solidFill>
            <a:srgbClr val="FF7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32704" y="1792224"/>
            <a:ext cx="1965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32704" y="2240280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8667E"/>
                </a:solidFill>
                <a:latin typeface="Aptos"/>
              </a:rPr>
              <a:t>аудит цен и рисков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27264" y="1664208"/>
            <a:ext cx="22402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27264" y="1664208"/>
            <a:ext cx="73152" cy="1005840"/>
          </a:xfrm>
          <a:prstGeom prst="rect">
            <a:avLst/>
          </a:prstGeom>
          <a:solidFill>
            <a:srgbClr val="2DC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8432" y="1792224"/>
            <a:ext cx="1965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B2B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2" y="2240280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8667E"/>
                </a:solidFill>
                <a:latin typeface="Aptos"/>
              </a:rPr>
              <a:t>корпоративный и рыночный контур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880360"/>
            <a:ext cx="53492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99632" y="2880360"/>
            <a:ext cx="53492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12724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"/>
              </a:rPr>
              <a:t>Сайт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401568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667E"/>
                </a:solidFill>
                <a:latin typeface="Aptos"/>
              </a:rPr>
              <a:t>Показывает продукт, преимущества, AI-логику и legal-контур.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127248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"/>
              </a:rPr>
              <a:t>Платформа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3401568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667E"/>
                </a:solidFill>
                <a:latin typeface="Aptos"/>
              </a:rPr>
              <a:t>Считает объект, системы, проектирование, бюджет и риск-контур.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" y="3904488"/>
            <a:ext cx="4572000" cy="1965960"/>
          </a:xfrm>
          <a:prstGeom prst="roundRect">
            <a:avLst/>
          </a:prstGeom>
          <a:solidFill>
            <a:srgbClr val="BAC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7824" y="3794760"/>
            <a:ext cx="4572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96695" y="3959352"/>
            <a:ext cx="4334256" cy="1682495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site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7" y="3986784"/>
            <a:ext cx="4279392" cy="1627631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510528" y="3904488"/>
            <a:ext cx="4498848" cy="1965960"/>
          </a:xfrm>
          <a:prstGeom prst="roundRect">
            <a:avLst/>
          </a:prstGeom>
          <a:solidFill>
            <a:srgbClr val="BAC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37376" y="3794760"/>
            <a:ext cx="449884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56248" y="3959352"/>
            <a:ext cx="4261104" cy="1682495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platform-object-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986784"/>
            <a:ext cx="4206240" cy="162763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02920" y="6428232"/>
            <a:ext cx="3017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8667E"/>
                </a:solidFill>
                <a:latin typeface="Aptos"/>
              </a:rPr>
              <a:t>Project.Core™ / reference-inspired deck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42823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58667E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si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2743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Сайт продукта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49834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4EAF2"/>
                </a:solidFill>
                <a:latin typeface="Aptos"/>
              </a:rPr>
              <a:t>Современная логика подачи для B2B software: сильный hero-блок, доказательные метрики, разбор преимуществ и понятный переход к демо-сценарию.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55648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9EEF6"/>
                </a:solidFill>
                <a:latin typeface="Aptos"/>
              </a:rPr>
              <a:t>• Hero-экран с коротким УТП и CTA.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E9EEF6"/>
                </a:solidFill>
                <a:latin typeface="Aptos"/>
              </a:rPr>
              <a:t>• Блок сравнения с альтернативами рынка.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E9EEF6"/>
                </a:solidFill>
                <a:latin typeface="Aptos"/>
              </a:rPr>
              <a:t>• Выделенный AI-контур и объяснение методологии.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E9EEF6"/>
                </a:solidFill>
                <a:latin typeface="Aptos"/>
              </a:rPr>
              <a:t>• Подробная страница «О системе» и legal-раздел.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96712" y="822960"/>
            <a:ext cx="5742432" cy="2468880"/>
          </a:xfrm>
          <a:prstGeom prst="roundRect">
            <a:avLst/>
          </a:prstGeom>
          <a:solidFill>
            <a:srgbClr val="0A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23560" y="713232"/>
            <a:ext cx="5742432" cy="2468880"/>
          </a:xfrm>
          <a:prstGeom prst="roundRect">
            <a:avLst/>
          </a:prstGeom>
          <a:solidFill>
            <a:srgbClr val="0A1423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42432" y="877824"/>
            <a:ext cx="5504688" cy="2185416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ite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864" y="905256"/>
            <a:ext cx="5449824" cy="21305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96712" y="3566160"/>
            <a:ext cx="2761488" cy="2596896"/>
          </a:xfrm>
          <a:prstGeom prst="roundRect">
            <a:avLst/>
          </a:prstGeom>
          <a:solidFill>
            <a:srgbClr val="0A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23560" y="3456432"/>
            <a:ext cx="2761488" cy="2596896"/>
          </a:xfrm>
          <a:prstGeom prst="roundRect">
            <a:avLst/>
          </a:prstGeom>
          <a:solidFill>
            <a:srgbClr val="0A1423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42432" y="3621024"/>
            <a:ext cx="2523744" cy="231343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ite-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9864" y="3648456"/>
            <a:ext cx="2468880" cy="225856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686800" y="3566160"/>
            <a:ext cx="2761488" cy="2596896"/>
          </a:xfrm>
          <a:prstGeom prst="roundRect">
            <a:avLst/>
          </a:prstGeom>
          <a:solidFill>
            <a:srgbClr val="0A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13648" y="3456432"/>
            <a:ext cx="2761488" cy="2596896"/>
          </a:xfrm>
          <a:prstGeom prst="roundRect">
            <a:avLst/>
          </a:prstGeom>
          <a:solidFill>
            <a:srgbClr val="0A1423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32520" y="3621024"/>
            <a:ext cx="2523744" cy="231343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ite-ai-eng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9952" y="3648456"/>
            <a:ext cx="2468880" cy="22585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2920" y="6428232"/>
            <a:ext cx="3017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8667E"/>
                </a:solidFill>
                <a:latin typeface="Aptos"/>
              </a:rPr>
              <a:t>Project.Core™ / reference-inspired deck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2823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58667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plat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Платформа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5486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4EAF2"/>
                </a:solidFill>
                <a:latin typeface="Aptos"/>
              </a:rPr>
              <a:t>Визуально платформа ближе к хорошему SaaS-dashboard: шаги процесса сверху, крупные рабочие карточки, видимые экспортные сценарии и объяснимость результата.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19" y="1792224"/>
            <a:ext cx="5623560" cy="4526280"/>
          </a:xfrm>
          <a:prstGeom prst="roundRect">
            <a:avLst/>
          </a:prstGeom>
          <a:solidFill>
            <a:srgbClr val="0A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82496"/>
            <a:ext cx="5623560" cy="4526280"/>
          </a:xfrm>
          <a:prstGeom prst="roundRect">
            <a:avLst/>
          </a:prstGeom>
          <a:solidFill>
            <a:srgbClr val="0A1423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847088"/>
            <a:ext cx="5385816" cy="4242816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tform-object-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874520"/>
            <a:ext cx="5330952" cy="418795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92240" y="1792224"/>
            <a:ext cx="5102352" cy="2798064"/>
          </a:xfrm>
          <a:prstGeom prst="roundRect">
            <a:avLst/>
          </a:prstGeom>
          <a:solidFill>
            <a:srgbClr val="0A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19088" y="1682496"/>
            <a:ext cx="5102352" cy="2798064"/>
          </a:xfrm>
          <a:prstGeom prst="roundRect">
            <a:avLst/>
          </a:prstGeom>
          <a:solidFill>
            <a:srgbClr val="0A1423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59" y="1847088"/>
            <a:ext cx="4864608" cy="251460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latform-systems-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1874520"/>
            <a:ext cx="4809744" cy="245973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492240" y="4773168"/>
            <a:ext cx="2441448" cy="1426464"/>
          </a:xfrm>
          <a:prstGeom prst="roundRect">
            <a:avLst/>
          </a:prstGeom>
          <a:solidFill>
            <a:srgbClr val="0A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19088" y="4663440"/>
            <a:ext cx="2441448" cy="1426464"/>
          </a:xfrm>
          <a:prstGeom prst="roundRect">
            <a:avLst/>
          </a:prstGeom>
          <a:solidFill>
            <a:srgbClr val="0A1423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37959" y="4828031"/>
            <a:ext cx="2203704" cy="114300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latform-budget-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855464"/>
            <a:ext cx="2148840" cy="108813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153144" y="4773168"/>
            <a:ext cx="2441448" cy="1426464"/>
          </a:xfrm>
          <a:prstGeom prst="roundRect">
            <a:avLst/>
          </a:prstGeom>
          <a:solidFill>
            <a:srgbClr val="0A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79992" y="4663440"/>
            <a:ext cx="2441448" cy="1426464"/>
          </a:xfrm>
          <a:prstGeom prst="roundRect">
            <a:avLst/>
          </a:prstGeom>
          <a:solidFill>
            <a:srgbClr val="0A1423"/>
          </a:solidFill>
          <a:ln w="12700">
            <a:solidFill>
              <a:srgbClr val="2A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98864" y="4828031"/>
            <a:ext cx="2203704" cy="114300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latform-risks-vie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6296" y="4855464"/>
            <a:ext cx="2148840" cy="108813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2920" y="6428232"/>
            <a:ext cx="3017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8667E"/>
                </a:solidFill>
                <a:latin typeface="Aptos"/>
              </a:rPr>
              <a:t>Project.Core™ / reference-inspired deck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2823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58667E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Ключевой функционал платформы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8667E"/>
                </a:solidFill>
                <a:latin typeface="Aptos"/>
              </a:rPr>
              <a:t>Слайд построен по логике product overview из современных deck-шаблонов: меньше описательности, больше функциональных окон и явных value points.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64208"/>
            <a:ext cx="361188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64208"/>
            <a:ext cx="73152" cy="1901952"/>
          </a:xfrm>
          <a:prstGeom prst="rect">
            <a:avLst/>
          </a:prstGeom>
          <a:solidFill>
            <a:srgbClr val="2E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865376"/>
            <a:ext cx="3291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Объект и зонирование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231136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667E"/>
                </a:solidFill>
                <a:latin typeface="Aptos"/>
              </a:rPr>
              <a:t>Тип объекта, площади, этажность, регион, шаблоны зон и AI-обследование.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64208"/>
            <a:ext cx="361188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664208"/>
            <a:ext cx="73152" cy="1901952"/>
          </a:xfrm>
          <a:prstGeom prst="rect">
            <a:avLst/>
          </a:prstGeom>
          <a:solidFill>
            <a:srgbClr val="47C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1865376"/>
            <a:ext cx="3291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Системы и спецификация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231136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667E"/>
                </a:solidFill>
                <a:latin typeface="Aptos"/>
              </a:rPr>
              <a:t>Состав систем, вендоры, PDF APS, ключевое оборудование и рассчитанная спецификация.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664208"/>
            <a:ext cx="361188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664208"/>
            <a:ext cx="73152" cy="1901952"/>
          </a:xfrm>
          <a:prstGeom prst="rect">
            <a:avLst/>
          </a:prstGeom>
          <a:solidFill>
            <a:srgbClr val="FF7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1" y="1865376"/>
            <a:ext cx="3291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Бюджет и коэффициенты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1" y="2231136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667E"/>
                </a:solidFill>
                <a:latin typeface="Aptos"/>
              </a:rPr>
              <a:t>Условия расчёта, защитные механизмы, логика работ и агрегированная стоимость.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85615"/>
            <a:ext cx="361188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785615"/>
            <a:ext cx="73152" cy="1901952"/>
          </a:xfrm>
          <a:prstGeom prst="rect">
            <a:avLst/>
          </a:prstGeom>
          <a:solidFill>
            <a:srgbClr val="2DC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986783"/>
            <a:ext cx="3291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AI-логика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4352544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667E"/>
                </a:solidFill>
                <a:latin typeface="Aptos"/>
              </a:rPr>
              <a:t>AI-аудит цен, AI-обследование, AI-техническое решение и AI-риски проекта.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785615"/>
            <a:ext cx="361188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785615"/>
            <a:ext cx="73152" cy="1901952"/>
          </a:xfrm>
          <a:prstGeom prst="rect">
            <a:avLst/>
          </a:prstGeom>
          <a:solidFill>
            <a:srgbClr val="2E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2" y="3986783"/>
            <a:ext cx="3291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Экспорт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4352544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667E"/>
                </a:solidFill>
                <a:latin typeface="Aptos"/>
              </a:rPr>
              <a:t>ТКП, план проекта, Excel-выгрузки и презентационные материалы.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3785615"/>
            <a:ext cx="361188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79" y="3785615"/>
            <a:ext cx="73152" cy="1901952"/>
          </a:xfrm>
          <a:prstGeom prst="rect">
            <a:avLst/>
          </a:prstGeom>
          <a:solidFill>
            <a:srgbClr val="47C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19871" y="3986783"/>
            <a:ext cx="3291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Explainability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9871" y="4352544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667E"/>
                </a:solidFill>
                <a:latin typeface="Aptos"/>
              </a:rPr>
              <a:t>Пользователь видит не только итог, но и происхождение суммы.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28232"/>
            <a:ext cx="3017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8667E"/>
                </a:solidFill>
                <a:latin typeface="Aptos"/>
              </a:rPr>
              <a:t>Project.Core™ / reference-inspired deck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2823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58667E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road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48640"/>
            <a:ext cx="4389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Планы по доработкам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41832"/>
            <a:ext cx="6766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4EAF2"/>
                </a:solidFill>
                <a:latin typeface="Aptos"/>
              </a:rPr>
              <a:t>После завершения написания основного кода развитие продукта идёт по трём направлениям: технологическому, нормативному и корпоративному.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1664208"/>
            <a:ext cx="106984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745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7C9EB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828800"/>
            <a:ext cx="3566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Завершение основной разработки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6309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Aptos"/>
              </a:rPr>
              <a:t>Финишная стабилизация сайта и платформы как единого продукта.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2834640"/>
            <a:ext cx="106984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044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7C9EB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999232"/>
            <a:ext cx="3566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Переход на отечественное ПО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999232"/>
            <a:ext cx="6309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Aptos"/>
              </a:rPr>
              <a:t>Запланирован после завершения основного контура кода.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" y="4005072"/>
            <a:ext cx="106984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215384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7C9EB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4169663"/>
            <a:ext cx="3566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Правовая регистрация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169663"/>
            <a:ext cx="6309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Aptos"/>
              </a:rPr>
              <a:t>Товарный знак и регистрация продукта в соответствии с законодательством РФ.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" y="5175504"/>
            <a:ext cx="106984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538581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7C9EB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5340096"/>
            <a:ext cx="3566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Корпоративная secure-ветка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5340096"/>
            <a:ext cx="6309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Aptos"/>
              </a:rPr>
              <a:t>Отдельная версия для ООО «СТК» (ПАО Сбер) с соблюдением стандартов кибербезопасности РФ и ПАО Сбер.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28232"/>
            <a:ext cx="3017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8667E"/>
                </a:solidFill>
                <a:latin typeface="Aptos"/>
              </a:rPr>
              <a:t>Project.Core™ / reference-inspired deck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2823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58667E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spl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Два продукта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4EAF2"/>
                </a:solidFill>
                <a:latin typeface="Aptos"/>
              </a:rPr>
              <a:t>Аналогично сильным B2B deck’ам, продуктовая стратегия упакована в два отдельных коммерческих контура.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9344"/>
            <a:ext cx="5413248" cy="4526280"/>
          </a:xfrm>
          <a:prstGeom prst="roundRect">
            <a:avLst/>
          </a:prstGeom>
          <a:solidFill>
            <a:srgbClr val="0A1423"/>
          </a:solidFill>
          <a:ln w="12700">
            <a:solidFill>
              <a:srgbClr val="FF7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26480" y="1609344"/>
            <a:ext cx="5413248" cy="4526280"/>
          </a:xfrm>
          <a:prstGeom prst="roundRect">
            <a:avLst/>
          </a:prstGeom>
          <a:solidFill>
            <a:srgbClr val="0A1423"/>
          </a:solidFill>
          <a:ln w="12700">
            <a:solidFill>
              <a:srgbClr val="47C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847088"/>
            <a:ext cx="111556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7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7F3F"/>
                </a:solidFill>
                <a:latin typeface="Aptos"/>
              </a:rPr>
              <a:t>Контур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40280"/>
            <a:ext cx="4206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Версия для ООО «СТК»
(под Генеральное соглашение с ПАО Сбер)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310128"/>
            <a:ext cx="440740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E7ECF4"/>
                </a:solidFill>
                <a:latin typeface="Aptos"/>
              </a:rPr>
              <a:t>• Приведение решения в соответствие требованиям стандартов по кибербезопасности РФ и ПАО Сбер.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E7ECF4"/>
                </a:solidFill>
                <a:latin typeface="Aptos"/>
              </a:rPr>
              <a:t>• Отдельный корпоративный контур поставки и сопровождения.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E7ECF4"/>
                </a:solidFill>
                <a:latin typeface="Aptos"/>
              </a:rPr>
              <a:t>• Фокус на compliance, безопасную эксплуатацию и внутренние требования заказчика.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4224" y="1847088"/>
            <a:ext cx="111556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7C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7C9EB"/>
                </a:solidFill>
                <a:latin typeface="Aptos"/>
              </a:rPr>
              <a:t>Контур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2240280"/>
            <a:ext cx="4023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Внешний рынок:
продажа доступа к платформе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3310128"/>
            <a:ext cx="440740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E7ECF4"/>
                </a:solidFill>
                <a:latin typeface="Aptos"/>
              </a:rPr>
              <a:t>• SaaS-модель с тарифными планами и разным доступом к функционалу.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E7ECF4"/>
                </a:solidFill>
                <a:latin typeface="Aptos"/>
              </a:rPr>
              <a:t>• Браузерный доступ к платформе как коммерческому продукту.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E7ECF4"/>
                </a:solidFill>
                <a:latin typeface="Aptos"/>
              </a:rPr>
              <a:t>• Абонентская плата и масштабирование на несколько сегментов заказчиков.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28232"/>
            <a:ext cx="3017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8667E"/>
                </a:solidFill>
                <a:latin typeface="Aptos"/>
              </a:rPr>
              <a:t>Project.Core™ / reference-inspired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2823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58667E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tariff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5852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Коммерческая модель внешнего рынка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7132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4EAF2"/>
                </a:solidFill>
                <a:latin typeface="Aptos"/>
              </a:rPr>
              <a:t>По аналогии с лучшими software-презентациями, тарифы показаны как продуктовые уровни, а не как перегруженная таблица прайс-листа.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700784"/>
            <a:ext cx="276148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199339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"/>
              </a:rPr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395728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71FF"/>
                </a:solidFill>
                <a:latin typeface="Aptos"/>
              </a:rPr>
              <a:t>от 49 000 ₽/мес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97180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40" b="0">
                <a:solidFill>
                  <a:srgbClr val="58667E"/>
                </a:solidFill>
                <a:latin typeface="Aptos"/>
              </a:rPr>
              <a:t>• Базовый пресейл</a:t>
            </a:r>
          </a:p>
          <a:p>
            <a:pPr algn="l">
              <a:spcAft>
                <a:spcPts val="0"/>
              </a:spcAft>
            </a:pPr>
            <a:r>
              <a:rPr sz="1340" b="0">
                <a:solidFill>
                  <a:srgbClr val="58667E"/>
                </a:solidFill>
                <a:latin typeface="Aptos"/>
              </a:rPr>
              <a:t>• Ограниченный доступ</a:t>
            </a:r>
          </a:p>
          <a:p>
            <a:pPr algn="l">
              <a:spcAft>
                <a:spcPts val="0"/>
              </a:spcAft>
            </a:pPr>
            <a:r>
              <a:rPr sz="1340" b="0">
                <a:solidFill>
                  <a:srgbClr val="58667E"/>
                </a:solidFill>
                <a:latin typeface="Aptos"/>
              </a:rPr>
              <a:t>• Стандартные выгрузки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" y="5468112"/>
            <a:ext cx="15544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E71FF"/>
                </a:solidFill>
                <a:latin typeface="Aptos"/>
              </a:rPr>
              <a:t>Абонентская плата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78224" y="1700784"/>
            <a:ext cx="276148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7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61104" y="199339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"/>
              </a:rPr>
              <a:t>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1104" y="2395728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7F3F"/>
                </a:solidFill>
                <a:latin typeface="Aptos"/>
              </a:rPr>
              <a:t>от 119 000 ₽/мес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297180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40" b="0">
                <a:solidFill>
                  <a:srgbClr val="58667E"/>
                </a:solidFill>
                <a:latin typeface="Aptos"/>
              </a:rPr>
              <a:t>• Полный расчёт</a:t>
            </a:r>
          </a:p>
          <a:p>
            <a:pPr algn="l">
              <a:spcAft>
                <a:spcPts val="0"/>
              </a:spcAft>
            </a:pPr>
            <a:r>
              <a:rPr sz="1340" b="0">
                <a:solidFill>
                  <a:srgbClr val="58667E"/>
                </a:solidFill>
                <a:latin typeface="Aptos"/>
              </a:rPr>
              <a:t>• AI-модули</a:t>
            </a:r>
          </a:p>
          <a:p>
            <a:pPr algn="l">
              <a:spcAft>
                <a:spcPts val="0"/>
              </a:spcAft>
            </a:pPr>
            <a:r>
              <a:rPr sz="1340" b="0">
                <a:solidFill>
                  <a:srgbClr val="58667E"/>
                </a:solidFill>
                <a:latin typeface="Aptos"/>
              </a:rPr>
              <a:t>• Расширенные выходные материалы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1104" y="5468112"/>
            <a:ext cx="15544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7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7F3F"/>
                </a:solidFill>
                <a:latin typeface="Aptos"/>
              </a:rPr>
              <a:t>Абонентская плата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70064" y="1700784"/>
            <a:ext cx="276148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C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2944" y="199339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"/>
              </a:rPr>
              <a:t>Enterprise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2944" y="2395728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DC08B"/>
                </a:solidFill>
                <a:latin typeface="Aptos"/>
              </a:rPr>
              <a:t>индивидуально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2944" y="297180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40" b="0">
                <a:solidFill>
                  <a:srgbClr val="58667E"/>
                </a:solidFill>
                <a:latin typeface="Aptos"/>
              </a:rPr>
              <a:t>• Корпоративная конфигурация</a:t>
            </a:r>
          </a:p>
          <a:p>
            <a:pPr algn="l">
              <a:spcAft>
                <a:spcPts val="0"/>
              </a:spcAft>
            </a:pPr>
            <a:r>
              <a:rPr sz="1340" b="0">
                <a:solidFill>
                  <a:srgbClr val="58667E"/>
                </a:solidFill>
                <a:latin typeface="Aptos"/>
              </a:rPr>
              <a:t>• Интеграции и SLA</a:t>
            </a:r>
          </a:p>
          <a:p>
            <a:pPr algn="l">
              <a:spcAft>
                <a:spcPts val="0"/>
              </a:spcAft>
            </a:pPr>
            <a:r>
              <a:rPr sz="1340" b="0">
                <a:solidFill>
                  <a:srgbClr val="58667E"/>
                </a:solidFill>
                <a:latin typeface="Aptos"/>
              </a:rPr>
              <a:t>• Отдельный контур сопровождения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5468112"/>
            <a:ext cx="15544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C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C08B"/>
                </a:solidFill>
                <a:latin typeface="Aptos"/>
              </a:rPr>
              <a:t>Абонентская плата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6382512"/>
            <a:ext cx="10607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6DDE6"/>
                </a:solidFill>
                <a:latin typeface="Aptos"/>
              </a:rPr>
              <a:t>Для версии ООО «СТК» (ПАО Сбер) предполагается отдельная договорная модель вне стандартной SaaS-тарификации.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28232"/>
            <a:ext cx="3017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8667E"/>
                </a:solidFill>
                <a:latin typeface="Aptos"/>
              </a:rPr>
              <a:t>Project.Core™ / reference-inspired deck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2823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58667E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