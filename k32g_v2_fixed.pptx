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media/image1.jpg" ContentType="image/jpg"/>
  <Override PartName="/ppt/media/image2.webp" ContentType="image/webp"/>
  <Override PartName="/ppt/media/image3.webp" ContentType="image/webp"/>
  <Override PartName="/ppt/media/image4.webp" ContentType="image/webp"/>
  <Override PartName="/ppt/media/image5.webp" ContentType="image/webp"/>
  <Override PartName="/ppt/media/image6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10"/>
  </p:normalViewPr>
  <p:slideViewPr>
    <p:cSldViewPr snapToGrid="0" snapToObjects="1">
      <p:cViewPr varScale="1">
        <p:scale>
          <a:sx n="152" d="100"/>
          <a:sy n="152" d="100"/>
        </p:scale>
        <p:origin x="2910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05"/>
          <c:y val="0.05"/>
          <c:w val="0.9"/>
          <c:h val="0.9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Структура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D65B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1E6-41F3-A70F-139939D7DC9A}"/>
              </c:ext>
            </c:extLst>
          </c:dPt>
          <c:dPt>
            <c:idx val="1"/>
            <c:bubble3D val="0"/>
            <c:spPr>
              <a:solidFill>
                <a:srgbClr val="F2A64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1E6-41F3-A70F-139939D7DC9A}"/>
              </c:ext>
            </c:extLst>
          </c:dPt>
          <c:dPt>
            <c:idx val="2"/>
            <c:bubble3D val="0"/>
            <c:spPr>
              <a:solidFill>
                <a:srgbClr val="A8ADB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1E6-41F3-A70F-139939D7DC9A}"/>
              </c:ext>
            </c:extLst>
          </c:dPt>
          <c:dPt>
            <c:idx val="3"/>
            <c:bubble3D val="0"/>
            <c:spPr>
              <a:solidFill>
                <a:srgbClr val="F0C84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1E6-41F3-A70F-139939D7DC9A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1E6-41F3-A70F-139939D7DC9A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1E6-41F3-A70F-139939D7DC9A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1E6-41F3-A70F-139939D7DC9A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1E6-41F3-A70F-139939D7DC9A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Оборудование</c:v>
                </c:pt>
                <c:pt idx="1">
                  <c:v>Материалы</c:v>
                </c:pt>
                <c:pt idx="2">
                  <c:v>Работы</c:v>
                </c:pt>
                <c:pt idx="3">
                  <c:v>Проектирование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35.799999999999997</c:v>
                </c:pt>
                <c:pt idx="1">
                  <c:v>11.6</c:v>
                </c:pt>
                <c:pt idx="2">
                  <c:v>28.16</c:v>
                </c:pt>
                <c:pt idx="3">
                  <c:v>2.2098636699999998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1E6-41F3-A70F-139939D7DC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8"/>
      </c:doughnutChart>
      <c:spPr>
        <a:noFill/>
        <a:ln w="12700" cap="flat">
          <a:solidFill>
            <a:srgbClr val="FFFFFF"/>
          </a:solidFill>
        </a:ln>
        <a:effectLst/>
      </c:spPr>
    </c:plotArea>
    <c:legend>
      <c:legendPos val="r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Структура</c:v>
                </c:pt>
              </c:strCache>
            </c:strRef>
          </c:tx>
          <c:spPr>
            <a:solidFill>
              <a:srgbClr val="16C3C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Проектирование</c:v>
                </c:pt>
                <c:pt idx="1">
                  <c:v>Материалы</c:v>
                </c:pt>
                <c:pt idx="2">
                  <c:v>Оборудование</c:v>
                </c:pt>
                <c:pt idx="3">
                  <c:v>Работы</c:v>
                </c:pt>
                <c:pt idx="4">
                  <c:v>Накладные/прибыль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2.2098636699999998</c:v>
                </c:pt>
                <c:pt idx="1">
                  <c:v>10.086956521739131</c:v>
                </c:pt>
                <c:pt idx="2">
                  <c:v>29.833333333333332</c:v>
                </c:pt>
                <c:pt idx="3">
                  <c:v>28.16</c:v>
                </c:pt>
                <c:pt idx="4">
                  <c:v>56.083258032325517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8CE-4F03-9E90-E92795280E8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2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Структура</c:v>
                </c:pt>
              </c:strCache>
            </c:strRef>
          </c:tx>
          <c:spPr>
            <a:solidFill>
              <a:srgbClr val="2D65B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Проектирование</c:v>
                </c:pt>
                <c:pt idx="1">
                  <c:v>Материалы</c:v>
                </c:pt>
                <c:pt idx="2">
                  <c:v>Оборудование</c:v>
                </c:pt>
                <c:pt idx="3">
                  <c:v>Работы</c:v>
                </c:pt>
                <c:pt idx="4">
                  <c:v>Накладные/прибыль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2.2098636699999998</c:v>
                </c:pt>
                <c:pt idx="1">
                  <c:v>10.086956521739131</c:v>
                </c:pt>
                <c:pt idx="2">
                  <c:v>29.833333333333332</c:v>
                </c:pt>
                <c:pt idx="3">
                  <c:v>28.16</c:v>
                </c:pt>
                <c:pt idx="4">
                  <c:v>24.543612936859265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EEF-46DE-AED6-D66A5F06DEB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2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1063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Building exterior photo: https://moscow-city.guide/upload/iblock/82a/82ae3e863735a5f17c4a2b262b474e9c.jpg
- Object overview: https://moscow-city.guide/towers/sberbank-city/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Complex composition, total area, parking, corp. G workplaces and conference hall: https://realty.rbc.ru/news/61ab178b9a7947160b836725
- Corp. G project area 61 652 m²: https://realty.rbc.ru/news/5e707f0f9a7947ee5645252e
- Object card (9 floors, location): https://2gis.ru/moscow/geo/4504235282797775
- Reconstruction details / ~62 thousand m²: https://archsovet.msk.ru/article/aktualno/novaya-shtab-kvartira-sberbanka-ot-evolution-design-i-t-t-architects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design estimate workbook: /mnt/data/Кутузовский_пр-т,_32,_корп.__Г__САПС.xls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preliminary survey narrative and photos supplied in the conversation.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webp"/><Relationship Id="rId4" Type="http://schemas.openxmlformats.org/officeDocument/2006/relationships/image" Target="../media/image3.webp"/><Relationship Id="rId5" Type="http://schemas.openxmlformats.org/officeDocument/2006/relationships/image" Target="../media/image4.webp"/><Relationship Id="rId6" Type="http://schemas.openxmlformats.org/officeDocument/2006/relationships/image" Target="../media/image5.webp"/><Relationship Id="rId7" Type="http://schemas.openxmlformats.org/officeDocument/2006/relationships/image" Target="../media/image6.webp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00600" cy="6858000"/>
          </a:xfrm>
          <a:prstGeom prst="rect">
            <a:avLst/>
          </a:prstGeom>
          <a:solidFill>
            <a:srgbClr val="113B6D"/>
          </a:solidFill>
          <a:ln w="12700">
            <a:solidFill>
              <a:srgbClr val="113B6D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4773168" y="0"/>
            <a:ext cx="502920" cy="6858000"/>
          </a:xfrm>
          <a:prstGeom prst="rect">
            <a:avLst/>
          </a:prstGeom>
          <a:solidFill>
            <a:srgbClr val="0C315A">
              <a:alpha val="75000"/>
            </a:srgbClr>
          </a:solidFill>
          <a:ln w="12700">
            <a:solidFill>
              <a:srgbClr val="0C315A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pic>
        <p:nvPicPr>
          <p:cNvPr id="4" name="Image 0" descr="/mnt/data/building_k32g.jpg"/>
          <p:cNvPicPr>
            <a:picLocks noChangeAspect="1"/>
          </p:cNvPicPr>
          <p:nvPr/>
        </p:nvPicPr>
        <p:blipFill>
          <a:blip r:embed="rId3"/>
          <a:srcRect l="13200" r="13200"/>
          <a:stretch/>
        </p:blipFill>
        <p:spPr>
          <a:xfrm>
            <a:off x="4617720" y="0"/>
            <a:ext cx="7571232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617720" y="0"/>
            <a:ext cx="7571232" cy="6858000"/>
          </a:xfrm>
          <a:prstGeom prst="rect">
            <a:avLst/>
          </a:prstGeom>
          <a:solidFill>
            <a:srgbClr val="113B6D">
              <a:alpha val="40000"/>
            </a:srgbClr>
          </a:solidFill>
          <a:ln w="12700">
            <a:solidFill>
              <a:srgbClr val="113B6D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6" name="Text 3"/>
          <p:cNvSpPr/>
          <p:nvPr/>
        </p:nvSpPr>
        <p:spPr>
          <a:xfrm>
            <a:off x="384048" y="320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FFFFFF"/>
                </a:solidFill>
                <a:latin typeface="Arial"/>
              </a:rPr>
              <a:t>СТК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84048" y="109728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0" dirty="0">
                <a:solidFill>
                  <a:srgbClr val="D8E4F1"/>
                </a:solidFill>
                <a:latin typeface="Arial"/>
              </a:rPr>
              <a:t>Проект:</a:t>
            </a:r>
            <a:endParaRPr lang="en-US" sz="1800" dirty="0"/>
          </a:p>
          <a:p>
            <a:pPr marL="0" indent="0" algn="l">
              <a:buNone/>
            </a:pPr>
            <a:r>
              <a:rPr lang="en-US" sz="1000" b="0" dirty="0">
                <a:solidFill>
                  <a:srgbClr val="D8E4F1"/>
                </a:solidFill>
                <a:latin typeface="Arial"/>
              </a:rPr>
              <a:t>модернизация системы</a:t>
            </a:r>
            <a:endParaRPr lang="en-US" sz="1800" dirty="0"/>
          </a:p>
          <a:p>
            <a:pPr marL="0" indent="0" algn="l">
              <a:buNone/>
            </a:pPr>
            <a:r>
              <a:rPr lang="en-US" sz="1000" b="0" dirty="0">
                <a:solidFill>
                  <a:srgbClr val="D8E4F1"/>
                </a:solidFill>
                <a:latin typeface="Arial"/>
              </a:rPr>
              <a:t>автоматической пожарной</a:t>
            </a:r>
            <a:endParaRPr lang="en-US" sz="1800" dirty="0"/>
          </a:p>
          <a:p>
            <a:pPr marL="0" indent="0" algn="l">
              <a:buNone/>
            </a:pPr>
            <a:r>
              <a:rPr lang="en-US" sz="1000" b="0" dirty="0">
                <a:solidFill>
                  <a:srgbClr val="D8E4F1"/>
                </a:solidFill>
                <a:latin typeface="Arial"/>
              </a:rPr>
              <a:t>сигнализации объекта</a:t>
            </a:r>
            <a:endParaRPr lang="en-US" sz="1800" dirty="0"/>
          </a:p>
          <a:p>
            <a:pPr marL="0" indent="0" algn="l">
              <a:buNone/>
            </a:pPr>
            <a:r>
              <a:rPr lang="en-US" sz="1000" b="0" dirty="0">
                <a:solidFill>
                  <a:srgbClr val="D8E4F1"/>
                </a:solidFill>
                <a:latin typeface="Arial"/>
              </a:rPr>
              <a:t>Кутузовский 32, корп. Г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384048" y="27432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DCE7F5"/>
                </a:solidFill>
                <a:latin typeface="Arial"/>
              </a:rPr>
              <a:t>Предварительная финансовая модель проекта рассчитана с учетом проектирования, стоимости оборудования, материалов, строительно-монтажных и пусконаладочных работ.</a:t>
            </a:r>
            <a:endParaRPr lang="en-US" sz="960" dirty="0"/>
          </a:p>
        </p:txBody>
      </p:sp>
      <p:sp>
        <p:nvSpPr>
          <p:cNvPr id="9" name="Shape 6"/>
          <p:cNvSpPr/>
          <p:nvPr/>
        </p:nvSpPr>
        <p:spPr>
          <a:xfrm>
            <a:off x="384048" y="4846320"/>
            <a:ext cx="123444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10" name="Text 7"/>
          <p:cNvSpPr/>
          <p:nvPr/>
        </p:nvSpPr>
        <p:spPr>
          <a:xfrm>
            <a:off x="475488" y="491947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 b="1">
                <a:solidFill>
                  <a:srgbClr val="667789"/>
                </a:solidFill>
                <a:latin typeface="Arial"/>
              </a:rPr>
              <a:t>Площадь</a:t>
            </a:r>
            <a:endParaRPr lang="en-US" sz="770" dirty="0"/>
          </a:p>
        </p:txBody>
      </p:sp>
      <p:sp>
        <p:nvSpPr>
          <p:cNvPr id="11" name="Text 8"/>
          <p:cNvSpPr/>
          <p:nvPr/>
        </p:nvSpPr>
        <p:spPr>
          <a:xfrm>
            <a:off x="475488" y="5065776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223042"/>
                </a:solidFill>
                <a:latin typeface="Arial"/>
              </a:rPr>
              <a:t>60 515 м²</a:t>
            </a:r>
            <a:endParaRPr lang="en-US" sz="1320" dirty="0"/>
          </a:p>
        </p:txBody>
      </p:sp>
      <p:sp>
        <p:nvSpPr>
          <p:cNvPr id="12" name="Shape 9"/>
          <p:cNvSpPr/>
          <p:nvPr/>
        </p:nvSpPr>
        <p:spPr>
          <a:xfrm>
            <a:off x="1755648" y="4846320"/>
            <a:ext cx="91440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1847088" y="491947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 b="1">
                <a:solidFill>
                  <a:srgbClr val="667789"/>
                </a:solidFill>
                <a:latin typeface="Arial"/>
              </a:rPr>
              <a:t>Системы</a:t>
            </a:r>
            <a:endParaRPr lang="en-US" sz="770" dirty="0"/>
          </a:p>
        </p:txBody>
      </p:sp>
      <p:sp>
        <p:nvSpPr>
          <p:cNvPr id="14" name="Text 11"/>
          <p:cNvSpPr/>
          <p:nvPr/>
        </p:nvSpPr>
        <p:spPr>
          <a:xfrm>
            <a:off x="1847088" y="506577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223042"/>
                </a:solidFill>
                <a:latin typeface="Arial"/>
              </a:rPr>
              <a:t>1</a:t>
            </a:r>
            <a:endParaRPr lang="en-US" sz="1320" dirty="0"/>
          </a:p>
        </p:txBody>
      </p:sp>
      <p:sp>
        <p:nvSpPr>
          <p:cNvPr id="15" name="Shape 12"/>
          <p:cNvSpPr/>
          <p:nvPr/>
        </p:nvSpPr>
        <p:spPr>
          <a:xfrm>
            <a:off x="2761488" y="4846320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16" name="Text 13"/>
          <p:cNvSpPr/>
          <p:nvPr/>
        </p:nvSpPr>
        <p:spPr>
          <a:xfrm>
            <a:off x="2852928" y="4919472"/>
            <a:ext cx="1234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800" b="1">
                <a:solidFill>
                  <a:srgbClr val="667789"/>
                </a:solidFill>
                <a:latin typeface="Arial"/>
              </a:rPr>
              <a:t>Бюджет проекта</a:t>
            </a:r>
          </a:p>
        </p:txBody>
      </p:sp>
      <p:sp>
        <p:nvSpPr>
          <p:cNvPr id="17" name="Text 14"/>
          <p:cNvSpPr/>
          <p:nvPr/>
        </p:nvSpPr>
        <p:spPr>
          <a:xfrm>
            <a:off x="2852928" y="5065776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sz="740" b="1">
                <a:solidFill>
                  <a:srgbClr val="223042"/>
                </a:solidFill>
                <a:latin typeface="Arial"/>
              </a:rPr>
              <a:t>Подрядный: 94,0 млн ₽</a:t>
            </a:r>
          </a:p>
          <a:p>
            <a:pPr algn="l"/>
            <a:r>
              <a:rPr sz="740" b="1">
                <a:solidFill>
                  <a:srgbClr val="223042"/>
                </a:solidFill>
                <a:latin typeface="Arial"/>
              </a:rPr>
              <a:t>Собственный: 127,7 млн ₽</a:t>
            </a:r>
          </a:p>
        </p:txBody>
      </p:sp>
      <p:sp>
        <p:nvSpPr>
          <p:cNvPr id="18" name="Shape 15"/>
          <p:cNvSpPr/>
          <p:nvPr/>
        </p:nvSpPr>
        <p:spPr>
          <a:xfrm>
            <a:off x="384048" y="5532120"/>
            <a:ext cx="187452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19" name="Text 16"/>
          <p:cNvSpPr/>
          <p:nvPr/>
        </p:nvSpPr>
        <p:spPr>
          <a:xfrm>
            <a:off x="475488" y="5605272"/>
            <a:ext cx="1691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800" b="1">
                <a:solidFill>
                  <a:srgbClr val="667789"/>
                </a:solidFill>
                <a:latin typeface="Arial"/>
              </a:rPr>
              <a:t>Собственный ресурс</a:t>
            </a:r>
          </a:p>
        </p:txBody>
      </p:sp>
      <p:sp>
        <p:nvSpPr>
          <p:cNvPr id="20" name="Text 17"/>
          <p:cNvSpPr/>
          <p:nvPr/>
        </p:nvSpPr>
        <p:spPr>
          <a:xfrm>
            <a:off x="475488" y="5751576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1220" b="1">
                <a:solidFill>
                  <a:srgbClr val="223042"/>
                </a:solidFill>
                <a:latin typeface="Arial"/>
              </a:rPr>
              <a:t>127,7 млн ₽</a:t>
            </a:r>
          </a:p>
        </p:txBody>
      </p:sp>
      <p:sp>
        <p:nvSpPr>
          <p:cNvPr id="21" name="Shape 18"/>
          <p:cNvSpPr/>
          <p:nvPr/>
        </p:nvSpPr>
        <p:spPr>
          <a:xfrm>
            <a:off x="2395728" y="5532120"/>
            <a:ext cx="178308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/>
        </p:txBody>
      </p:sp>
      <p:sp>
        <p:nvSpPr>
          <p:cNvPr id="22" name="Text 19"/>
          <p:cNvSpPr/>
          <p:nvPr/>
        </p:nvSpPr>
        <p:spPr>
          <a:xfrm>
            <a:off x="2487168" y="5605272"/>
            <a:ext cx="1600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800" b="1">
                <a:solidFill>
                  <a:srgbClr val="667789"/>
                </a:solidFill>
                <a:latin typeface="Arial"/>
              </a:rPr>
              <a:t>Подрядный ресурс</a:t>
            </a:r>
          </a:p>
        </p:txBody>
      </p:sp>
      <p:sp>
        <p:nvSpPr>
          <p:cNvPr id="23" name="Text 20"/>
          <p:cNvSpPr/>
          <p:nvPr/>
        </p:nvSpPr>
        <p:spPr>
          <a:xfrm>
            <a:off x="2487168" y="5751576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1220" b="1">
                <a:solidFill>
                  <a:srgbClr val="223042"/>
                </a:solidFill>
                <a:latin typeface="Arial"/>
              </a:rPr>
              <a:t>94,0 млн ₽</a:t>
            </a:r>
          </a:p>
        </p:txBody>
      </p:sp>
      <p:sp>
        <p:nvSpPr>
          <p:cNvPr id="24" name="Text 21"/>
          <p:cNvSpPr/>
          <p:nvPr/>
        </p:nvSpPr>
        <p:spPr>
          <a:xfrm>
            <a:off x="5010912" y="6144768"/>
            <a:ext cx="6629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/>
        </p:txBody>
      </p:sp>
      <p:sp>
        <p:nvSpPr>
          <p:cNvPr id="25" name="Text 22"/>
          <p:cNvSpPr/>
          <p:nvPr/>
        </p:nvSpPr>
        <p:spPr>
          <a:xfrm>
            <a:off x="347472" y="6528816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 b="0">
                <a:solidFill>
                  <a:srgbClr val="66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Кутузовский 32, корп. Г • АПС • все цены приведены с НДС 22% • Не является публичной офертой.</a:t>
            </a:r>
            <a:endParaRPr lang="en-US" sz="720" dirty="0"/>
          </a:p>
        </p:txBody>
      </p:sp>
      <p:sp>
        <p:nvSpPr>
          <p:cNvPr id="26" name="Text 23"/>
          <p:cNvSpPr/>
          <p:nvPr/>
        </p:nvSpPr>
        <p:spPr>
          <a:xfrm>
            <a:off x="11686032" y="649224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 b="0">
                <a:solidFill>
                  <a:srgbClr val="667789"/>
                </a:solidFill>
                <a:latin typeface="Arial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3B6D"/>
          </a:solidFill>
          <a:ln w="12700">
            <a:solidFill>
              <a:srgbClr val="113B6D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320040" y="182880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223042"/>
                </a:solidFill>
                <a:latin typeface="Arial"/>
              </a:rPr>
              <a:t>Параметры объекта и методология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" dirty="0" b="0">
                <a:solidFill>
                  <a:srgbClr val="667789"/>
                </a:solidFill>
                <a:latin typeface="Arial"/>
              </a:rPr>
              <a:t>В основе модели — предварительные расчеты стоимости оборудования, материалов, работ (СМР/ПНР) и проектирования.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393192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475488" y="877824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16C3C6"/>
                </a:solidFill>
                <a:latin typeface="Arial"/>
              </a:rPr>
              <a:t>Параметры объекта</a:t>
            </a:r>
            <a:endParaRPr lang="en-US" sz="960" dirty="0"/>
          </a:p>
        </p:txBody>
      </p:sp>
      <p:sp>
        <p:nvSpPr>
          <p:cNvPr id="7" name="Text 5"/>
          <p:cNvSpPr/>
          <p:nvPr/>
        </p:nvSpPr>
        <p:spPr>
          <a:xfrm>
            <a:off x="475488" y="1078992"/>
            <a:ext cx="3611880" cy="11155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870" dirty="0">
                <a:solidFill>
                  <a:srgbClr val="334155"/>
                </a:solidFill>
                <a:latin typeface="Arial"/>
              </a:rPr>
              <a:t>Кутузовский пр-т, 32, корп. Г — часть комплекса «Сбербанк-Сити» на Кутузовском проспекте.</a:t>
            </a:r>
            <a:endParaRPr lang="en-US" sz="870" dirty="0"/>
          </a:p>
          <a:p>
            <a:pPr marL="152400" indent="-152400">
              <a:buSzPct val="100000"/>
              <a:buChar char="•"/>
            </a:pPr>
            <a:r>
              <a:rPr lang="en-US" sz="870" dirty="0">
                <a:solidFill>
                  <a:srgbClr val="334155"/>
                </a:solidFill>
                <a:latin typeface="Arial"/>
              </a:rPr>
              <a:t>Открытые источники описывают корпус Г как реконструированное административное здание площадью 61 652–62 000 м².</a:t>
            </a:r>
            <a:endParaRPr lang="en-US" sz="870" dirty="0"/>
          </a:p>
          <a:p>
            <a:pPr marL="152400" indent="-152400">
              <a:buSzPct val="100000"/>
              <a:buChar char="•"/>
            </a:pPr>
            <a:r>
              <a:rPr lang="en-US" sz="870" dirty="0">
                <a:solidFill>
                  <a:srgbClr val="334155"/>
                </a:solidFill>
                <a:latin typeface="Arial"/>
              </a:rPr>
              <a:t>В корпусе предусмотрены 1 700 рабочих мест, конференц-зал на 500 человек и общественные пространства agile-формата.</a:t>
            </a:r>
            <a:endParaRPr lang="en-US" sz="870" dirty="0"/>
          </a:p>
          <a:p>
            <a:pPr marL="152400" indent="-152400">
              <a:buSzPct val="100000"/>
              <a:buChar char="•"/>
            </a:pPr>
            <a:r>
              <a:rPr lang="en-US" sz="870" dirty="0">
                <a:solidFill>
                  <a:srgbClr val="334155"/>
                </a:solidFill>
                <a:latin typeface="Arial"/>
              </a:rPr>
              <a:t>В расчет модели принята защищаемая площадь 60 515 м²; функциональный состав — 9 надземных и 4 подземных уровня.</a:t>
            </a:r>
            <a:endParaRPr lang="en-US" sz="870" dirty="0"/>
          </a:p>
          <a:p>
            <a:pPr marL="152400" indent="-152400">
              <a:buSzPct val="100000"/>
              <a:buChar char="•"/>
            </a:pPr>
            <a:r>
              <a:rPr lang="en-US" sz="870" dirty="0">
                <a:solidFill>
                  <a:srgbClr val="334155"/>
                </a:solidFill>
                <a:latin typeface="Arial"/>
              </a:rPr>
              <a:t>АПС: полная замена существующей системы Edwards на отечественную адресную платформу.</a:t>
            </a:r>
            <a:endParaRPr lang="en-US" sz="870" dirty="0"/>
          </a:p>
        </p:txBody>
      </p:sp>
      <p:sp>
        <p:nvSpPr>
          <p:cNvPr id="8" name="Shape 6"/>
          <p:cNvSpPr/>
          <p:nvPr/>
        </p:nvSpPr>
        <p:spPr>
          <a:xfrm>
            <a:off x="4443984" y="749808"/>
            <a:ext cx="1920240" cy="612648"/>
          </a:xfrm>
          <a:prstGeom prst="roundRect">
            <a:avLst>
              <a:gd name="adj" fmla="val 17910"/>
            </a:avLst>
          </a:prstGeom>
          <a:solidFill>
            <a:srgbClr val="113B6D"/>
          </a:solidFill>
          <a:ln w="12700">
            <a:solidFill>
              <a:srgbClr val="113B6D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4553712" y="822960"/>
            <a:ext cx="17007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1200" b="1">
                <a:solidFill>
                  <a:srgbClr val="DCE7F3"/>
                </a:solidFill>
                <a:latin typeface="Arial"/>
              </a:rPr>
              <a:t>Итог модели (бюджет проекта)</a:t>
            </a:r>
          </a:p>
        </p:txBody>
      </p:sp>
      <p:sp>
        <p:nvSpPr>
          <p:cNvPr id="10" name="Text 8"/>
          <p:cNvSpPr/>
          <p:nvPr/>
        </p:nvSpPr>
        <p:spPr>
          <a:xfrm>
            <a:off x="4553712" y="987552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900" b="1">
                <a:solidFill>
                  <a:srgbClr val="FFFFFF"/>
                </a:solidFill>
                <a:latin typeface="Arial"/>
              </a:rPr>
              <a:t>Подрядный: 94,0 млн ₽</a:t>
            </a:r>
          </a:p>
          <a:p>
            <a:pPr algn="l"/>
            <a:r>
              <a:rPr sz="900" b="1">
                <a:solidFill>
                  <a:srgbClr val="FFFFFF"/>
                </a:solidFill>
                <a:latin typeface="Arial"/>
              </a:rPr>
              <a:t>Собственный: 127,7 млн ₽</a:t>
            </a:r>
          </a:p>
        </p:txBody>
      </p:sp>
      <p:sp>
        <p:nvSpPr>
          <p:cNvPr id="11" name="Shape 9"/>
          <p:cNvSpPr/>
          <p:nvPr/>
        </p:nvSpPr>
        <p:spPr>
          <a:xfrm>
            <a:off x="6492240" y="749808"/>
            <a:ext cx="123444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6583680" y="82296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 b="1">
                <a:solidFill>
                  <a:srgbClr val="667789"/>
                </a:solidFill>
                <a:latin typeface="Arial"/>
              </a:rPr>
              <a:t>Оборудование</a:t>
            </a:r>
            <a:endParaRPr lang="en-US" sz="770" dirty="0"/>
          </a:p>
        </p:txBody>
      </p:sp>
      <p:sp>
        <p:nvSpPr>
          <p:cNvPr id="13" name="Text 11"/>
          <p:cNvSpPr/>
          <p:nvPr/>
        </p:nvSpPr>
        <p:spPr>
          <a:xfrm>
            <a:off x="6583680" y="96926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3042"/>
                </a:solidFill>
                <a:latin typeface="Arial"/>
              </a:rPr>
              <a:t>35,8 млн ₽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7845552" y="749808"/>
            <a:ext cx="114300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7936992" y="822960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 b="1">
                <a:solidFill>
                  <a:srgbClr val="667789"/>
                </a:solidFill>
                <a:latin typeface="Arial"/>
              </a:rPr>
              <a:t>Материалы</a:t>
            </a:r>
            <a:endParaRPr lang="en-US" sz="770" dirty="0"/>
          </a:p>
        </p:txBody>
      </p:sp>
      <p:sp>
        <p:nvSpPr>
          <p:cNvPr id="16" name="Text 14"/>
          <p:cNvSpPr/>
          <p:nvPr/>
        </p:nvSpPr>
        <p:spPr>
          <a:xfrm>
            <a:off x="7936992" y="969264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3042"/>
                </a:solidFill>
                <a:latin typeface="Arial"/>
              </a:rPr>
              <a:t>11,6 млн ₽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9098280" y="749808"/>
            <a:ext cx="105156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9189720" y="822960"/>
            <a:ext cx="868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800" b="1">
                <a:solidFill>
                  <a:srgbClr val="667789"/>
                </a:solidFill>
                <a:latin typeface="Arial"/>
              </a:rPr>
              <a:t>Работы / ПНР</a:t>
            </a:r>
          </a:p>
        </p:txBody>
      </p:sp>
      <p:sp>
        <p:nvSpPr>
          <p:cNvPr id="19" name="Text 17"/>
          <p:cNvSpPr/>
          <p:nvPr/>
        </p:nvSpPr>
        <p:spPr>
          <a:xfrm>
            <a:off x="9189720" y="96926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730" b="1">
                <a:solidFill>
                  <a:srgbClr val="223042"/>
                </a:solidFill>
                <a:latin typeface="Arial"/>
              </a:rPr>
              <a:t>Подрядный: 28,2 млн ₽</a:t>
            </a:r>
          </a:p>
          <a:p>
            <a:pPr algn="l"/>
            <a:r>
              <a:rPr sz="730" b="1">
                <a:solidFill>
                  <a:srgbClr val="223042"/>
                </a:solidFill>
                <a:latin typeface="Arial"/>
              </a:rPr>
              <a:t>Собственный: 49,5 млн ₽</a:t>
            </a:r>
          </a:p>
        </p:txBody>
      </p:sp>
      <p:sp>
        <p:nvSpPr>
          <p:cNvPr id="20" name="Shape 18"/>
          <p:cNvSpPr/>
          <p:nvPr/>
        </p:nvSpPr>
        <p:spPr>
          <a:xfrm>
            <a:off x="10222992" y="749808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10314432" y="822960"/>
            <a:ext cx="1234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 b="1">
                <a:solidFill>
                  <a:srgbClr val="667789"/>
                </a:solidFill>
                <a:latin typeface="Arial"/>
              </a:rPr>
              <a:t>Проектирование</a:t>
            </a:r>
            <a:endParaRPr lang="en-US" sz="770" dirty="0"/>
          </a:p>
        </p:txBody>
      </p:sp>
      <p:sp>
        <p:nvSpPr>
          <p:cNvPr id="22" name="Text 20"/>
          <p:cNvSpPr/>
          <p:nvPr/>
        </p:nvSpPr>
        <p:spPr>
          <a:xfrm>
            <a:off x="10314432" y="969264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3042"/>
                </a:solidFill>
                <a:latin typeface="Arial"/>
              </a:rPr>
              <a:t>2,2 млн ₽</a:t>
            </a:r>
            <a:endParaRPr lang="en-US" sz="1320" dirty="0"/>
          </a:p>
        </p:txBody>
      </p:sp>
      <p:sp>
        <p:nvSpPr>
          <p:cNvPr id="23" name="Shape 21"/>
          <p:cNvSpPr/>
          <p:nvPr/>
        </p:nvSpPr>
        <p:spPr>
          <a:xfrm>
            <a:off x="4443984" y="1481328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113B6D"/>
          </a:solidFill>
          <a:ln w="12700">
            <a:solidFill>
              <a:srgbClr val="113B6D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4590288" y="1609344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FFFFFF"/>
                </a:solidFill>
                <a:latin typeface="Arial"/>
              </a:rPr>
              <a:t>Примененные коэффициенты</a:t>
            </a:r>
            <a:endParaRPr lang="en-US" sz="960" dirty="0"/>
          </a:p>
        </p:txBody>
      </p:sp>
      <p:sp>
        <p:nvSpPr>
          <p:cNvPr id="25" name="Text 23"/>
          <p:cNvSpPr/>
          <p:nvPr/>
        </p:nvSpPr>
        <p:spPr>
          <a:xfrm>
            <a:off x="4590288" y="1801368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E7EFF8"/>
                </a:solidFill>
                <a:latin typeface="Arial"/>
              </a:rPr>
              <a:t>Ночь K=2,0 (20%)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E7EFF8"/>
                </a:solidFill>
                <a:latin typeface="Arial"/>
              </a:rPr>
              <a:t>Доступ K=1,15 (100%)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E7EFF8"/>
                </a:solidFill>
                <a:latin typeface="Arial"/>
              </a:rPr>
              <a:t>Высота K=1,05 (30%)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E7EFF8"/>
                </a:solidFill>
                <a:latin typeface="Arial"/>
              </a:rPr>
              <a:t>Эксплуатируемое здание K=1,2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E7EFF8"/>
                </a:solidFill>
                <a:latin typeface="Arial"/>
              </a:rPr>
              <a:t>Выходные K=1,5 (10%)</a:t>
            </a:r>
            <a:endParaRPr lang="en-US" sz="840" dirty="0"/>
          </a:p>
        </p:txBody>
      </p:sp>
      <p:sp>
        <p:nvSpPr>
          <p:cNvPr id="26" name="Shape 24"/>
          <p:cNvSpPr/>
          <p:nvPr/>
        </p:nvSpPr>
        <p:spPr>
          <a:xfrm>
            <a:off x="7095744" y="1481328"/>
            <a:ext cx="4544568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27" name="Text 25"/>
          <p:cNvSpPr/>
          <p:nvPr/>
        </p:nvSpPr>
        <p:spPr>
          <a:xfrm>
            <a:off x="7269480" y="1609344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3042"/>
                </a:solidFill>
                <a:latin typeface="Arial"/>
              </a:rPr>
              <a:t>Функциональное распределение площади</a:t>
            </a:r>
            <a:endParaRPr lang="en-US" sz="960" dirty="0"/>
          </a:p>
        </p:txBody>
      </p:sp>
      <p:sp>
        <p:nvSpPr>
          <p:cNvPr id="28" name="Text 26"/>
          <p:cNvSpPr/>
          <p:nvPr/>
        </p:nvSpPr>
        <p:spPr>
          <a:xfrm>
            <a:off x="7269480" y="1810512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 b="0">
                <a:solidFill>
                  <a:srgbClr val="223042"/>
                </a:solidFill>
                <a:latin typeface="Arial"/>
              </a:rPr>
              <a:t>B4: паркинг 70% / техпомещения 30%   •   B3: 85% / 15%   •   B2: 90% / 10%   •   B1: 90% / 10%</a:t>
            </a:r>
            <a:endParaRPr lang="en-US" sz="835" dirty="0"/>
          </a:p>
          <a:p>
            <a:pPr marL="0" indent="0" algn="l">
              <a:buNone/>
            </a:pPr>
            <a:r>
              <a:rPr lang="en-US" sz="1100" dirty="0" b="0">
                <a:solidFill>
                  <a:srgbClr val="223042"/>
                </a:solidFill>
                <a:latin typeface="Arial"/>
              </a:rPr>
              <a:t>1–2 этажи: торговля 20% / общественные зоны 50% / техпомещения 30%</a:t>
            </a:r>
            <a:endParaRPr lang="en-US" sz="835" dirty="0"/>
          </a:p>
          <a:p>
            <a:pPr marL="0" indent="0" algn="l">
              <a:buNone/>
            </a:pPr>
            <a:r>
              <a:rPr lang="en-US" sz="1100" dirty="0" b="0">
                <a:solidFill>
                  <a:srgbClr val="223042"/>
                </a:solidFill>
                <a:latin typeface="Arial"/>
              </a:rPr>
              <a:t>3–9 этажи: офисы 85% / техпомещения 15%</a:t>
            </a:r>
            <a:endParaRPr lang="en-US" sz="835" dirty="0"/>
          </a:p>
        </p:txBody>
      </p:sp>
      <p:sp>
        <p:nvSpPr>
          <p:cNvPr id="29" name="Shape 27"/>
          <p:cNvSpPr/>
          <p:nvPr/>
        </p:nvSpPr>
        <p:spPr>
          <a:xfrm>
            <a:off x="320040" y="2560320"/>
            <a:ext cx="4572000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30" name="Text 28"/>
          <p:cNvSpPr/>
          <p:nvPr/>
        </p:nvSpPr>
        <p:spPr>
          <a:xfrm>
            <a:off x="502920" y="272491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16C3C6"/>
                </a:solidFill>
                <a:latin typeface="Arial"/>
              </a:rPr>
              <a:t>Зонирование для расчета</a:t>
            </a:r>
            <a:endParaRPr lang="en-US" sz="960" dirty="0"/>
          </a:p>
        </p:txBody>
      </p:sp>
      <p:sp>
        <p:nvSpPr>
          <p:cNvPr id="31" name="Shape 29"/>
          <p:cNvSpPr/>
          <p:nvPr/>
        </p:nvSpPr>
        <p:spPr>
          <a:xfrm>
            <a:off x="658368" y="3063240"/>
            <a:ext cx="1051560" cy="192024"/>
          </a:xfrm>
          <a:prstGeom prst="roundRect">
            <a:avLst>
              <a:gd name="adj" fmla="val 19048"/>
            </a:avLst>
          </a:prstGeom>
          <a:solidFill>
            <a:srgbClr val="2D65B1"/>
          </a:solidFill>
          <a:ln w="12700">
            <a:solidFill>
              <a:srgbClr val="FFFFFF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32" name="Text 30"/>
          <p:cNvSpPr/>
          <p:nvPr/>
        </p:nvSpPr>
        <p:spPr>
          <a:xfrm>
            <a:off x="566928" y="3090672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13B6D"/>
                </a:solidFill>
                <a:latin typeface="Arial"/>
              </a:rPr>
              <a:t>9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58368" y="3282696"/>
            <a:ext cx="1051560" cy="192024"/>
          </a:xfrm>
          <a:prstGeom prst="roundRect">
            <a:avLst>
              <a:gd name="adj" fmla="val 19048"/>
            </a:avLst>
          </a:prstGeom>
          <a:solidFill>
            <a:srgbClr val="2D65B1"/>
          </a:solidFill>
          <a:ln w="12700">
            <a:solidFill>
              <a:srgbClr val="FFFFFF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34" name="Text 32"/>
          <p:cNvSpPr/>
          <p:nvPr/>
        </p:nvSpPr>
        <p:spPr>
          <a:xfrm>
            <a:off x="566928" y="3310128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13B6D"/>
                </a:solidFill>
                <a:latin typeface="Arial"/>
              </a:rPr>
              <a:t>8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58368" y="3502152"/>
            <a:ext cx="1051560" cy="192024"/>
          </a:xfrm>
          <a:prstGeom prst="roundRect">
            <a:avLst>
              <a:gd name="adj" fmla="val 19048"/>
            </a:avLst>
          </a:prstGeom>
          <a:solidFill>
            <a:srgbClr val="2D65B1"/>
          </a:solidFill>
          <a:ln w="12700">
            <a:solidFill>
              <a:srgbClr val="FFFFFF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36" name="Text 34"/>
          <p:cNvSpPr/>
          <p:nvPr/>
        </p:nvSpPr>
        <p:spPr>
          <a:xfrm>
            <a:off x="566928" y="3529584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13B6D"/>
                </a:solidFill>
                <a:latin typeface="Arial"/>
              </a:rPr>
              <a:t>7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58368" y="3721608"/>
            <a:ext cx="1051560" cy="192024"/>
          </a:xfrm>
          <a:prstGeom prst="roundRect">
            <a:avLst>
              <a:gd name="adj" fmla="val 19048"/>
            </a:avLst>
          </a:prstGeom>
          <a:solidFill>
            <a:srgbClr val="2D65B1"/>
          </a:solidFill>
          <a:ln w="12700">
            <a:solidFill>
              <a:srgbClr val="FFFFFF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38" name="Text 36"/>
          <p:cNvSpPr/>
          <p:nvPr/>
        </p:nvSpPr>
        <p:spPr>
          <a:xfrm>
            <a:off x="566928" y="3749040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13B6D"/>
                </a:solidFill>
                <a:latin typeface="Arial"/>
              </a:rPr>
              <a:t>6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58368" y="3941064"/>
            <a:ext cx="1051560" cy="192024"/>
          </a:xfrm>
          <a:prstGeom prst="roundRect">
            <a:avLst>
              <a:gd name="adj" fmla="val 19048"/>
            </a:avLst>
          </a:prstGeom>
          <a:solidFill>
            <a:srgbClr val="2D65B1"/>
          </a:solidFill>
          <a:ln w="12700">
            <a:solidFill>
              <a:srgbClr val="FFFFFF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40" name="Text 38"/>
          <p:cNvSpPr/>
          <p:nvPr/>
        </p:nvSpPr>
        <p:spPr>
          <a:xfrm>
            <a:off x="566928" y="3968496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13B6D"/>
                </a:solidFill>
                <a:latin typeface="Arial"/>
              </a:rPr>
              <a:t>5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58368" y="4160520"/>
            <a:ext cx="1051560" cy="192024"/>
          </a:xfrm>
          <a:prstGeom prst="roundRect">
            <a:avLst>
              <a:gd name="adj" fmla="val 19048"/>
            </a:avLst>
          </a:prstGeom>
          <a:solidFill>
            <a:srgbClr val="2D65B1"/>
          </a:solidFill>
          <a:ln w="12700">
            <a:solidFill>
              <a:srgbClr val="FFFFFF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42" name="Text 40"/>
          <p:cNvSpPr/>
          <p:nvPr/>
        </p:nvSpPr>
        <p:spPr>
          <a:xfrm>
            <a:off x="566928" y="4187952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13B6D"/>
                </a:solidFill>
                <a:latin typeface="Arial"/>
              </a:rPr>
              <a:t>4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58368" y="4379976"/>
            <a:ext cx="1051560" cy="192024"/>
          </a:xfrm>
          <a:prstGeom prst="roundRect">
            <a:avLst>
              <a:gd name="adj" fmla="val 19048"/>
            </a:avLst>
          </a:prstGeom>
          <a:solidFill>
            <a:srgbClr val="2D65B1"/>
          </a:solidFill>
          <a:ln w="12700">
            <a:solidFill>
              <a:srgbClr val="FFFFFF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44" name="Text 42"/>
          <p:cNvSpPr/>
          <p:nvPr/>
        </p:nvSpPr>
        <p:spPr>
          <a:xfrm>
            <a:off x="566928" y="4407408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13B6D"/>
                </a:solidFill>
                <a:latin typeface="Arial"/>
              </a:rPr>
              <a:t>3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58368" y="4599432"/>
            <a:ext cx="1051560" cy="192024"/>
          </a:xfrm>
          <a:prstGeom prst="roundRect">
            <a:avLst>
              <a:gd name="adj" fmla="val 19048"/>
            </a:avLst>
          </a:prstGeom>
          <a:solidFill>
            <a:srgbClr val="F2A640"/>
          </a:solidFill>
          <a:ln w="12700">
            <a:solidFill>
              <a:srgbClr val="FFFFFF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46" name="Text 44"/>
          <p:cNvSpPr/>
          <p:nvPr/>
        </p:nvSpPr>
        <p:spPr>
          <a:xfrm>
            <a:off x="566928" y="4626864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13B6D"/>
                </a:solidFill>
                <a:latin typeface="Arial"/>
              </a:rPr>
              <a:t>2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58368" y="4818888"/>
            <a:ext cx="1051560" cy="192024"/>
          </a:xfrm>
          <a:prstGeom prst="roundRect">
            <a:avLst>
              <a:gd name="adj" fmla="val 19048"/>
            </a:avLst>
          </a:prstGeom>
          <a:solidFill>
            <a:srgbClr val="F2A640"/>
          </a:solidFill>
          <a:ln w="12700">
            <a:solidFill>
              <a:srgbClr val="FFFFFF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48" name="Text 46"/>
          <p:cNvSpPr/>
          <p:nvPr/>
        </p:nvSpPr>
        <p:spPr>
          <a:xfrm>
            <a:off x="566928" y="4846320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13B6D"/>
                </a:solidFill>
                <a:latin typeface="Arial"/>
              </a:rPr>
              <a:t>1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58368" y="5038344"/>
            <a:ext cx="1051560" cy="192024"/>
          </a:xfrm>
          <a:prstGeom prst="roundRect">
            <a:avLst>
              <a:gd name="adj" fmla="val 19048"/>
            </a:avLst>
          </a:prstGeom>
          <a:solidFill>
            <a:srgbClr val="7EC9B3"/>
          </a:solidFill>
          <a:ln w="12700">
            <a:solidFill>
              <a:srgbClr val="FFFFFF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50" name="Text 48"/>
          <p:cNvSpPr/>
          <p:nvPr/>
        </p:nvSpPr>
        <p:spPr>
          <a:xfrm>
            <a:off x="566928" y="5065776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13B6D"/>
                </a:solidFill>
                <a:latin typeface="Arial"/>
              </a:rPr>
              <a:t>-1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58368" y="5257800"/>
            <a:ext cx="1051560" cy="192024"/>
          </a:xfrm>
          <a:prstGeom prst="roundRect">
            <a:avLst>
              <a:gd name="adj" fmla="val 19048"/>
            </a:avLst>
          </a:prstGeom>
          <a:solidFill>
            <a:srgbClr val="7EC9B3"/>
          </a:solidFill>
          <a:ln w="12700">
            <a:solidFill>
              <a:srgbClr val="FFFFFF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52" name="Text 50"/>
          <p:cNvSpPr/>
          <p:nvPr/>
        </p:nvSpPr>
        <p:spPr>
          <a:xfrm>
            <a:off x="566928" y="5285232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13B6D"/>
                </a:solidFill>
                <a:latin typeface="Arial"/>
              </a:rPr>
              <a:t>-2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58368" y="5477256"/>
            <a:ext cx="1051560" cy="192024"/>
          </a:xfrm>
          <a:prstGeom prst="roundRect">
            <a:avLst>
              <a:gd name="adj" fmla="val 19048"/>
            </a:avLst>
          </a:prstGeom>
          <a:solidFill>
            <a:srgbClr val="7EC9B3"/>
          </a:solidFill>
          <a:ln w="12700">
            <a:solidFill>
              <a:srgbClr val="FFFFFF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54" name="Text 52"/>
          <p:cNvSpPr/>
          <p:nvPr/>
        </p:nvSpPr>
        <p:spPr>
          <a:xfrm>
            <a:off x="566928" y="5504688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13B6D"/>
                </a:solidFill>
                <a:latin typeface="Arial"/>
              </a:rPr>
              <a:t>-3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658368" y="5696712"/>
            <a:ext cx="1051560" cy="192024"/>
          </a:xfrm>
          <a:prstGeom prst="roundRect">
            <a:avLst>
              <a:gd name="adj" fmla="val 19048"/>
            </a:avLst>
          </a:prstGeom>
          <a:solidFill>
            <a:srgbClr val="7EC9B3"/>
          </a:solidFill>
          <a:ln w="12700">
            <a:solidFill>
              <a:srgbClr val="FFFFFF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56" name="Text 54"/>
          <p:cNvSpPr/>
          <p:nvPr/>
        </p:nvSpPr>
        <p:spPr>
          <a:xfrm>
            <a:off x="566928" y="5724144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13B6D"/>
                </a:solidFill>
                <a:latin typeface="Arial"/>
              </a:rPr>
              <a:t>-4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1965960" y="3035808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10" b="1" dirty="0">
                <a:solidFill>
                  <a:srgbClr val="334155"/>
                </a:solidFill>
                <a:latin typeface="Arial"/>
              </a:rPr>
              <a:t>Агрегированные площади:</a:t>
            </a:r>
            <a:endParaRPr lang="en-US" sz="910" dirty="0"/>
          </a:p>
        </p:txBody>
      </p:sp>
      <p:sp>
        <p:nvSpPr>
          <p:cNvPr id="58" name="Shape 56"/>
          <p:cNvSpPr/>
          <p:nvPr/>
        </p:nvSpPr>
        <p:spPr>
          <a:xfrm>
            <a:off x="1920240" y="3291840"/>
            <a:ext cx="2606040" cy="384048"/>
          </a:xfrm>
          <a:prstGeom prst="roundRect">
            <a:avLst>
              <a:gd name="adj" fmla="val 28571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59" name="Text 57"/>
          <p:cNvSpPr/>
          <p:nvPr/>
        </p:nvSpPr>
        <p:spPr>
          <a:xfrm>
            <a:off x="2057400" y="3374136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2D65B1"/>
                </a:solidFill>
                <a:latin typeface="Arial"/>
              </a:rPr>
              <a:t>Офисы</a:t>
            </a:r>
            <a:endParaRPr lang="en-US" sz="880" dirty="0"/>
          </a:p>
        </p:txBody>
      </p:sp>
      <p:sp>
        <p:nvSpPr>
          <p:cNvPr id="60" name="Text 58"/>
          <p:cNvSpPr/>
          <p:nvPr/>
        </p:nvSpPr>
        <p:spPr>
          <a:xfrm>
            <a:off x="3218688" y="3364992"/>
            <a:ext cx="1051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60" b="1" dirty="0">
                <a:solidFill>
                  <a:srgbClr val="113B6D"/>
                </a:solidFill>
                <a:latin typeface="Arial"/>
              </a:rPr>
              <a:t>27 697 м²</a:t>
            </a:r>
            <a:endParaRPr lang="en-US" sz="960" dirty="0"/>
          </a:p>
        </p:txBody>
      </p:sp>
      <p:sp>
        <p:nvSpPr>
          <p:cNvPr id="61" name="Shape 59"/>
          <p:cNvSpPr/>
          <p:nvPr/>
        </p:nvSpPr>
        <p:spPr>
          <a:xfrm>
            <a:off x="1920240" y="3803904"/>
            <a:ext cx="2606040" cy="384048"/>
          </a:xfrm>
          <a:prstGeom prst="roundRect">
            <a:avLst>
              <a:gd name="adj" fmla="val 28571"/>
            </a:avLst>
          </a:prstGeom>
          <a:solidFill>
            <a:srgbClr val="ECF7F2"/>
          </a:solidFill>
          <a:ln w="12700">
            <a:solidFill>
              <a:srgbClr val="ECF7F2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62" name="Text 60"/>
          <p:cNvSpPr/>
          <p:nvPr/>
        </p:nvSpPr>
        <p:spPr>
          <a:xfrm>
            <a:off x="2057400" y="3886200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4D8F78"/>
                </a:solidFill>
                <a:latin typeface="Arial"/>
              </a:rPr>
              <a:t>Паркинг</a:t>
            </a:r>
            <a:endParaRPr lang="en-US" sz="880" dirty="0"/>
          </a:p>
        </p:txBody>
      </p:sp>
      <p:sp>
        <p:nvSpPr>
          <p:cNvPr id="63" name="Text 61"/>
          <p:cNvSpPr/>
          <p:nvPr/>
        </p:nvSpPr>
        <p:spPr>
          <a:xfrm>
            <a:off x="3218688" y="3877056"/>
            <a:ext cx="1051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60" b="1" dirty="0">
                <a:solidFill>
                  <a:srgbClr val="113B6D"/>
                </a:solidFill>
                <a:latin typeface="Arial"/>
              </a:rPr>
              <a:t>15 594 м²</a:t>
            </a:r>
            <a:endParaRPr lang="en-US" sz="960" dirty="0"/>
          </a:p>
        </p:txBody>
      </p:sp>
      <p:sp>
        <p:nvSpPr>
          <p:cNvPr id="64" name="Shape 62"/>
          <p:cNvSpPr/>
          <p:nvPr/>
        </p:nvSpPr>
        <p:spPr>
          <a:xfrm>
            <a:off x="1920240" y="4315968"/>
            <a:ext cx="2606040" cy="384048"/>
          </a:xfrm>
          <a:prstGeom prst="roundRect">
            <a:avLst>
              <a:gd name="adj" fmla="val 28571"/>
            </a:avLst>
          </a:prstGeom>
          <a:solidFill>
            <a:srgbClr val="FFF2E2"/>
          </a:solidFill>
          <a:ln w="12700">
            <a:solidFill>
              <a:srgbClr val="FFF2E2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65" name="Text 63"/>
          <p:cNvSpPr/>
          <p:nvPr/>
        </p:nvSpPr>
        <p:spPr>
          <a:xfrm>
            <a:off x="2057400" y="4398264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F2A640"/>
                </a:solidFill>
                <a:latin typeface="Arial"/>
              </a:rPr>
              <a:t>Общественные</a:t>
            </a:r>
            <a:endParaRPr lang="en-US" sz="880" dirty="0"/>
          </a:p>
        </p:txBody>
      </p:sp>
      <p:sp>
        <p:nvSpPr>
          <p:cNvPr id="66" name="Text 64"/>
          <p:cNvSpPr/>
          <p:nvPr/>
        </p:nvSpPr>
        <p:spPr>
          <a:xfrm>
            <a:off x="3218688" y="4389120"/>
            <a:ext cx="1051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60" b="1" dirty="0">
                <a:solidFill>
                  <a:srgbClr val="113B6D"/>
                </a:solidFill>
                <a:latin typeface="Arial"/>
              </a:rPr>
              <a:t>4 655 м²</a:t>
            </a:r>
            <a:endParaRPr lang="en-US" sz="960" dirty="0"/>
          </a:p>
        </p:txBody>
      </p:sp>
      <p:sp>
        <p:nvSpPr>
          <p:cNvPr id="67" name="Shape 65"/>
          <p:cNvSpPr/>
          <p:nvPr/>
        </p:nvSpPr>
        <p:spPr>
          <a:xfrm>
            <a:off x="1920240" y="4828032"/>
            <a:ext cx="2606040" cy="384048"/>
          </a:xfrm>
          <a:prstGeom prst="roundRect">
            <a:avLst>
              <a:gd name="adj" fmla="val 28571"/>
            </a:avLst>
          </a:prstGeom>
          <a:solidFill>
            <a:srgbClr val="FFF8E8"/>
          </a:solidFill>
          <a:ln w="12700">
            <a:solidFill>
              <a:srgbClr val="FFF8E8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68" name="Text 66"/>
          <p:cNvSpPr/>
          <p:nvPr/>
        </p:nvSpPr>
        <p:spPr>
          <a:xfrm>
            <a:off x="2057400" y="4910328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F0C84B"/>
                </a:solidFill>
                <a:latin typeface="Arial"/>
              </a:rPr>
              <a:t>Торговля</a:t>
            </a:r>
            <a:endParaRPr lang="en-US" sz="880" dirty="0"/>
          </a:p>
        </p:txBody>
      </p:sp>
      <p:sp>
        <p:nvSpPr>
          <p:cNvPr id="69" name="Text 67"/>
          <p:cNvSpPr/>
          <p:nvPr/>
        </p:nvSpPr>
        <p:spPr>
          <a:xfrm>
            <a:off x="3218688" y="4901184"/>
            <a:ext cx="1051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60" b="1" dirty="0">
                <a:solidFill>
                  <a:srgbClr val="113B6D"/>
                </a:solidFill>
                <a:latin typeface="Arial"/>
              </a:rPr>
              <a:t>1 862 м²</a:t>
            </a:r>
            <a:endParaRPr lang="en-US" sz="960" dirty="0"/>
          </a:p>
        </p:txBody>
      </p:sp>
      <p:sp>
        <p:nvSpPr>
          <p:cNvPr id="70" name="Shape 68"/>
          <p:cNvSpPr/>
          <p:nvPr/>
        </p:nvSpPr>
        <p:spPr>
          <a:xfrm>
            <a:off x="1920240" y="5340096"/>
            <a:ext cx="2606040" cy="384048"/>
          </a:xfrm>
          <a:prstGeom prst="roundRect">
            <a:avLst>
              <a:gd name="adj" fmla="val 28571"/>
            </a:avLst>
          </a:prstGeom>
          <a:solidFill>
            <a:srgbClr val="F2EEFA"/>
          </a:solidFill>
          <a:ln w="12700">
            <a:solidFill>
              <a:srgbClr val="F2EEFA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71" name="Text 69"/>
          <p:cNvSpPr/>
          <p:nvPr/>
        </p:nvSpPr>
        <p:spPr>
          <a:xfrm>
            <a:off x="2057400" y="5422392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7E6BAA"/>
                </a:solidFill>
                <a:latin typeface="Arial"/>
              </a:rPr>
              <a:t>Технические</a:t>
            </a:r>
            <a:endParaRPr lang="en-US" sz="880" dirty="0"/>
          </a:p>
        </p:txBody>
      </p:sp>
      <p:sp>
        <p:nvSpPr>
          <p:cNvPr id="72" name="Text 70"/>
          <p:cNvSpPr/>
          <p:nvPr/>
        </p:nvSpPr>
        <p:spPr>
          <a:xfrm>
            <a:off x="3218688" y="5413248"/>
            <a:ext cx="1051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60" b="1" dirty="0">
                <a:solidFill>
                  <a:srgbClr val="113B6D"/>
                </a:solidFill>
                <a:latin typeface="Arial"/>
              </a:rPr>
              <a:t>10 707 м²</a:t>
            </a:r>
            <a:endParaRPr lang="en-US" sz="960" dirty="0"/>
          </a:p>
        </p:txBody>
      </p:sp>
      <p:sp>
        <p:nvSpPr>
          <p:cNvPr id="73" name="Text 71"/>
          <p:cNvSpPr/>
          <p:nvPr/>
        </p:nvSpPr>
        <p:spPr>
          <a:xfrm>
            <a:off x="512064" y="557784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5" dirty="0">
                <a:solidFill>
                  <a:srgbClr val="7C8796"/>
                </a:solidFill>
                <a:latin typeface="Arial"/>
              </a:rPr>
              <a:t>Количественная модель АПС сформирована по функциональным зонам, а не «руб/м²» одной строкой: плотность извещателей, модулей, кабельного фонда и трудоемкость монтажа меняются в зависимости от типа помещения.</a:t>
            </a:r>
            <a:endParaRPr lang="en-US" sz="855" dirty="0"/>
          </a:p>
        </p:txBody>
      </p:sp>
      <p:sp>
        <p:nvSpPr>
          <p:cNvPr id="74" name="Shape 72"/>
          <p:cNvSpPr/>
          <p:nvPr/>
        </p:nvSpPr>
        <p:spPr>
          <a:xfrm>
            <a:off x="5102352" y="2560320"/>
            <a:ext cx="3712464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75" name="Text 73"/>
          <p:cNvSpPr/>
          <p:nvPr/>
        </p:nvSpPr>
        <p:spPr>
          <a:xfrm>
            <a:off x="5321808" y="272491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1200" b="1">
                <a:solidFill>
                  <a:srgbClr val="667789"/>
                </a:solidFill>
                <a:latin typeface="Arial"/>
              </a:rPr>
              <a:t>Распределение бюджета</a:t>
            </a:r>
          </a:p>
        </p:txBody>
      </p:sp>
      <p:graphicFrame>
        <p:nvGraphicFramePr>
          <p:cNvPr id="76" name="Chart 0"/>
          <p:cNvGraphicFramePr/>
          <p:nvPr/>
        </p:nvGraphicFramePr>
        <p:xfrm>
          <a:off x="5504688" y="3154680"/>
          <a:ext cx="224028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7" name="Text 74"/>
          <p:cNvSpPr/>
          <p:nvPr/>
        </p:nvSpPr>
        <p:spPr>
          <a:xfrm>
            <a:off x="5916168" y="51206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720" b="0">
                <a:solidFill>
                  <a:srgbClr val="223042"/>
                </a:solidFill>
                <a:latin typeface="Arial"/>
              </a:rPr>
              <a:t>Подрядный: 94,0 млн ₽ / 1554 ₽/м²</a:t>
            </a:r>
          </a:p>
          <a:p>
            <a:pPr algn="ctr"/>
            <a:r>
              <a:rPr sz="720" b="0">
                <a:solidFill>
                  <a:srgbClr val="223042"/>
                </a:solidFill>
                <a:latin typeface="Arial"/>
              </a:rPr>
              <a:t>Собственный: 127,7 млн ₽ / 2110 ₽/м²</a:t>
            </a:r>
          </a:p>
        </p:txBody>
      </p:sp>
      <p:sp>
        <p:nvSpPr>
          <p:cNvPr id="78" name="Shape 75"/>
          <p:cNvSpPr/>
          <p:nvPr/>
        </p:nvSpPr>
        <p:spPr>
          <a:xfrm>
            <a:off x="9015984" y="2560320"/>
            <a:ext cx="2624328" cy="3611880"/>
          </a:xfrm>
          <a:prstGeom prst="roundRect">
            <a:avLst>
              <a:gd name="adj" fmla="val 4181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79" name="Text 76"/>
          <p:cNvSpPr/>
          <p:nvPr/>
        </p:nvSpPr>
        <p:spPr>
          <a:xfrm>
            <a:off x="9217152" y="272491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1985D"/>
                </a:solidFill>
                <a:latin typeface="Arial"/>
              </a:rPr>
              <a:t>Что учтено в модели</a:t>
            </a:r>
            <a:endParaRPr lang="en-US" sz="960" dirty="0"/>
          </a:p>
        </p:txBody>
      </p:sp>
      <p:sp>
        <p:nvSpPr>
          <p:cNvPr id="80" name="Text 77"/>
          <p:cNvSpPr/>
          <p:nvPr/>
        </p:nvSpPr>
        <p:spPr>
          <a:xfrm>
            <a:off x="9217152" y="2971800"/>
            <a:ext cx="2212848" cy="1993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 algn="l">
              <a:buSzPct val="100000"/>
              <a:buChar char="•"/>
            </a:pPr>
            <a:r>
              <a:rPr lang="en-US" sz="940" dirty="0" b="0">
                <a:solidFill>
                  <a:srgbClr val="223042"/>
                </a:solidFill>
                <a:latin typeface="Arial"/>
              </a:rPr>
              <a:t>Полная замена полевого уровня и ядра существующей АПС Edwards.</a:t>
            </a:r>
            <a:endParaRPr lang="en-US" sz="855" dirty="0"/>
          </a:p>
          <a:p>
            <a:pPr marL="152400" indent="-152400" algn="l">
              <a:buSzPct val="100000"/>
              <a:buChar char="•"/>
            </a:pPr>
            <a:r>
              <a:rPr lang="en-US" sz="940" dirty="0" b="0">
                <a:solidFill>
                  <a:srgbClr val="223042"/>
                </a:solidFill>
                <a:latin typeface="Arial"/>
              </a:rPr>
              <a:t>Скрытая прокладка FRLS-линий в действующем офисно-общественном здании.</a:t>
            </a:r>
            <a:endParaRPr lang="en-US" sz="855" dirty="0"/>
          </a:p>
          <a:p>
            <a:pPr marL="152400" indent="-152400" algn="l">
              <a:buSzPct val="100000"/>
              <a:buChar char="•"/>
            </a:pPr>
            <a:r>
              <a:rPr lang="en-US" sz="940" dirty="0" b="0">
                <a:solidFill>
                  <a:srgbClr val="223042"/>
                </a:solidFill>
                <a:latin typeface="Arial"/>
              </a:rPr>
              <a:t>Формирование импульсов на СПДВ, инженерные системы и сценарии пожарной автоматики.</a:t>
            </a:r>
            <a:endParaRPr lang="en-US" sz="855" dirty="0"/>
          </a:p>
          <a:p>
            <a:pPr marL="152400" indent="-152400" algn="l">
              <a:buSzPct val="100000"/>
              <a:buChar char="•"/>
            </a:pPr>
            <a:r>
              <a:rPr lang="en-US" sz="940" dirty="0" b="0">
                <a:solidFill>
                  <a:srgbClr val="223042"/>
                </a:solidFill>
                <a:latin typeface="Arial"/>
              </a:rPr>
              <a:t>Частичное использование линейных/специальных извещателей в общественных пространствах.</a:t>
            </a:r>
            <a:endParaRPr lang="en-US" sz="855" dirty="0"/>
          </a:p>
          <a:p>
            <a:pPr marL="152400" indent="-152400" algn="l">
              <a:buSzPct val="100000"/>
              <a:buChar char="•"/>
            </a:pPr>
            <a:r>
              <a:rPr lang="en-US" sz="940" dirty="0" b="0">
                <a:solidFill>
                  <a:srgbClr val="223042"/>
                </a:solidFill>
                <a:latin typeface="Arial"/>
              </a:rPr>
              <a:t>Пусконаладка АРМ, ППКУП, модулей управления и сценариев взаимодействия.</a:t>
            </a:r>
            <a:endParaRPr lang="en-US" sz="855" dirty="0"/>
          </a:p>
        </p:txBody>
      </p:sp>
      <p:sp>
        <p:nvSpPr>
          <p:cNvPr id="81" name="Shape 78"/>
          <p:cNvSpPr/>
          <p:nvPr/>
        </p:nvSpPr>
        <p:spPr>
          <a:xfrm>
            <a:off x="9217152" y="5193792"/>
            <a:ext cx="214884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82" name="Text 79"/>
          <p:cNvSpPr/>
          <p:nvPr/>
        </p:nvSpPr>
        <p:spPr>
          <a:xfrm>
            <a:off x="9308592" y="5266944"/>
            <a:ext cx="1965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800" b="1">
                <a:solidFill>
                  <a:srgbClr val="667789"/>
                </a:solidFill>
                <a:latin typeface="Arial"/>
              </a:rPr>
              <a:t>Удельный бюджет</a:t>
            </a:r>
          </a:p>
        </p:txBody>
      </p:sp>
      <p:sp>
        <p:nvSpPr>
          <p:cNvPr id="83" name="Text 80"/>
          <p:cNvSpPr/>
          <p:nvPr/>
        </p:nvSpPr>
        <p:spPr>
          <a:xfrm>
            <a:off x="9308592" y="5413248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860" b="1">
                <a:solidFill>
                  <a:srgbClr val="223042"/>
                </a:solidFill>
                <a:latin typeface="Arial"/>
              </a:rPr>
              <a:t>Подрядный: 1554 ₽ / м²</a:t>
            </a:r>
          </a:p>
          <a:p>
            <a:pPr algn="l"/>
            <a:r>
              <a:rPr sz="860" b="1">
                <a:solidFill>
                  <a:srgbClr val="223042"/>
                </a:solidFill>
                <a:latin typeface="Arial"/>
              </a:rPr>
              <a:t>Собственный: 2110 ₽ / м²</a:t>
            </a:r>
          </a:p>
        </p:txBody>
      </p:sp>
      <p:sp>
        <p:nvSpPr>
          <p:cNvPr id="84" name="Text 81"/>
          <p:cNvSpPr/>
          <p:nvPr/>
        </p:nvSpPr>
        <p:spPr>
          <a:xfrm>
            <a:off x="347472" y="6528816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 b="0">
                <a:solidFill>
                  <a:srgbClr val="66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Кутузовский 32, корп. Г • АПС • все цены приведены с НДС 22% • Не является публичной офертой.</a:t>
            </a:r>
            <a:endParaRPr lang="en-US" sz="720" dirty="0"/>
          </a:p>
        </p:txBody>
      </p:sp>
      <p:sp>
        <p:nvSpPr>
          <p:cNvPr id="85" name="Text 82"/>
          <p:cNvSpPr/>
          <p:nvPr/>
        </p:nvSpPr>
        <p:spPr>
          <a:xfrm>
            <a:off x="11686032" y="649224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 b="0">
                <a:solidFill>
                  <a:srgbClr val="667789"/>
                </a:solidFill>
                <a:latin typeface="Arial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3B6D"/>
          </a:solidFill>
          <a:ln w="12700">
            <a:solidFill>
              <a:srgbClr val="113B6D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320040" y="182880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223042"/>
                </a:solidFill>
                <a:latin typeface="Arial"/>
              </a:rPr>
              <a:t>Проектирование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" dirty="0" b="0">
                <a:solidFill>
                  <a:srgbClr val="667789"/>
                </a:solidFill>
                <a:latin typeface="Arial"/>
              </a:rPr>
              <a:t>Смета проектных работ сформирована по предоставленной форме №2П для Кутузовский пр-т, 32, корп. Г (САПС).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347472" y="841248"/>
            <a:ext cx="6720840" cy="5440680"/>
          </a:xfrm>
          <a:prstGeom prst="roundRect">
            <a:avLst>
              <a:gd name="adj" fmla="val 2017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530352" y="98755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23042"/>
                </a:solidFill>
                <a:latin typeface="Arial"/>
              </a:rPr>
              <a:t>Состав и логика расчета</a:t>
            </a:r>
            <a:endParaRPr lang="en-US" sz="960" dirty="0"/>
          </a:p>
        </p:txBody>
      </p:sp>
      <p:sp>
        <p:nvSpPr>
          <p:cNvPr id="7" name="Text 5"/>
          <p:cNvSpPr/>
          <p:nvPr/>
        </p:nvSpPr>
        <p:spPr>
          <a:xfrm>
            <a:off x="548640" y="1225296"/>
            <a:ext cx="6272784" cy="1691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 algn="l">
              <a:buSzPct val="100000"/>
              <a:buChar char="•"/>
            </a:pPr>
            <a:r>
              <a:rPr lang="en-US" sz="1000" dirty="0" b="0">
                <a:solidFill>
                  <a:srgbClr val="223042"/>
                </a:solidFill>
                <a:latin typeface="Arial"/>
              </a:rPr>
              <a:t>Смета проектных работ принята по форме №2П из файла «Кутузовский пр-т, 32, корп. Г, САПС».</a:t>
            </a:r>
            <a:endParaRPr lang="en-US" sz="910" dirty="0"/>
          </a:p>
          <a:p>
            <a:pPr marL="152400" indent="-152400" algn="l">
              <a:buSzPct val="100000"/>
              <a:buChar char="•"/>
            </a:pPr>
            <a:r>
              <a:rPr lang="en-US" sz="1000" dirty="0" b="0">
                <a:solidFill>
                  <a:srgbClr val="223042"/>
                </a:solidFill>
                <a:latin typeface="Arial"/>
              </a:rPr>
              <a:t>Базовая позиция — АПС для объекта площадью свыше 21 000–25 000 м²; далее — добавка за площадь свыше 25 000 м².</a:t>
            </a:r>
            <a:endParaRPr lang="en-US" sz="910" dirty="0"/>
          </a:p>
          <a:p>
            <a:pPr marL="152400" indent="-152400" algn="l">
              <a:buSzPct val="100000"/>
              <a:buChar char="•"/>
            </a:pPr>
            <a:r>
              <a:rPr lang="en-US" sz="1000" dirty="0" b="0">
                <a:solidFill>
                  <a:srgbClr val="223042"/>
                </a:solidFill>
                <a:latin typeface="Arial"/>
              </a:rPr>
              <a:t>Учтены стадии ПД 25% и РД 75%; итоговая стоимость с НДС 22% — 2 209 863,67 ₽.</a:t>
            </a:r>
            <a:endParaRPr lang="en-US" sz="910" dirty="0"/>
          </a:p>
          <a:p>
            <a:pPr marL="152400" indent="-152400" algn="l">
              <a:buSzPct val="100000"/>
              <a:buChar char="•"/>
            </a:pPr>
            <a:r>
              <a:rPr lang="en-US" sz="1000" dirty="0" b="0">
                <a:solidFill>
                  <a:srgbClr val="223042"/>
                </a:solidFill>
                <a:latin typeface="Arial"/>
              </a:rPr>
              <a:t>В расчете заданы ценообразующие коэффициенты: скрытая прокладка K1=1,2; управление системами противопожарной защиты K2=1,5; ручные извещатели K3=1,15; линейные/световые извещатели K4=1,2; рабочий проект K5=0,9.</a:t>
            </a:r>
            <a:endParaRPr lang="en-US" sz="910" dirty="0"/>
          </a:p>
          <a:p>
            <a:pPr marL="152400" indent="-152400" algn="l">
              <a:buSzPct val="100000"/>
              <a:buChar char="•"/>
            </a:pPr>
            <a:r>
              <a:rPr lang="en-US" sz="1000" dirty="0" b="0">
                <a:solidFill>
                  <a:srgbClr val="223042"/>
                </a:solidFill>
                <a:latin typeface="Arial"/>
              </a:rPr>
              <a:t>Переход в текущий уровень цен выполнен с коэффициентом Ктек = 53,48.</a:t>
            </a:r>
            <a:endParaRPr lang="en-US" sz="910" dirty="0"/>
          </a:p>
        </p:txBody>
      </p:sp>
      <p:sp>
        <p:nvSpPr>
          <p:cNvPr id="8" name="Shape 6"/>
          <p:cNvSpPr/>
          <p:nvPr/>
        </p:nvSpPr>
        <p:spPr>
          <a:xfrm>
            <a:off x="548640" y="3127248"/>
            <a:ext cx="6291072" cy="2697480"/>
          </a:xfrm>
          <a:prstGeom prst="roundRect">
            <a:avLst>
              <a:gd name="adj" fmla="val 4068"/>
            </a:avLst>
          </a:prstGeom>
          <a:solidFill>
            <a:srgbClr val="FDFEFE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749808" y="329184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334155"/>
                </a:solidFill>
                <a:latin typeface="Arial"/>
              </a:rPr>
              <a:t>Параметры сметы</a:t>
            </a:r>
            <a:endParaRPr lang="en-US" sz="940" dirty="0"/>
          </a:p>
        </p:txBody>
      </p:sp>
      <p:sp>
        <p:nvSpPr>
          <p:cNvPr id="10" name="Text 8"/>
          <p:cNvSpPr/>
          <p:nvPr/>
        </p:nvSpPr>
        <p:spPr>
          <a:xfrm>
            <a:off x="777240" y="3566160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b="1" dirty="0">
                <a:solidFill>
                  <a:srgbClr val="7C8796"/>
                </a:solidFill>
                <a:latin typeface="Arial"/>
              </a:rPr>
              <a:t>Стадии</a:t>
            </a:r>
            <a:endParaRPr lang="en-US" sz="870" dirty="0"/>
          </a:p>
        </p:txBody>
      </p:sp>
      <p:sp>
        <p:nvSpPr>
          <p:cNvPr id="11" name="Text 9"/>
          <p:cNvSpPr/>
          <p:nvPr/>
        </p:nvSpPr>
        <p:spPr>
          <a:xfrm>
            <a:off x="1417320" y="3566160"/>
            <a:ext cx="2834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90" dirty="0">
                <a:solidFill>
                  <a:srgbClr val="334155"/>
                </a:solidFill>
                <a:latin typeface="Arial"/>
              </a:rPr>
              <a:t>ПД 25% • РД 75%</a:t>
            </a:r>
            <a:endParaRPr lang="en-US" sz="890" dirty="0"/>
          </a:p>
        </p:txBody>
      </p:sp>
      <p:sp>
        <p:nvSpPr>
          <p:cNvPr id="12" name="Text 10"/>
          <p:cNvSpPr/>
          <p:nvPr/>
        </p:nvSpPr>
        <p:spPr>
          <a:xfrm>
            <a:off x="777240" y="3858768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b="1" dirty="0">
                <a:solidFill>
                  <a:srgbClr val="7C8796"/>
                </a:solidFill>
                <a:latin typeface="Arial"/>
              </a:rPr>
              <a:t>Ктек</a:t>
            </a:r>
            <a:endParaRPr lang="en-US" sz="870" dirty="0"/>
          </a:p>
        </p:txBody>
      </p:sp>
      <p:sp>
        <p:nvSpPr>
          <p:cNvPr id="13" name="Text 11"/>
          <p:cNvSpPr/>
          <p:nvPr/>
        </p:nvSpPr>
        <p:spPr>
          <a:xfrm>
            <a:off x="1417320" y="3858768"/>
            <a:ext cx="2834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90" dirty="0">
                <a:solidFill>
                  <a:srgbClr val="334155"/>
                </a:solidFill>
                <a:latin typeface="Arial"/>
              </a:rPr>
              <a:t>53,48</a:t>
            </a:r>
            <a:endParaRPr lang="en-US" sz="890" dirty="0"/>
          </a:p>
        </p:txBody>
      </p:sp>
      <p:sp>
        <p:nvSpPr>
          <p:cNvPr id="14" name="Text 12"/>
          <p:cNvSpPr/>
          <p:nvPr/>
        </p:nvSpPr>
        <p:spPr>
          <a:xfrm>
            <a:off x="777240" y="4151376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b="1" dirty="0">
                <a:solidFill>
                  <a:srgbClr val="7C8796"/>
                </a:solidFill>
                <a:latin typeface="Arial"/>
              </a:rPr>
              <a:t>K1</a:t>
            </a:r>
            <a:endParaRPr lang="en-US" sz="870" dirty="0"/>
          </a:p>
        </p:txBody>
      </p:sp>
      <p:sp>
        <p:nvSpPr>
          <p:cNvPr id="15" name="Text 13"/>
          <p:cNvSpPr/>
          <p:nvPr/>
        </p:nvSpPr>
        <p:spPr>
          <a:xfrm>
            <a:off x="1417320" y="4151376"/>
            <a:ext cx="2834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90" dirty="0">
                <a:solidFill>
                  <a:srgbClr val="334155"/>
                </a:solidFill>
                <a:latin typeface="Arial"/>
              </a:rPr>
              <a:t>1,2 • скрытая прокладка</a:t>
            </a:r>
            <a:endParaRPr lang="en-US" sz="890" dirty="0"/>
          </a:p>
        </p:txBody>
      </p:sp>
      <p:sp>
        <p:nvSpPr>
          <p:cNvPr id="16" name="Text 14"/>
          <p:cNvSpPr/>
          <p:nvPr/>
        </p:nvSpPr>
        <p:spPr>
          <a:xfrm>
            <a:off x="777240" y="4443984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b="1" dirty="0">
                <a:solidFill>
                  <a:srgbClr val="7C8796"/>
                </a:solidFill>
                <a:latin typeface="Arial"/>
              </a:rPr>
              <a:t>K2</a:t>
            </a:r>
            <a:endParaRPr lang="en-US" sz="870" dirty="0"/>
          </a:p>
        </p:txBody>
      </p:sp>
      <p:sp>
        <p:nvSpPr>
          <p:cNvPr id="17" name="Text 15"/>
          <p:cNvSpPr/>
          <p:nvPr/>
        </p:nvSpPr>
        <p:spPr>
          <a:xfrm>
            <a:off x="1417320" y="4443984"/>
            <a:ext cx="2834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90" dirty="0">
                <a:solidFill>
                  <a:srgbClr val="334155"/>
                </a:solidFill>
                <a:latin typeface="Arial"/>
              </a:rPr>
              <a:t>1,5 • импульсы на СПЗ / инженерные системы</a:t>
            </a:r>
            <a:endParaRPr lang="en-US" sz="890" dirty="0"/>
          </a:p>
        </p:txBody>
      </p:sp>
      <p:sp>
        <p:nvSpPr>
          <p:cNvPr id="18" name="Text 16"/>
          <p:cNvSpPr/>
          <p:nvPr/>
        </p:nvSpPr>
        <p:spPr>
          <a:xfrm>
            <a:off x="777240" y="4736592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b="1" dirty="0">
                <a:solidFill>
                  <a:srgbClr val="7C8796"/>
                </a:solidFill>
                <a:latin typeface="Arial"/>
              </a:rPr>
              <a:t>K3</a:t>
            </a:r>
            <a:endParaRPr lang="en-US" sz="870" dirty="0"/>
          </a:p>
        </p:txBody>
      </p:sp>
      <p:sp>
        <p:nvSpPr>
          <p:cNvPr id="19" name="Text 17"/>
          <p:cNvSpPr/>
          <p:nvPr/>
        </p:nvSpPr>
        <p:spPr>
          <a:xfrm>
            <a:off x="1417320" y="4736592"/>
            <a:ext cx="2834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90" dirty="0">
                <a:solidFill>
                  <a:srgbClr val="334155"/>
                </a:solidFill>
                <a:latin typeface="Arial"/>
              </a:rPr>
              <a:t>1,15 • ручные извещатели</a:t>
            </a:r>
            <a:endParaRPr lang="en-US" sz="890" dirty="0"/>
          </a:p>
        </p:txBody>
      </p:sp>
      <p:sp>
        <p:nvSpPr>
          <p:cNvPr id="20" name="Text 18"/>
          <p:cNvSpPr/>
          <p:nvPr/>
        </p:nvSpPr>
        <p:spPr>
          <a:xfrm>
            <a:off x="777240" y="5029200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b="1" dirty="0">
                <a:solidFill>
                  <a:srgbClr val="7C8796"/>
                </a:solidFill>
                <a:latin typeface="Arial"/>
              </a:rPr>
              <a:t>K4</a:t>
            </a:r>
            <a:endParaRPr lang="en-US" sz="870" dirty="0"/>
          </a:p>
        </p:txBody>
      </p:sp>
      <p:sp>
        <p:nvSpPr>
          <p:cNvPr id="21" name="Text 19"/>
          <p:cNvSpPr/>
          <p:nvPr/>
        </p:nvSpPr>
        <p:spPr>
          <a:xfrm>
            <a:off x="1417320" y="5029200"/>
            <a:ext cx="2834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90" dirty="0">
                <a:solidFill>
                  <a:srgbClr val="334155"/>
                </a:solidFill>
                <a:latin typeface="Arial"/>
              </a:rPr>
              <a:t>1,2 • линейные и световые извещатели</a:t>
            </a:r>
            <a:endParaRPr lang="en-US" sz="890" dirty="0"/>
          </a:p>
        </p:txBody>
      </p:sp>
      <p:sp>
        <p:nvSpPr>
          <p:cNvPr id="22" name="Text 20"/>
          <p:cNvSpPr/>
          <p:nvPr/>
        </p:nvSpPr>
        <p:spPr>
          <a:xfrm>
            <a:off x="777240" y="5321808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b="1" dirty="0">
                <a:solidFill>
                  <a:srgbClr val="7C8796"/>
                </a:solidFill>
                <a:latin typeface="Arial"/>
              </a:rPr>
              <a:t>K5</a:t>
            </a:r>
            <a:endParaRPr lang="en-US" sz="870" dirty="0"/>
          </a:p>
        </p:txBody>
      </p:sp>
      <p:sp>
        <p:nvSpPr>
          <p:cNvPr id="23" name="Text 21"/>
          <p:cNvSpPr/>
          <p:nvPr/>
        </p:nvSpPr>
        <p:spPr>
          <a:xfrm>
            <a:off x="1417320" y="5321808"/>
            <a:ext cx="2834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90" dirty="0">
                <a:solidFill>
                  <a:srgbClr val="334155"/>
                </a:solidFill>
                <a:latin typeface="Arial"/>
              </a:rPr>
              <a:t>0,9 • рабочий проект</a:t>
            </a:r>
            <a:endParaRPr lang="en-US" sz="890" dirty="0"/>
          </a:p>
        </p:txBody>
      </p:sp>
      <p:sp>
        <p:nvSpPr>
          <p:cNvPr id="24" name="Text 22"/>
          <p:cNvSpPr/>
          <p:nvPr/>
        </p:nvSpPr>
        <p:spPr>
          <a:xfrm>
            <a:off x="4069080" y="3291840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334155"/>
                </a:solidFill>
                <a:latin typeface="Arial"/>
              </a:rPr>
              <a:t>Распределение по стадиям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4096512" y="3703320"/>
            <a:ext cx="2331720" cy="256032"/>
          </a:xfrm>
          <a:prstGeom prst="roundRect">
            <a:avLst>
              <a:gd name="adj" fmla="val 17857"/>
            </a:avLst>
          </a:prstGeom>
          <a:solidFill>
            <a:srgbClr val="2D65B1"/>
          </a:solidFill>
          <a:ln w="12700">
            <a:solidFill>
              <a:srgbClr val="2D65B1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26" name="Shape 24"/>
          <p:cNvSpPr/>
          <p:nvPr/>
        </p:nvSpPr>
        <p:spPr>
          <a:xfrm>
            <a:off x="4096512" y="3703320"/>
            <a:ext cx="585216" cy="256032"/>
          </a:xfrm>
          <a:prstGeom prst="roundRect">
            <a:avLst>
              <a:gd name="adj" fmla="val 17857"/>
            </a:avLst>
          </a:prstGeom>
          <a:solidFill>
            <a:srgbClr val="16C3C6"/>
          </a:solidFill>
          <a:ln w="12700">
            <a:solidFill>
              <a:srgbClr val="16C3C6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27" name="Text 25"/>
          <p:cNvSpPr/>
          <p:nvPr/>
        </p:nvSpPr>
        <p:spPr>
          <a:xfrm>
            <a:off x="4169664" y="373075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Arial"/>
              </a:rPr>
              <a:t>ПД 25%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4937760" y="3730752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Arial"/>
              </a:rPr>
              <a:t>РД 75%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4096512" y="4224528"/>
            <a:ext cx="1078992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30" name="Text 28"/>
          <p:cNvSpPr/>
          <p:nvPr/>
        </p:nvSpPr>
        <p:spPr>
          <a:xfrm>
            <a:off x="4187952" y="4297680"/>
            <a:ext cx="8961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7C8796"/>
                </a:solidFill>
                <a:latin typeface="Arial"/>
              </a:rPr>
              <a:t>Основание</a:t>
            </a:r>
            <a:endParaRPr lang="en-US" sz="770" dirty="0"/>
          </a:p>
        </p:txBody>
      </p:sp>
      <p:sp>
        <p:nvSpPr>
          <p:cNvPr id="31" name="Text 29"/>
          <p:cNvSpPr/>
          <p:nvPr/>
        </p:nvSpPr>
        <p:spPr>
          <a:xfrm>
            <a:off x="4187952" y="4443984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13B6D"/>
                </a:solidFill>
                <a:latin typeface="Arial"/>
              </a:rPr>
              <a:t>Форма №2П</a:t>
            </a:r>
            <a:endParaRPr lang="en-US" sz="1320" dirty="0"/>
          </a:p>
        </p:txBody>
      </p:sp>
      <p:sp>
        <p:nvSpPr>
          <p:cNvPr id="32" name="Shape 30"/>
          <p:cNvSpPr/>
          <p:nvPr/>
        </p:nvSpPr>
        <p:spPr>
          <a:xfrm>
            <a:off x="5303520" y="4224528"/>
            <a:ext cx="1124712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33" name="Text 31"/>
          <p:cNvSpPr/>
          <p:nvPr/>
        </p:nvSpPr>
        <p:spPr>
          <a:xfrm>
            <a:off x="5394960" y="4297680"/>
            <a:ext cx="9418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7C8796"/>
                </a:solidFill>
                <a:latin typeface="Arial"/>
              </a:rPr>
              <a:t>Раздел</a:t>
            </a:r>
            <a:endParaRPr lang="en-US" sz="770" dirty="0"/>
          </a:p>
        </p:txBody>
      </p:sp>
      <p:sp>
        <p:nvSpPr>
          <p:cNvPr id="34" name="Text 32"/>
          <p:cNvSpPr/>
          <p:nvPr/>
        </p:nvSpPr>
        <p:spPr>
          <a:xfrm>
            <a:off x="5394960" y="4443984"/>
            <a:ext cx="941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13B6D"/>
                </a:solidFill>
                <a:latin typeface="Arial"/>
              </a:rPr>
              <a:t>САПС</a:t>
            </a:r>
            <a:endParaRPr lang="en-US" sz="1320" dirty="0"/>
          </a:p>
        </p:txBody>
      </p:sp>
      <p:sp>
        <p:nvSpPr>
          <p:cNvPr id="35" name="Shape 33"/>
          <p:cNvSpPr/>
          <p:nvPr/>
        </p:nvSpPr>
        <p:spPr>
          <a:xfrm>
            <a:off x="4096512" y="4828032"/>
            <a:ext cx="1078992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36" name="Text 34"/>
          <p:cNvSpPr/>
          <p:nvPr/>
        </p:nvSpPr>
        <p:spPr>
          <a:xfrm>
            <a:off x="4187952" y="4901184"/>
            <a:ext cx="8961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7C8796"/>
                </a:solidFill>
                <a:latin typeface="Arial"/>
              </a:rPr>
              <a:t>НДС</a:t>
            </a:r>
            <a:endParaRPr lang="en-US" sz="770" dirty="0"/>
          </a:p>
        </p:txBody>
      </p:sp>
      <p:sp>
        <p:nvSpPr>
          <p:cNvPr id="37" name="Text 35"/>
          <p:cNvSpPr/>
          <p:nvPr/>
        </p:nvSpPr>
        <p:spPr>
          <a:xfrm>
            <a:off x="4187952" y="5047488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13B6D"/>
                </a:solidFill>
                <a:latin typeface="Arial"/>
              </a:rPr>
              <a:t>22%</a:t>
            </a:r>
            <a:endParaRPr lang="en-US" sz="1320" dirty="0"/>
          </a:p>
        </p:txBody>
      </p:sp>
      <p:sp>
        <p:nvSpPr>
          <p:cNvPr id="38" name="Shape 36"/>
          <p:cNvSpPr/>
          <p:nvPr/>
        </p:nvSpPr>
        <p:spPr>
          <a:xfrm>
            <a:off x="5303520" y="4828032"/>
            <a:ext cx="1124712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39" name="Text 37"/>
          <p:cNvSpPr/>
          <p:nvPr/>
        </p:nvSpPr>
        <p:spPr>
          <a:xfrm>
            <a:off x="5394960" y="4901184"/>
            <a:ext cx="9418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7C8796"/>
                </a:solidFill>
                <a:latin typeface="Arial"/>
              </a:rPr>
              <a:t>Итог</a:t>
            </a:r>
            <a:endParaRPr lang="en-US" sz="770" dirty="0"/>
          </a:p>
        </p:txBody>
      </p:sp>
      <p:sp>
        <p:nvSpPr>
          <p:cNvPr id="40" name="Text 38"/>
          <p:cNvSpPr/>
          <p:nvPr/>
        </p:nvSpPr>
        <p:spPr>
          <a:xfrm>
            <a:off x="5394960" y="5047488"/>
            <a:ext cx="941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13B6D"/>
                </a:solidFill>
                <a:latin typeface="Arial"/>
              </a:rPr>
              <a:t>2,2 млн ₽</a:t>
            </a:r>
            <a:endParaRPr lang="en-US" sz="1320" dirty="0"/>
          </a:p>
        </p:txBody>
      </p:sp>
      <p:sp>
        <p:nvSpPr>
          <p:cNvPr id="41" name="Shape 39"/>
          <p:cNvSpPr/>
          <p:nvPr/>
        </p:nvSpPr>
        <p:spPr>
          <a:xfrm>
            <a:off x="7315200" y="841248"/>
            <a:ext cx="4526280" cy="612648"/>
          </a:xfrm>
          <a:prstGeom prst="roundRect">
            <a:avLst>
              <a:gd name="adj" fmla="val 17910"/>
            </a:avLst>
          </a:prstGeom>
          <a:solidFill>
            <a:srgbClr val="113B6D"/>
          </a:solidFill>
          <a:ln w="12700">
            <a:solidFill>
              <a:srgbClr val="113B6D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42" name="Text 40"/>
          <p:cNvSpPr/>
          <p:nvPr/>
        </p:nvSpPr>
        <p:spPr>
          <a:xfrm>
            <a:off x="7424928" y="914400"/>
            <a:ext cx="43068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E6F0FA"/>
                </a:solidFill>
                <a:latin typeface="Arial"/>
              </a:rPr>
              <a:t>Итого по проектированию (сметная стоимость)</a:t>
            </a:r>
            <a:endParaRPr lang="en-US" sz="820" dirty="0"/>
          </a:p>
        </p:txBody>
      </p:sp>
      <p:sp>
        <p:nvSpPr>
          <p:cNvPr id="43" name="Text 41"/>
          <p:cNvSpPr/>
          <p:nvPr/>
        </p:nvSpPr>
        <p:spPr>
          <a:xfrm>
            <a:off x="7424928" y="1078992"/>
            <a:ext cx="4306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/>
              </a:rPr>
              <a:t>2,2 млн ₽</a:t>
            </a:r>
            <a:endParaRPr lang="en-US" sz="1700" dirty="0"/>
          </a:p>
        </p:txBody>
      </p:sp>
      <p:sp>
        <p:nvSpPr>
          <p:cNvPr id="44" name="Shape 42"/>
          <p:cNvSpPr/>
          <p:nvPr/>
        </p:nvSpPr>
        <p:spPr>
          <a:xfrm>
            <a:off x="7315200" y="1591056"/>
            <a:ext cx="1353312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45" name="Text 43"/>
          <p:cNvSpPr/>
          <p:nvPr/>
        </p:nvSpPr>
        <p:spPr>
          <a:xfrm>
            <a:off x="7406640" y="1664208"/>
            <a:ext cx="1170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7C8796"/>
                </a:solidFill>
                <a:latin typeface="Arial"/>
              </a:rPr>
              <a:t>ПД</a:t>
            </a:r>
            <a:endParaRPr lang="en-US" sz="770" dirty="0"/>
          </a:p>
        </p:txBody>
      </p:sp>
      <p:sp>
        <p:nvSpPr>
          <p:cNvPr id="46" name="Text 44"/>
          <p:cNvSpPr/>
          <p:nvPr/>
        </p:nvSpPr>
        <p:spPr>
          <a:xfrm>
            <a:off x="7406640" y="1810512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13B6D"/>
                </a:solidFill>
                <a:latin typeface="Arial"/>
              </a:rPr>
              <a:t>0,6 млн ₽</a:t>
            </a:r>
            <a:endParaRPr lang="en-US" sz="1320" dirty="0"/>
          </a:p>
        </p:txBody>
      </p:sp>
      <p:sp>
        <p:nvSpPr>
          <p:cNvPr id="47" name="Shape 45"/>
          <p:cNvSpPr/>
          <p:nvPr/>
        </p:nvSpPr>
        <p:spPr>
          <a:xfrm>
            <a:off x="8796528" y="1591056"/>
            <a:ext cx="1353312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48" name="Text 46"/>
          <p:cNvSpPr/>
          <p:nvPr/>
        </p:nvSpPr>
        <p:spPr>
          <a:xfrm>
            <a:off x="8887968" y="1664208"/>
            <a:ext cx="1170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7C8796"/>
                </a:solidFill>
                <a:latin typeface="Arial"/>
              </a:rPr>
              <a:t>РД</a:t>
            </a:r>
            <a:endParaRPr lang="en-US" sz="770" dirty="0"/>
          </a:p>
        </p:txBody>
      </p:sp>
      <p:sp>
        <p:nvSpPr>
          <p:cNvPr id="49" name="Text 47"/>
          <p:cNvSpPr/>
          <p:nvPr/>
        </p:nvSpPr>
        <p:spPr>
          <a:xfrm>
            <a:off x="8887968" y="1810512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13B6D"/>
                </a:solidFill>
                <a:latin typeface="Arial"/>
              </a:rPr>
              <a:t>1,7 млн ₽</a:t>
            </a:r>
            <a:endParaRPr lang="en-US" sz="1320" dirty="0"/>
          </a:p>
        </p:txBody>
      </p:sp>
      <p:sp>
        <p:nvSpPr>
          <p:cNvPr id="50" name="Shape 48"/>
          <p:cNvSpPr/>
          <p:nvPr/>
        </p:nvSpPr>
        <p:spPr>
          <a:xfrm>
            <a:off x="10277856" y="1591056"/>
            <a:ext cx="1353312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51" name="Text 49"/>
          <p:cNvSpPr/>
          <p:nvPr/>
        </p:nvSpPr>
        <p:spPr>
          <a:xfrm>
            <a:off x="10369296" y="1664208"/>
            <a:ext cx="1170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7C8796"/>
                </a:solidFill>
                <a:latin typeface="Arial"/>
              </a:rPr>
              <a:t>С НДС 22%</a:t>
            </a:r>
            <a:endParaRPr lang="en-US" sz="770" dirty="0"/>
          </a:p>
        </p:txBody>
      </p:sp>
      <p:sp>
        <p:nvSpPr>
          <p:cNvPr id="52" name="Text 50"/>
          <p:cNvSpPr/>
          <p:nvPr/>
        </p:nvSpPr>
        <p:spPr>
          <a:xfrm>
            <a:off x="10369296" y="1810512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13B6D"/>
                </a:solidFill>
                <a:latin typeface="Arial"/>
              </a:rPr>
              <a:t>учтено</a:t>
            </a:r>
            <a:endParaRPr lang="en-US" sz="1320" dirty="0"/>
          </a:p>
        </p:txBody>
      </p:sp>
      <p:sp>
        <p:nvSpPr>
          <p:cNvPr id="53" name="Shape 51"/>
          <p:cNvSpPr/>
          <p:nvPr/>
        </p:nvSpPr>
        <p:spPr>
          <a:xfrm>
            <a:off x="7315200" y="2377440"/>
            <a:ext cx="4526280" cy="3904488"/>
          </a:xfrm>
          <a:prstGeom prst="roundRect">
            <a:avLst>
              <a:gd name="adj" fmla="val 2810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54" name="Text 52"/>
          <p:cNvSpPr/>
          <p:nvPr/>
        </p:nvSpPr>
        <p:spPr>
          <a:xfrm>
            <a:off x="7498080" y="254203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16C3C6"/>
                </a:solidFill>
                <a:latin typeface="Arial"/>
              </a:rPr>
              <a:t>Что включает проектирование</a:t>
            </a:r>
            <a:endParaRPr lang="en-US" sz="960" dirty="0"/>
          </a:p>
        </p:txBody>
      </p:sp>
      <p:sp>
        <p:nvSpPr>
          <p:cNvPr id="55" name="Text 53"/>
          <p:cNvSpPr/>
          <p:nvPr/>
        </p:nvSpPr>
        <p:spPr>
          <a:xfrm>
            <a:off x="7498080" y="2788920"/>
            <a:ext cx="3886200" cy="1280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890" dirty="0">
                <a:solidFill>
                  <a:srgbClr val="334155"/>
                </a:solidFill>
                <a:latin typeface="Arial"/>
              </a:rPr>
              <a:t>ПД/РД по новой адресной системе АПС на отечественной платформе.</a:t>
            </a:r>
            <a:endParaRPr lang="en-US" sz="890" dirty="0"/>
          </a:p>
          <a:p>
            <a:pPr marL="152400" indent="-152400">
              <a:buSzPct val="100000"/>
              <a:buChar char="•"/>
            </a:pPr>
            <a:r>
              <a:rPr lang="en-US" sz="890" dirty="0">
                <a:solidFill>
                  <a:srgbClr val="334155"/>
                </a:solidFill>
                <a:latin typeface="Arial"/>
              </a:rPr>
              <a:t>Решения по полевому уровню, ППКУП, АРМ, шкафам, линиям связи и интерфейсным модулям.</a:t>
            </a:r>
            <a:endParaRPr lang="en-US" sz="890" dirty="0"/>
          </a:p>
          <a:p>
            <a:pPr marL="152400" indent="-152400">
              <a:buSzPct val="100000"/>
              <a:buChar char="•"/>
            </a:pPr>
            <a:r>
              <a:rPr lang="en-US" sz="890" dirty="0">
                <a:solidFill>
                  <a:srgbClr val="334155"/>
                </a:solidFill>
                <a:latin typeface="Arial"/>
              </a:rPr>
              <a:t>Сигналы управления СПДВ, инженерными системами и связанными противопожарными сценариями.</a:t>
            </a:r>
            <a:endParaRPr lang="en-US" sz="890" dirty="0"/>
          </a:p>
          <a:p>
            <a:pPr marL="152400" indent="-152400">
              <a:buSzPct val="100000"/>
              <a:buChar char="•"/>
            </a:pPr>
            <a:r>
              <a:rPr lang="en-US" sz="890" dirty="0">
                <a:solidFill>
                  <a:srgbClr val="334155"/>
                </a:solidFill>
                <a:latin typeface="Arial"/>
              </a:rPr>
              <a:t>Сметная документация и комплект графической/текстовой документации для замены системы.</a:t>
            </a:r>
            <a:endParaRPr lang="en-US" sz="890" dirty="0"/>
          </a:p>
        </p:txBody>
      </p:sp>
      <p:sp>
        <p:nvSpPr>
          <p:cNvPr id="56" name="Text 54"/>
          <p:cNvSpPr/>
          <p:nvPr/>
        </p:nvSpPr>
        <p:spPr>
          <a:xfrm>
            <a:off x="7498080" y="429768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C8796"/>
                </a:solidFill>
                <a:latin typeface="Arial"/>
              </a:rPr>
              <a:t>Смета на проектирование вынесена в отдельный блок бюджета и не дублируется в стоимости СМР/ПНР.</a:t>
            </a:r>
            <a:endParaRPr lang="en-US" sz="880" dirty="0"/>
          </a:p>
        </p:txBody>
      </p:sp>
      <p:sp>
        <p:nvSpPr>
          <p:cNvPr id="57" name="Shape 55"/>
          <p:cNvSpPr/>
          <p:nvPr/>
        </p:nvSpPr>
        <p:spPr>
          <a:xfrm>
            <a:off x="7498080" y="4754880"/>
            <a:ext cx="1737360" cy="914400"/>
          </a:xfrm>
          <a:prstGeom prst="roundRect">
            <a:avLst>
              <a:gd name="adj" fmla="val 12000"/>
            </a:avLst>
          </a:prstGeom>
          <a:solidFill>
            <a:srgbClr val="E8FBFA"/>
          </a:solidFill>
          <a:ln w="12700">
            <a:solidFill>
              <a:srgbClr val="E8FBFA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58" name="Shape 56"/>
          <p:cNvSpPr/>
          <p:nvPr/>
        </p:nvSpPr>
        <p:spPr>
          <a:xfrm>
            <a:off x="9326880" y="4754880"/>
            <a:ext cx="2331720" cy="914400"/>
          </a:xfrm>
          <a:prstGeom prst="roundRect">
            <a:avLst>
              <a:gd name="adj" fmla="val 12000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59" name="Text 57"/>
          <p:cNvSpPr/>
          <p:nvPr/>
        </p:nvSpPr>
        <p:spPr>
          <a:xfrm>
            <a:off x="7635240" y="4882896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16C3C6"/>
                </a:solidFill>
                <a:latin typeface="Arial"/>
              </a:rPr>
              <a:t>Основание</a:t>
            </a:r>
            <a:endParaRPr lang="en-US" sz="830" dirty="0"/>
          </a:p>
        </p:txBody>
      </p:sp>
      <p:sp>
        <p:nvSpPr>
          <p:cNvPr id="60" name="Text 58"/>
          <p:cNvSpPr/>
          <p:nvPr/>
        </p:nvSpPr>
        <p:spPr>
          <a:xfrm>
            <a:off x="7635240" y="504748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3B6D"/>
                </a:solidFill>
                <a:latin typeface="Arial"/>
              </a:rPr>
              <a:t>Форма №2П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113B6D"/>
                </a:solidFill>
                <a:latin typeface="Arial"/>
              </a:rPr>
              <a:t>АПС / САПС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9473184" y="4882896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2D65B1"/>
                </a:solidFill>
                <a:latin typeface="Arial"/>
              </a:rPr>
              <a:t>Экспликация проекта</a:t>
            </a:r>
            <a:endParaRPr lang="en-US" sz="830" dirty="0"/>
          </a:p>
        </p:txBody>
      </p:sp>
      <p:sp>
        <p:nvSpPr>
          <p:cNvPr id="62" name="Text 60"/>
          <p:cNvSpPr/>
          <p:nvPr/>
        </p:nvSpPr>
        <p:spPr>
          <a:xfrm>
            <a:off x="9473184" y="504748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334155"/>
                </a:solidFill>
                <a:latin typeface="Arial"/>
              </a:rPr>
              <a:t>Скрытая прокладка, интеграция с пожарной автоматикой и ручные извещатели.</a:t>
            </a:r>
            <a:endParaRPr lang="en-US" sz="870" dirty="0"/>
          </a:p>
        </p:txBody>
      </p:sp>
      <p:sp>
        <p:nvSpPr>
          <p:cNvPr id="63" name="Text 61"/>
          <p:cNvSpPr/>
          <p:nvPr/>
        </p:nvSpPr>
        <p:spPr>
          <a:xfrm>
            <a:off x="347472" y="6528816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Кутузовский 32, корп. Г • АПС • все цены приведены с НДС 22% • Не является публичной офертой.</a:t>
            </a:r>
            <a:endParaRPr lang="en-US" sz="720" dirty="0"/>
          </a:p>
        </p:txBody>
      </p:sp>
      <p:sp>
        <p:nvSpPr>
          <p:cNvPr id="64" name="Text 62"/>
          <p:cNvSpPr/>
          <p:nvPr/>
        </p:nvSpPr>
        <p:spPr>
          <a:xfrm>
            <a:off x="11686032" y="649224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B8794"/>
                </a:solidFill>
                <a:latin typeface="Arial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3B6D"/>
          </a:solidFill>
          <a:ln w="12700">
            <a:solidFill>
              <a:srgbClr val="113B6D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320040" y="182880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223042"/>
                </a:solidFill>
                <a:latin typeface="Arial"/>
              </a:rPr>
              <a:t>Автоматическая пожарная сигнализация (АПС)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" dirty="0" b="0">
                <a:solidFill>
                  <a:srgbClr val="667789"/>
                </a:solidFill>
                <a:latin typeface="Arial"/>
              </a:rPr>
              <a:t>Базис — Отечественная адресная система «Рубеж R3».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329184" y="868680"/>
            <a:ext cx="6537960" cy="539496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512064" y="1024128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0" b="1" dirty="0">
                <a:solidFill>
                  <a:srgbClr val="21985D"/>
                </a:solidFill>
                <a:latin typeface="Arial"/>
              </a:rPr>
              <a:t>Состав оборудования, материалов и работ</a:t>
            </a:r>
            <a:endParaRPr lang="en-US" sz="960" dirty="0"/>
          </a:p>
        </p:txBody>
      </p:sp>
      <p:sp>
        <p:nvSpPr>
          <p:cNvPr id="7" name="Text 5"/>
          <p:cNvSpPr/>
          <p:nvPr/>
        </p:nvSpPr>
        <p:spPr>
          <a:xfrm>
            <a:off x="530352" y="1225296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69" dirty="0" b="0">
                <a:solidFill>
                  <a:srgbClr val="223042"/>
                </a:solidFill>
                <a:latin typeface="Arial"/>
              </a:rPr>
              <a:t>Система обеспечивает обнаружение пожара, передачу тревоги, формирование управляющих импульсов на инженерные системы и работу в контуре действующего здания.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1645920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0" b="1" dirty="0">
                <a:solidFill>
                  <a:srgbClr val="21985D"/>
                </a:solidFill>
                <a:latin typeface="Arial"/>
              </a:rPr>
              <a:t>Оборудование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548640" y="1847088"/>
            <a:ext cx="621792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 algn="l">
              <a:buSzPct val="100000"/>
              <a:buChar char="•"/>
            </a:pPr>
            <a:r>
              <a:rPr lang="en-US" sz="869" dirty="0" b="0">
                <a:solidFill>
                  <a:srgbClr val="223042"/>
                </a:solidFill>
                <a:latin typeface="Arial"/>
              </a:rPr>
              <a:t>ППКУП / сетевые шкафы — 8 шт.</a:t>
            </a:r>
            <a:endParaRPr lang="en-US" sz="890" dirty="0"/>
          </a:p>
          <a:p>
            <a:pPr marL="152400" indent="-152400" algn="l">
              <a:buSzPct val="100000"/>
              <a:buChar char="•"/>
            </a:pPr>
            <a:r>
              <a:rPr lang="en-US" sz="869" dirty="0" b="0">
                <a:solidFill>
                  <a:srgbClr val="223042"/>
                </a:solidFill>
                <a:latin typeface="Arial"/>
              </a:rPr>
              <a:t>Автоматические адресные извещатели — 1 794 шт.</a:t>
            </a:r>
            <a:endParaRPr lang="en-US" sz="890" dirty="0"/>
          </a:p>
          <a:p>
            <a:pPr marL="152400" indent="-152400" algn="l">
              <a:buSzPct val="100000"/>
              <a:buChar char="•"/>
            </a:pPr>
            <a:r>
              <a:rPr lang="en-US" sz="869" dirty="0" b="0">
                <a:solidFill>
                  <a:srgbClr val="223042"/>
                </a:solidFill>
                <a:latin typeface="Arial"/>
              </a:rPr>
              <a:t>Ручные извещатели — 168 шт.; линейные извещатели — 24 шт.</a:t>
            </a:r>
            <a:endParaRPr lang="en-US" sz="890" dirty="0"/>
          </a:p>
          <a:p>
            <a:pPr marL="152400" indent="-152400" algn="l">
              <a:buSzPct val="100000"/>
              <a:buChar char="•"/>
            </a:pPr>
            <a:r>
              <a:rPr lang="en-US" sz="869" dirty="0" b="0">
                <a:solidFill>
                  <a:srgbClr val="223042"/>
                </a:solidFill>
                <a:latin typeface="Arial"/>
              </a:rPr>
              <a:t>Адресные интерфейсные и релейные модули — 240 шт.; РИП/ББП — 36 шт.</a:t>
            </a:r>
            <a:endParaRPr lang="en-US" sz="890" dirty="0"/>
          </a:p>
        </p:txBody>
      </p:sp>
      <p:sp>
        <p:nvSpPr>
          <p:cNvPr id="10" name="Text 8"/>
          <p:cNvSpPr/>
          <p:nvPr/>
        </p:nvSpPr>
        <p:spPr>
          <a:xfrm>
            <a:off x="530352" y="2852928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0" b="1" dirty="0">
                <a:solidFill>
                  <a:srgbClr val="21985D"/>
                </a:solidFill>
                <a:latin typeface="Arial"/>
              </a:rPr>
              <a:t>Материалы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548640" y="3054096"/>
            <a:ext cx="621792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 algn="l">
              <a:buSzPct val="100000"/>
              <a:buChar char="•"/>
            </a:pPr>
            <a:r>
              <a:rPr lang="en-US" sz="869" dirty="0" b="0">
                <a:solidFill>
                  <a:srgbClr val="223042"/>
                </a:solidFill>
                <a:latin typeface="Arial"/>
              </a:rPr>
              <a:t>Кабель КПСнг(А)-FRLS / FRHF — 58 000 м</a:t>
            </a:r>
            <a:endParaRPr lang="en-US" sz="890" dirty="0"/>
          </a:p>
          <a:p>
            <a:pPr marL="152400" indent="-152400" algn="l">
              <a:buSzPct val="100000"/>
              <a:buChar char="•"/>
            </a:pPr>
            <a:r>
              <a:rPr lang="en-US" sz="869" dirty="0" b="0">
                <a:solidFill>
                  <a:srgbClr val="223042"/>
                </a:solidFill>
                <a:latin typeface="Arial"/>
              </a:rPr>
              <a:t>Коробки и адресные точки подключения — 620 шт.</a:t>
            </a:r>
            <a:endParaRPr lang="en-US" sz="890" dirty="0"/>
          </a:p>
          <a:p>
            <a:pPr marL="152400" indent="-152400" algn="l">
              <a:buSzPct val="100000"/>
              <a:buChar char="•"/>
            </a:pPr>
            <a:r>
              <a:rPr lang="en-US" sz="869" dirty="0" b="0">
                <a:solidFill>
                  <a:srgbClr val="223042"/>
                </a:solidFill>
                <a:latin typeface="Arial"/>
              </a:rPr>
              <a:t>Крепеж, маркировка, огнестойкие проходки, расходные материалы и элементы кабельного хозяйства.</a:t>
            </a:r>
            <a:endParaRPr lang="en-US" sz="890" dirty="0"/>
          </a:p>
        </p:txBody>
      </p:sp>
      <p:sp>
        <p:nvSpPr>
          <p:cNvPr id="12" name="Text 10"/>
          <p:cNvSpPr/>
          <p:nvPr/>
        </p:nvSpPr>
        <p:spPr>
          <a:xfrm>
            <a:off x="530352" y="3977640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0" b="1" dirty="0">
                <a:solidFill>
                  <a:srgbClr val="21985D"/>
                </a:solidFill>
                <a:latin typeface="Arial"/>
              </a:rPr>
              <a:t>Работы / ПНР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548640" y="4178808"/>
            <a:ext cx="621792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 algn="l">
              <a:buSzPct val="100000"/>
              <a:buChar char="•"/>
            </a:pPr>
            <a:r>
              <a:rPr lang="en-US" sz="869" dirty="0" b="0">
                <a:solidFill>
                  <a:srgbClr val="223042"/>
                </a:solidFill>
                <a:latin typeface="Arial"/>
              </a:rPr>
              <a:t>Демонтаж / поэтапная замена существующего полевого уровня и монтаж новой адресной системы.</a:t>
            </a:r>
            <a:endParaRPr lang="en-US" sz="890" dirty="0"/>
          </a:p>
          <a:p>
            <a:pPr marL="152400" indent="-152400" algn="l">
              <a:buSzPct val="100000"/>
              <a:buChar char="•"/>
            </a:pPr>
            <a:r>
              <a:rPr lang="en-US" sz="869" dirty="0" b="0">
                <a:solidFill>
                  <a:srgbClr val="223042"/>
                </a:solidFill>
                <a:latin typeface="Arial"/>
              </a:rPr>
              <a:t>Прокладка FRLS-линий в действующем здании, оконцевание, адресация, сценарии управления СПДВ и смежными системами.</a:t>
            </a:r>
            <a:endParaRPr lang="en-US" sz="890" dirty="0"/>
          </a:p>
          <a:p>
            <a:pPr marL="152400" indent="-152400" algn="l">
              <a:buSzPct val="100000"/>
              <a:buChar char="•"/>
            </a:pPr>
            <a:r>
              <a:rPr lang="en-US" sz="869" dirty="0" b="0">
                <a:solidFill>
                  <a:srgbClr val="223042"/>
                </a:solidFill>
                <a:latin typeface="Arial"/>
              </a:rPr>
              <a:t>Пусконаладка АРМ, ППКУП, модулей управления и приемо-сдаточные испытания.</a:t>
            </a:r>
            <a:endParaRPr lang="en-US" sz="890" dirty="0"/>
          </a:p>
        </p:txBody>
      </p:sp>
      <p:sp>
        <p:nvSpPr>
          <p:cNvPr id="14" name="Shape 12"/>
          <p:cNvSpPr/>
          <p:nvPr/>
        </p:nvSpPr>
        <p:spPr>
          <a:xfrm>
            <a:off x="7059168" y="868680"/>
            <a:ext cx="4535424" cy="612648"/>
          </a:xfrm>
          <a:prstGeom prst="roundRect">
            <a:avLst>
              <a:gd name="adj" fmla="val 17910"/>
            </a:avLst>
          </a:prstGeom>
          <a:solidFill>
            <a:srgbClr val="113B6D"/>
          </a:solidFill>
          <a:ln w="12700">
            <a:solidFill>
              <a:srgbClr val="113B6D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7168896" y="941832"/>
            <a:ext cx="43159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1200" b="1">
                <a:solidFill>
                  <a:srgbClr val="DCE7F3"/>
                </a:solidFill>
                <a:latin typeface="Arial"/>
              </a:rPr>
              <a:t>Итого по системе (бюджет проекта)</a:t>
            </a:r>
          </a:p>
        </p:txBody>
      </p:sp>
      <p:sp>
        <p:nvSpPr>
          <p:cNvPr id="16" name="Text 14"/>
          <p:cNvSpPr/>
          <p:nvPr/>
        </p:nvSpPr>
        <p:spPr>
          <a:xfrm>
            <a:off x="7168896" y="1106424"/>
            <a:ext cx="4315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900" b="1">
                <a:solidFill>
                  <a:srgbClr val="FFFFFF"/>
                </a:solidFill>
                <a:latin typeface="Arial"/>
              </a:rPr>
              <a:t>Подрядный: 94,0 млн ₽</a:t>
            </a:r>
          </a:p>
          <a:p>
            <a:pPr algn="l"/>
            <a:r>
              <a:rPr sz="900" b="1">
                <a:solidFill>
                  <a:srgbClr val="FFFFFF"/>
                </a:solidFill>
                <a:latin typeface="Arial"/>
              </a:rPr>
              <a:t>Собственный: 127,7 млн ₽</a:t>
            </a:r>
          </a:p>
        </p:txBody>
      </p:sp>
      <p:sp>
        <p:nvSpPr>
          <p:cNvPr id="17" name="Shape 15"/>
          <p:cNvSpPr/>
          <p:nvPr/>
        </p:nvSpPr>
        <p:spPr>
          <a:xfrm>
            <a:off x="7059168" y="1627632"/>
            <a:ext cx="1252728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7150608" y="1700784"/>
            <a:ext cx="10698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 b="1">
                <a:solidFill>
                  <a:srgbClr val="667789"/>
                </a:solidFill>
                <a:latin typeface="Arial"/>
              </a:rPr>
              <a:t>Оборудование</a:t>
            </a:r>
            <a:endParaRPr lang="en-US" sz="770" dirty="0"/>
          </a:p>
        </p:txBody>
      </p:sp>
      <p:sp>
        <p:nvSpPr>
          <p:cNvPr id="19" name="Text 17"/>
          <p:cNvSpPr/>
          <p:nvPr/>
        </p:nvSpPr>
        <p:spPr>
          <a:xfrm>
            <a:off x="7150608" y="1847088"/>
            <a:ext cx="1069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223042"/>
                </a:solidFill>
                <a:latin typeface="Arial"/>
              </a:rPr>
              <a:t>35,8 млн ₽</a:t>
            </a:r>
            <a:endParaRPr lang="en-US" sz="1320" dirty="0"/>
          </a:p>
        </p:txBody>
      </p:sp>
      <p:sp>
        <p:nvSpPr>
          <p:cNvPr id="20" name="Shape 18"/>
          <p:cNvSpPr/>
          <p:nvPr/>
        </p:nvSpPr>
        <p:spPr>
          <a:xfrm>
            <a:off x="8439912" y="1627632"/>
            <a:ext cx="1161288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8531352" y="1700784"/>
            <a:ext cx="9784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 b="1">
                <a:solidFill>
                  <a:srgbClr val="667789"/>
                </a:solidFill>
                <a:latin typeface="Arial"/>
              </a:rPr>
              <a:t>Материалы</a:t>
            </a:r>
            <a:endParaRPr lang="en-US" sz="770" dirty="0"/>
          </a:p>
        </p:txBody>
      </p:sp>
      <p:sp>
        <p:nvSpPr>
          <p:cNvPr id="22" name="Text 20"/>
          <p:cNvSpPr/>
          <p:nvPr/>
        </p:nvSpPr>
        <p:spPr>
          <a:xfrm>
            <a:off x="8531352" y="1847088"/>
            <a:ext cx="978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223042"/>
                </a:solidFill>
                <a:latin typeface="Arial"/>
              </a:rPr>
              <a:t>11,6 млн ₽</a:t>
            </a:r>
            <a:endParaRPr lang="en-US" sz="1320" dirty="0"/>
          </a:p>
        </p:txBody>
      </p:sp>
      <p:sp>
        <p:nvSpPr>
          <p:cNvPr id="23" name="Shape 21"/>
          <p:cNvSpPr/>
          <p:nvPr/>
        </p:nvSpPr>
        <p:spPr>
          <a:xfrm>
            <a:off x="9720072" y="1627632"/>
            <a:ext cx="1060704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9811512" y="1700784"/>
            <a:ext cx="877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 b="1">
                <a:solidFill>
                  <a:srgbClr val="667789"/>
                </a:solidFill>
                <a:latin typeface="Arial"/>
              </a:rPr>
              <a:t>Работы / ПНР</a:t>
            </a:r>
            <a:endParaRPr lang="en-US" sz="770" dirty="0"/>
          </a:p>
        </p:txBody>
      </p:sp>
      <p:sp>
        <p:nvSpPr>
          <p:cNvPr id="25" name="Text 23"/>
          <p:cNvSpPr/>
          <p:nvPr/>
        </p:nvSpPr>
        <p:spPr>
          <a:xfrm>
            <a:off x="9811512" y="1847088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720" b="1">
                <a:solidFill>
                  <a:srgbClr val="223042"/>
                </a:solidFill>
                <a:latin typeface="Arial"/>
              </a:rPr>
              <a:t>Подрядный: 28,2 млн ₽</a:t>
            </a:r>
          </a:p>
          <a:p>
            <a:pPr algn="l"/>
            <a:r>
              <a:rPr sz="720" b="1">
                <a:solidFill>
                  <a:srgbClr val="223042"/>
                </a:solidFill>
                <a:latin typeface="Arial"/>
              </a:rPr>
              <a:t>Собственный: 49,5 млн ₽</a:t>
            </a:r>
          </a:p>
        </p:txBody>
      </p:sp>
      <p:sp>
        <p:nvSpPr>
          <p:cNvPr id="26" name="Shape 24"/>
          <p:cNvSpPr/>
          <p:nvPr/>
        </p:nvSpPr>
        <p:spPr>
          <a:xfrm>
            <a:off x="10863072" y="1627632"/>
            <a:ext cx="73152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27" name="Text 25"/>
          <p:cNvSpPr/>
          <p:nvPr/>
        </p:nvSpPr>
        <p:spPr>
          <a:xfrm>
            <a:off x="10954512" y="1700784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 b="1">
                <a:solidFill>
                  <a:srgbClr val="667789"/>
                </a:solidFill>
                <a:latin typeface="Arial"/>
              </a:rPr>
              <a:t>Проект.</a:t>
            </a:r>
            <a:endParaRPr lang="en-US" sz="770" dirty="0"/>
          </a:p>
        </p:txBody>
      </p:sp>
      <p:sp>
        <p:nvSpPr>
          <p:cNvPr id="28" name="Text 26"/>
          <p:cNvSpPr/>
          <p:nvPr/>
        </p:nvSpPr>
        <p:spPr>
          <a:xfrm>
            <a:off x="10954512" y="18470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223042"/>
                </a:solidFill>
                <a:latin typeface="Arial"/>
              </a:rPr>
              <a:t>2,2 млн ₽</a:t>
            </a:r>
            <a:endParaRPr lang="en-US" sz="1320" dirty="0"/>
          </a:p>
        </p:txBody>
      </p:sp>
      <p:sp>
        <p:nvSpPr>
          <p:cNvPr id="29" name="Shape 27"/>
          <p:cNvSpPr/>
          <p:nvPr/>
        </p:nvSpPr>
        <p:spPr>
          <a:xfrm>
            <a:off x="7059168" y="2404872"/>
            <a:ext cx="4535424" cy="41148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30" name="Text 28"/>
          <p:cNvSpPr/>
          <p:nvPr/>
        </p:nvSpPr>
        <p:spPr>
          <a:xfrm>
            <a:off x="7269480" y="2542032"/>
            <a:ext cx="4069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710" b="0">
                <a:solidFill>
                  <a:srgbClr val="223042"/>
                </a:solidFill>
                <a:latin typeface="Arial"/>
              </a:rPr>
              <a:t>Подрядный: обор. 46,0% • матер. 14,9% • работы 36,2% • проект 2,8%</a:t>
            </a:r>
          </a:p>
          <a:p>
            <a:pPr algn="l"/>
            <a:r>
              <a:rPr sz="710" b="0">
                <a:solidFill>
                  <a:srgbClr val="223042"/>
                </a:solidFill>
                <a:latin typeface="Arial"/>
              </a:rPr>
              <a:t>Собственный: обор. 36,1% • матер. 11,7% • работы 49,9% • проект 2,2%</a:t>
            </a:r>
          </a:p>
        </p:txBody>
      </p:sp>
      <p:sp>
        <p:nvSpPr>
          <p:cNvPr id="31" name="Shape 29"/>
          <p:cNvSpPr/>
          <p:nvPr/>
        </p:nvSpPr>
        <p:spPr>
          <a:xfrm>
            <a:off x="7388352" y="2971800"/>
            <a:ext cx="3611880" cy="128016"/>
          </a:xfrm>
          <a:prstGeom prst="roundRect">
            <a:avLst>
              <a:gd name="adj" fmla="val 28571"/>
            </a:avLst>
          </a:prstGeom>
          <a:solidFill>
            <a:srgbClr val="B7BEC8"/>
          </a:solidFill>
          <a:ln w="12700">
            <a:solidFill>
              <a:srgbClr val="B7BEC8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32" name="Shape 30"/>
          <p:cNvSpPr/>
          <p:nvPr/>
        </p:nvSpPr>
        <p:spPr>
          <a:xfrm>
            <a:off x="7388352" y="2971800"/>
            <a:ext cx="1662666" cy="128016"/>
          </a:xfrm>
          <a:prstGeom prst="roundRect">
            <a:avLst>
              <a:gd name="adj" fmla="val 28571"/>
            </a:avLst>
          </a:prstGeom>
          <a:solidFill>
            <a:srgbClr val="2D65B1"/>
          </a:solidFill>
          <a:ln w="12700">
            <a:solidFill>
              <a:srgbClr val="2D65B1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33" name="Shape 31"/>
          <p:cNvSpPr/>
          <p:nvPr/>
        </p:nvSpPr>
        <p:spPr>
          <a:xfrm>
            <a:off x="9051018" y="2971800"/>
            <a:ext cx="538741" cy="128016"/>
          </a:xfrm>
          <a:prstGeom prst="roundRect">
            <a:avLst>
              <a:gd name="adj" fmla="val 28571"/>
            </a:avLst>
          </a:prstGeom>
          <a:solidFill>
            <a:srgbClr val="F2A640"/>
          </a:solidFill>
          <a:ln w="12700">
            <a:solidFill>
              <a:srgbClr val="F2A640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34" name="Shape 32"/>
          <p:cNvSpPr/>
          <p:nvPr/>
        </p:nvSpPr>
        <p:spPr>
          <a:xfrm>
            <a:off x="9589759" y="2971800"/>
            <a:ext cx="1307840" cy="128016"/>
          </a:xfrm>
          <a:prstGeom prst="roundRect">
            <a:avLst>
              <a:gd name="adj" fmla="val 28571"/>
            </a:avLst>
          </a:prstGeom>
          <a:solidFill>
            <a:srgbClr val="A8ADB7"/>
          </a:solidFill>
          <a:ln w="12700">
            <a:solidFill>
              <a:srgbClr val="A8ADB7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35" name="Shape 33"/>
          <p:cNvSpPr/>
          <p:nvPr/>
        </p:nvSpPr>
        <p:spPr>
          <a:xfrm>
            <a:off x="10897599" y="2971800"/>
            <a:ext cx="102633" cy="128016"/>
          </a:xfrm>
          <a:prstGeom prst="roundRect">
            <a:avLst>
              <a:gd name="adj" fmla="val 35638"/>
            </a:avLst>
          </a:prstGeom>
          <a:solidFill>
            <a:srgbClr val="F0C84B"/>
          </a:solidFill>
          <a:ln w="12700">
            <a:solidFill>
              <a:srgbClr val="F0C84B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36" name="Shape 34"/>
          <p:cNvSpPr/>
          <p:nvPr/>
        </p:nvSpPr>
        <p:spPr>
          <a:xfrm>
            <a:off x="7114032" y="3401568"/>
            <a:ext cx="960120" cy="768096"/>
          </a:xfrm>
          <a:prstGeom prst="roundRect">
            <a:avLst>
              <a:gd name="adj" fmla="val 14286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37" name="Text 35"/>
          <p:cNvSpPr/>
          <p:nvPr/>
        </p:nvSpPr>
        <p:spPr>
          <a:xfrm>
            <a:off x="7168896" y="3483864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7789"/>
                </a:solidFill>
                <a:latin typeface="Arial"/>
              </a:rPr>
              <a:t>1 794 авт. извещателей</a:t>
            </a:r>
            <a:endParaRPr lang="en-US" sz="880" dirty="0"/>
          </a:p>
        </p:txBody>
      </p:sp>
      <p:sp>
        <p:nvSpPr>
          <p:cNvPr id="38" name="Text 36"/>
          <p:cNvSpPr/>
          <p:nvPr/>
        </p:nvSpPr>
        <p:spPr>
          <a:xfrm>
            <a:off x="7168896" y="3877056"/>
            <a:ext cx="850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19" dirty="0" b="0">
                <a:solidFill>
                  <a:srgbClr val="223042"/>
                </a:solidFill>
                <a:latin typeface="Arial"/>
              </a:rPr>
              <a:t>дымовые / тепловые</a:t>
            </a:r>
            <a:endParaRPr lang="en-US" sz="730" dirty="0"/>
          </a:p>
        </p:txBody>
      </p:sp>
      <p:sp>
        <p:nvSpPr>
          <p:cNvPr id="39" name="Shape 37"/>
          <p:cNvSpPr/>
          <p:nvPr/>
        </p:nvSpPr>
        <p:spPr>
          <a:xfrm>
            <a:off x="8229600" y="3401568"/>
            <a:ext cx="960120" cy="768096"/>
          </a:xfrm>
          <a:prstGeom prst="roundRect">
            <a:avLst>
              <a:gd name="adj" fmla="val 14286"/>
            </a:avLst>
          </a:prstGeom>
          <a:solidFill>
            <a:srgbClr val="FFF2E2"/>
          </a:solidFill>
          <a:ln w="12700">
            <a:solidFill>
              <a:srgbClr val="FFF2E2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40" name="Text 38"/>
          <p:cNvSpPr/>
          <p:nvPr/>
        </p:nvSpPr>
        <p:spPr>
          <a:xfrm>
            <a:off x="8284464" y="3483864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7789"/>
                </a:solidFill>
                <a:latin typeface="Arial"/>
              </a:rPr>
              <a:t>168 ручных ИПР</a:t>
            </a:r>
            <a:endParaRPr lang="en-US" sz="880" dirty="0"/>
          </a:p>
        </p:txBody>
      </p:sp>
      <p:sp>
        <p:nvSpPr>
          <p:cNvPr id="41" name="Text 39"/>
          <p:cNvSpPr/>
          <p:nvPr/>
        </p:nvSpPr>
        <p:spPr>
          <a:xfrm>
            <a:off x="8284464" y="3877056"/>
            <a:ext cx="850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19" dirty="0" b="0">
                <a:solidFill>
                  <a:srgbClr val="223042"/>
                </a:solidFill>
                <a:latin typeface="Arial"/>
              </a:rPr>
              <a:t>эвакуационные маршруты</a:t>
            </a:r>
            <a:endParaRPr lang="en-US" sz="730" dirty="0"/>
          </a:p>
        </p:txBody>
      </p:sp>
      <p:sp>
        <p:nvSpPr>
          <p:cNvPr id="42" name="Shape 40"/>
          <p:cNvSpPr/>
          <p:nvPr/>
        </p:nvSpPr>
        <p:spPr>
          <a:xfrm>
            <a:off x="9345168" y="3401568"/>
            <a:ext cx="960120" cy="768096"/>
          </a:xfrm>
          <a:prstGeom prst="roundRect">
            <a:avLst>
              <a:gd name="adj" fmla="val 14286"/>
            </a:avLst>
          </a:prstGeom>
          <a:solidFill>
            <a:srgbClr val="ECF7F2"/>
          </a:solidFill>
          <a:ln w="12700">
            <a:solidFill>
              <a:srgbClr val="ECF7F2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43" name="Text 41"/>
          <p:cNvSpPr/>
          <p:nvPr/>
        </p:nvSpPr>
        <p:spPr>
          <a:xfrm>
            <a:off x="9400032" y="3483864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7789"/>
                </a:solidFill>
                <a:latin typeface="Arial"/>
              </a:rPr>
              <a:t>240 адресных модулей</a:t>
            </a:r>
            <a:endParaRPr lang="en-US" sz="880" dirty="0"/>
          </a:p>
        </p:txBody>
      </p:sp>
      <p:sp>
        <p:nvSpPr>
          <p:cNvPr id="44" name="Text 42"/>
          <p:cNvSpPr/>
          <p:nvPr/>
        </p:nvSpPr>
        <p:spPr>
          <a:xfrm>
            <a:off x="9400032" y="3877056"/>
            <a:ext cx="850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19" dirty="0" b="0">
                <a:solidFill>
                  <a:srgbClr val="223042"/>
                </a:solidFill>
                <a:latin typeface="Arial"/>
              </a:rPr>
              <a:t>управление СПДВ / инженеркой</a:t>
            </a:r>
            <a:endParaRPr lang="en-US" sz="730" dirty="0"/>
          </a:p>
        </p:txBody>
      </p:sp>
      <p:sp>
        <p:nvSpPr>
          <p:cNvPr id="45" name="Shape 43"/>
          <p:cNvSpPr/>
          <p:nvPr/>
        </p:nvSpPr>
        <p:spPr>
          <a:xfrm>
            <a:off x="10460736" y="3401568"/>
            <a:ext cx="960120" cy="768096"/>
          </a:xfrm>
          <a:prstGeom prst="roundRect">
            <a:avLst>
              <a:gd name="adj" fmla="val 14286"/>
            </a:avLst>
          </a:prstGeom>
          <a:solidFill>
            <a:srgbClr val="F2EEFA"/>
          </a:solidFill>
          <a:ln w="12700">
            <a:solidFill>
              <a:srgbClr val="F2EEFA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46" name="Text 44"/>
          <p:cNvSpPr/>
          <p:nvPr/>
        </p:nvSpPr>
        <p:spPr>
          <a:xfrm>
            <a:off x="10515600" y="3483864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7789"/>
                </a:solidFill>
                <a:latin typeface="Arial"/>
              </a:rPr>
              <a:t>8 шкафов / ППКУП</a:t>
            </a:r>
            <a:endParaRPr lang="en-US" sz="880" dirty="0"/>
          </a:p>
        </p:txBody>
      </p:sp>
      <p:sp>
        <p:nvSpPr>
          <p:cNvPr id="47" name="Text 45"/>
          <p:cNvSpPr/>
          <p:nvPr/>
        </p:nvSpPr>
        <p:spPr>
          <a:xfrm>
            <a:off x="10515600" y="3877056"/>
            <a:ext cx="850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19" dirty="0" b="0">
                <a:solidFill>
                  <a:srgbClr val="223042"/>
                </a:solidFill>
                <a:latin typeface="Arial"/>
              </a:rPr>
              <a:t>серверная и этажные узлы</a:t>
            </a:r>
            <a:endParaRPr lang="en-US" sz="730" dirty="0"/>
          </a:p>
        </p:txBody>
      </p:sp>
      <p:sp>
        <p:nvSpPr>
          <p:cNvPr id="48" name="Shape 46"/>
          <p:cNvSpPr/>
          <p:nvPr/>
        </p:nvSpPr>
        <p:spPr>
          <a:xfrm>
            <a:off x="7114032" y="4361688"/>
            <a:ext cx="960120" cy="768096"/>
          </a:xfrm>
          <a:prstGeom prst="roundRect">
            <a:avLst>
              <a:gd name="adj" fmla="val 14286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49" name="Text 47"/>
          <p:cNvSpPr/>
          <p:nvPr/>
        </p:nvSpPr>
        <p:spPr>
          <a:xfrm>
            <a:off x="7168896" y="4443984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7789"/>
                </a:solidFill>
                <a:latin typeface="Arial"/>
              </a:rPr>
              <a:t>Кабель 58 000 м</a:t>
            </a:r>
            <a:endParaRPr lang="en-US" sz="880" dirty="0"/>
          </a:p>
        </p:txBody>
      </p:sp>
      <p:sp>
        <p:nvSpPr>
          <p:cNvPr id="50" name="Text 48"/>
          <p:cNvSpPr/>
          <p:nvPr/>
        </p:nvSpPr>
        <p:spPr>
          <a:xfrm>
            <a:off x="7168896" y="4837176"/>
            <a:ext cx="850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19" dirty="0" b="0">
                <a:solidFill>
                  <a:srgbClr val="223042"/>
                </a:solidFill>
                <a:latin typeface="Arial"/>
              </a:rPr>
              <a:t>FRLS / FRHF</a:t>
            </a:r>
            <a:endParaRPr lang="en-US" sz="730" dirty="0"/>
          </a:p>
        </p:txBody>
      </p:sp>
      <p:sp>
        <p:nvSpPr>
          <p:cNvPr id="51" name="Shape 49"/>
          <p:cNvSpPr/>
          <p:nvPr/>
        </p:nvSpPr>
        <p:spPr>
          <a:xfrm>
            <a:off x="8229600" y="4361688"/>
            <a:ext cx="960120" cy="768096"/>
          </a:xfrm>
          <a:prstGeom prst="roundRect">
            <a:avLst>
              <a:gd name="adj" fmla="val 14286"/>
            </a:avLst>
          </a:prstGeom>
          <a:solidFill>
            <a:srgbClr val="FFF2E2"/>
          </a:solidFill>
          <a:ln w="12700">
            <a:solidFill>
              <a:srgbClr val="FFF2E2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52" name="Text 50"/>
          <p:cNvSpPr/>
          <p:nvPr/>
        </p:nvSpPr>
        <p:spPr>
          <a:xfrm>
            <a:off x="8284464" y="4443984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819" b="0">
                <a:solidFill>
                  <a:srgbClr val="223042"/>
                </a:solidFill>
                <a:latin typeface="Arial"/>
              </a:rPr>
              <a:t>486 / 853 ₽ за 1 м кабеля</a:t>
            </a:r>
          </a:p>
        </p:txBody>
      </p:sp>
      <p:sp>
        <p:nvSpPr>
          <p:cNvPr id="53" name="Text 51"/>
          <p:cNvSpPr/>
          <p:nvPr/>
        </p:nvSpPr>
        <p:spPr>
          <a:xfrm>
            <a:off x="8284464" y="4837176"/>
            <a:ext cx="850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740" b="0">
                <a:solidFill>
                  <a:srgbClr val="667789"/>
                </a:solidFill>
                <a:latin typeface="Arial"/>
              </a:rPr>
              <a:t>подрядный / собственный</a:t>
            </a:r>
          </a:p>
        </p:txBody>
      </p:sp>
      <p:sp>
        <p:nvSpPr>
          <p:cNvPr id="54" name="Shape 52"/>
          <p:cNvSpPr/>
          <p:nvPr/>
        </p:nvSpPr>
        <p:spPr>
          <a:xfrm>
            <a:off x="9345168" y="4361688"/>
            <a:ext cx="960120" cy="768096"/>
          </a:xfrm>
          <a:prstGeom prst="roundRect">
            <a:avLst>
              <a:gd name="adj" fmla="val 14286"/>
            </a:avLst>
          </a:prstGeom>
          <a:solidFill>
            <a:srgbClr val="ECF7F2"/>
          </a:solidFill>
          <a:ln w="12700">
            <a:solidFill>
              <a:srgbClr val="ECF7F2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55" name="Text 53"/>
          <p:cNvSpPr/>
          <p:nvPr/>
        </p:nvSpPr>
        <p:spPr>
          <a:xfrm>
            <a:off x="9400032" y="4443984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800" b="0">
                <a:solidFill>
                  <a:srgbClr val="223042"/>
                </a:solidFill>
                <a:latin typeface="Arial"/>
              </a:rPr>
              <a:t>12 423 / 21 797 ₽ за 1 устройство</a:t>
            </a:r>
          </a:p>
        </p:txBody>
      </p:sp>
      <p:sp>
        <p:nvSpPr>
          <p:cNvPr id="56" name="Text 54"/>
          <p:cNvSpPr/>
          <p:nvPr/>
        </p:nvSpPr>
        <p:spPr>
          <a:xfrm>
            <a:off x="9400032" y="4837176"/>
            <a:ext cx="850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740" b="0">
                <a:solidFill>
                  <a:srgbClr val="667789"/>
                </a:solidFill>
                <a:latin typeface="Arial"/>
              </a:rPr>
              <a:t>монтаж / адресация</a:t>
            </a:r>
          </a:p>
        </p:txBody>
      </p:sp>
      <p:sp>
        <p:nvSpPr>
          <p:cNvPr id="57" name="Shape 55"/>
          <p:cNvSpPr/>
          <p:nvPr/>
        </p:nvSpPr>
        <p:spPr>
          <a:xfrm>
            <a:off x="10460736" y="4361688"/>
            <a:ext cx="960120" cy="768096"/>
          </a:xfrm>
          <a:prstGeom prst="roundRect">
            <a:avLst>
              <a:gd name="adj" fmla="val 14286"/>
            </a:avLst>
          </a:prstGeom>
          <a:solidFill>
            <a:srgbClr val="F2EEFA"/>
          </a:solidFill>
          <a:ln w="12700">
            <a:solidFill>
              <a:srgbClr val="F2EEFA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58" name="Text 56"/>
          <p:cNvSpPr/>
          <p:nvPr/>
        </p:nvSpPr>
        <p:spPr>
          <a:xfrm>
            <a:off x="10515600" y="4443984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/>
        </p:txBody>
      </p:sp>
      <p:sp>
        <p:nvSpPr>
          <p:cNvPr id="59" name="Text 57"/>
          <p:cNvSpPr/>
          <p:nvPr/>
        </p:nvSpPr>
        <p:spPr>
          <a:xfrm>
            <a:off x="10515600" y="4837176"/>
            <a:ext cx="850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/>
        </p:txBody>
      </p:sp>
      <p:sp>
        <p:nvSpPr>
          <p:cNvPr id="60" name="Text 58"/>
          <p:cNvSpPr/>
          <p:nvPr/>
        </p:nvSpPr>
        <p:spPr>
          <a:xfrm>
            <a:off x="347472" y="6528816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 b="0">
                <a:solidFill>
                  <a:srgbClr val="66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Кутузовский 32, корп. Г • АПС • все цены приведены с НДС 22% • Не является публичной офертой.</a:t>
            </a:r>
            <a:endParaRPr lang="en-US" sz="720" dirty="0"/>
          </a:p>
        </p:txBody>
      </p:sp>
      <p:sp>
        <p:nvSpPr>
          <p:cNvPr id="61" name="Text 59"/>
          <p:cNvSpPr/>
          <p:nvPr/>
        </p:nvSpPr>
        <p:spPr>
          <a:xfrm>
            <a:off x="11686032" y="649224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 b="0">
                <a:solidFill>
                  <a:srgbClr val="667789"/>
                </a:solidFill>
                <a:latin typeface="Arial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3B6D"/>
          </a:solidFill>
          <a:ln w="12700">
            <a:solidFill>
              <a:srgbClr val="113B6D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223042"/>
                </a:solidFill>
                <a:latin typeface="Arial"/>
              </a:rPr>
              <a:t>Результаты предварительного</a:t>
            </a:r>
            <a:endParaRPr lang="en-US" sz="1800" dirty="0"/>
          </a:p>
          <a:p>
            <a:pPr marL="0" indent="0" algn="l">
              <a:buNone/>
            </a:pPr>
            <a:r>
              <a:rPr lang="en-US" sz="2150" b="1" dirty="0">
                <a:solidFill>
                  <a:srgbClr val="223042"/>
                </a:solidFill>
                <a:latin typeface="Arial"/>
              </a:rPr>
              <a:t>обследования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585216"/>
            <a:ext cx="7863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" dirty="0" b="0">
                <a:solidFill>
                  <a:srgbClr val="667789"/>
                </a:solidFill>
                <a:latin typeface="Arial"/>
              </a:rPr>
              <a:t>На основании визуального технического осмотра существующей системы АПС Edwards и материалов обследования ГИП.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4069080" cy="548640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502920" y="98755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23042"/>
                </a:solidFill>
                <a:latin typeface="Arial"/>
              </a:rPr>
              <a:t>Выявленные ограничения</a:t>
            </a:r>
            <a:endParaRPr lang="en-US" sz="960" dirty="0"/>
          </a:p>
        </p:txBody>
      </p:sp>
      <p:sp>
        <p:nvSpPr>
          <p:cNvPr id="7" name="Text 5"/>
          <p:cNvSpPr/>
          <p:nvPr/>
        </p:nvSpPr>
        <p:spPr>
          <a:xfrm>
            <a:off x="530352" y="1234440"/>
            <a:ext cx="3657600" cy="2057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880" dirty="0">
                <a:solidFill>
                  <a:srgbClr val="334155"/>
                </a:solidFill>
                <a:latin typeface="Arial"/>
              </a:rPr>
              <a:t>На АРМ фиксируются неисправности: потеря приборов, потеря сигнала, часть участков ЗКПС снята с охраны.</a:t>
            </a:r>
            <a:endParaRPr lang="en-US" sz="880" dirty="0"/>
          </a:p>
          <a:p>
            <a:pPr marL="152400" indent="-152400">
              <a:buSzPct val="100000"/>
              <a:buChar char="•"/>
            </a:pPr>
            <a:r>
              <a:rPr lang="en-US" sz="880" dirty="0">
                <a:solidFill>
                  <a:srgbClr val="334155"/>
                </a:solidFill>
                <a:latin typeface="Arial"/>
              </a:rPr>
              <a:t>Полноценная диагностика невозможна: отсутствуют лицензионный ключ-флешка и специализированное ПО для доступа к ППКУП и АРМ.</a:t>
            </a:r>
            <a:endParaRPr lang="en-US" sz="880" dirty="0"/>
          </a:p>
          <a:p>
            <a:pPr marL="152400" indent="-152400">
              <a:buSzPct val="100000"/>
              <a:buChar char="•"/>
            </a:pPr>
            <a:r>
              <a:rPr lang="en-US" sz="880" dirty="0">
                <a:solidFill>
                  <a:srgbClr val="334155"/>
                </a:solidFill>
                <a:latin typeface="Arial"/>
              </a:rPr>
              <a:t>В серверной установлены 8 станций ППКУП; по внешнему осмотру работоспособны, но отсутствуют конфигурационные файлы и ЗИП.</a:t>
            </a:r>
            <a:endParaRPr lang="en-US" sz="880" dirty="0"/>
          </a:p>
          <a:p>
            <a:pPr marL="152400" indent="-152400">
              <a:buSzPct val="100000"/>
              <a:buChar char="•"/>
            </a:pPr>
            <a:r>
              <a:rPr lang="en-US" sz="880" dirty="0">
                <a:solidFill>
                  <a:srgbClr val="334155"/>
                </a:solidFill>
                <a:latin typeface="Arial"/>
              </a:rPr>
              <a:t>Для модулей управления СПДВ, сопутствующими инженерными системами, а также для АУВПТ и контроллеров запорной арматуры отсутствует запас запчастей.</a:t>
            </a:r>
            <a:endParaRPr lang="en-US" sz="880" dirty="0"/>
          </a:p>
          <a:p>
            <a:pPr marL="152400" indent="-152400">
              <a:buSzPct val="100000"/>
              <a:buChar char="•"/>
            </a:pPr>
            <a:r>
              <a:rPr lang="en-US" sz="880" dirty="0">
                <a:solidFill>
                  <a:srgbClr val="334155"/>
                </a:solidFill>
                <a:latin typeface="Arial"/>
              </a:rPr>
              <a:t>Проектная и исполнительная документация на объекте фактически отсутствует; доступен только неполный электронный комплект рабочих материалов.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530352" y="3611880"/>
            <a:ext cx="3639312" cy="2084832"/>
          </a:xfrm>
          <a:prstGeom prst="roundRect">
            <a:avLst>
              <a:gd name="adj" fmla="val 5263"/>
            </a:avLst>
          </a:prstGeom>
          <a:solidFill>
            <a:srgbClr val="FFF3F1"/>
          </a:solidFill>
          <a:ln w="12700">
            <a:solidFill>
              <a:srgbClr val="FAD1CB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713232" y="3767328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23042"/>
                </a:solidFill>
                <a:latin typeface="Arial"/>
              </a:rPr>
              <a:t>Вывод ГИП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713232" y="4005072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334155"/>
                </a:solidFill>
                <a:latin typeface="Arial"/>
              </a:rPr>
              <a:t>Легитимное, безаварийное и своевременное техническое обслуживание действующей американской системы APS «Edwards» без ПО, ключа, ЗИП и полного комплекта документации невозможно. Рекомендуется полная замена на отечественного производителя (например, «Болид» или «Рубеж»).</a:t>
            </a:r>
            <a:endParaRPr lang="en-US" sz="930" dirty="0"/>
          </a:p>
        </p:txBody>
      </p:sp>
      <p:sp>
        <p:nvSpPr>
          <p:cNvPr id="11" name="Text 9"/>
          <p:cNvSpPr/>
          <p:nvPr/>
        </p:nvSpPr>
        <p:spPr>
          <a:xfrm>
            <a:off x="713232" y="513892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7C8796"/>
                </a:solidFill>
                <a:latin typeface="Arial"/>
              </a:rPr>
              <a:t>Дополнительно: на территории РФ отсутствует официальный представитель Edwards, техподдержка и обучение специалистов ограничены; доступные пусконаладчики по системе редки и стоят непропорционально дорого.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4553712" y="822960"/>
            <a:ext cx="7296912" cy="5486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4736592" y="98755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16C3C6"/>
                </a:solidFill>
                <a:latin typeface="Arial"/>
              </a:rPr>
              <a:t>Фотофиксация обследования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4754880" y="1234440"/>
            <a:ext cx="21488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pic>
        <p:nvPicPr>
          <p:cNvPr id="15" name="Image 0" descr="/mnt/data/9.webp"/>
          <p:cNvPicPr>
            <a:picLocks noChangeAspect="1"/>
          </p:cNvPicPr>
          <p:nvPr/>
        </p:nvPicPr>
        <p:blipFill>
          <a:blip r:embed="rId3"/>
          <a:srcRect l="647" r="647"/>
          <a:stretch/>
        </p:blipFill>
        <p:spPr>
          <a:xfrm>
            <a:off x="4782312" y="1261872"/>
            <a:ext cx="2093976" cy="1591056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7040880" y="1234440"/>
            <a:ext cx="21488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pic>
        <p:nvPicPr>
          <p:cNvPr id="17" name="Image 1" descr="/mnt/data/3.webp"/>
          <p:cNvPicPr>
            <a:picLocks noChangeAspect="1"/>
          </p:cNvPicPr>
          <p:nvPr/>
        </p:nvPicPr>
        <p:blipFill>
          <a:blip r:embed="rId4"/>
          <a:srcRect l="647" r="647"/>
          <a:stretch/>
        </p:blipFill>
        <p:spPr>
          <a:xfrm>
            <a:off x="7068312" y="1261872"/>
            <a:ext cx="2093976" cy="1591056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9326880" y="1234440"/>
            <a:ext cx="21488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pic>
        <p:nvPicPr>
          <p:cNvPr id="19" name="Image 2" descr="/mnt/data/6.webp"/>
          <p:cNvPicPr>
            <a:picLocks noChangeAspect="1"/>
          </p:cNvPicPr>
          <p:nvPr/>
        </p:nvPicPr>
        <p:blipFill>
          <a:blip r:embed="rId5"/>
          <a:srcRect l="647" r="647"/>
          <a:stretch/>
        </p:blipFill>
        <p:spPr>
          <a:xfrm>
            <a:off x="9354312" y="1261872"/>
            <a:ext cx="2093976" cy="1591056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4754880" y="3063240"/>
            <a:ext cx="324612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pic>
        <p:nvPicPr>
          <p:cNvPr id="21" name="Image 3" descr="/mnt/data/7.webp"/>
          <p:cNvPicPr>
            <a:picLocks noChangeAspect="1"/>
          </p:cNvPicPr>
          <p:nvPr/>
        </p:nvPicPr>
        <p:blipFill>
          <a:blip r:embed="rId6"/>
          <a:srcRect t="2436" b="2436"/>
          <a:stretch/>
        </p:blipFill>
        <p:spPr>
          <a:xfrm>
            <a:off x="4782312" y="3090672"/>
            <a:ext cx="3191256" cy="2276856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8183880" y="3063240"/>
            <a:ext cx="329184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pic>
        <p:nvPicPr>
          <p:cNvPr id="23" name="Image 4" descr="/mnt/data/4.webp"/>
          <p:cNvPicPr>
            <a:picLocks noChangeAspect="1"/>
          </p:cNvPicPr>
          <p:nvPr/>
        </p:nvPicPr>
        <p:blipFill>
          <a:blip r:embed="rId7"/>
          <a:srcRect t="23623" b="23623"/>
          <a:stretch/>
        </p:blipFill>
        <p:spPr>
          <a:xfrm>
            <a:off x="8211312" y="3090672"/>
            <a:ext cx="3236976" cy="22768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846320" y="2761488"/>
            <a:ext cx="1828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dirty="0">
                <a:solidFill>
                  <a:srgbClr val="7C8796"/>
                </a:solidFill>
                <a:latin typeface="Arial"/>
              </a:rPr>
              <a:t>Серверная / шкафы ППКУП</a:t>
            </a:r>
            <a:endParaRPr lang="en-US" sz="740" dirty="0"/>
          </a:p>
        </p:txBody>
      </p:sp>
      <p:sp>
        <p:nvSpPr>
          <p:cNvPr id="25" name="Text 18"/>
          <p:cNvSpPr/>
          <p:nvPr/>
        </p:nvSpPr>
        <p:spPr>
          <a:xfrm>
            <a:off x="7150608" y="2761488"/>
            <a:ext cx="1783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dirty="0">
                <a:solidFill>
                  <a:srgbClr val="7C8796"/>
                </a:solidFill>
                <a:latin typeface="Arial"/>
              </a:rPr>
              <a:t>Существующие шкафы и модули</a:t>
            </a:r>
            <a:endParaRPr lang="en-US" sz="740" dirty="0"/>
          </a:p>
        </p:txBody>
      </p:sp>
      <p:sp>
        <p:nvSpPr>
          <p:cNvPr id="26" name="Text 19"/>
          <p:cNvSpPr/>
          <p:nvPr/>
        </p:nvSpPr>
        <p:spPr>
          <a:xfrm>
            <a:off x="9528048" y="2761488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dirty="0">
                <a:solidFill>
                  <a:srgbClr val="7C8796"/>
                </a:solidFill>
                <a:latin typeface="Arial"/>
              </a:rPr>
              <a:t>План АРМ / этажность</a:t>
            </a:r>
            <a:endParaRPr lang="en-US" sz="740" dirty="0"/>
          </a:p>
        </p:txBody>
      </p:sp>
      <p:sp>
        <p:nvSpPr>
          <p:cNvPr id="27" name="Text 20"/>
          <p:cNvSpPr/>
          <p:nvPr/>
        </p:nvSpPr>
        <p:spPr>
          <a:xfrm>
            <a:off x="5715000" y="5468112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dirty="0">
                <a:solidFill>
                  <a:srgbClr val="7C8796"/>
                </a:solidFill>
                <a:latin typeface="Arial"/>
              </a:rPr>
              <a:t>План-схема этажа</a:t>
            </a:r>
            <a:endParaRPr lang="en-US" sz="740" dirty="0"/>
          </a:p>
        </p:txBody>
      </p:sp>
      <p:sp>
        <p:nvSpPr>
          <p:cNvPr id="28" name="Text 21"/>
          <p:cNvSpPr/>
          <p:nvPr/>
        </p:nvSpPr>
        <p:spPr>
          <a:xfrm>
            <a:off x="9098280" y="5468112"/>
            <a:ext cx="1600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dirty="0">
                <a:solidFill>
                  <a:srgbClr val="7C8796"/>
                </a:solidFill>
                <a:latin typeface="Arial"/>
              </a:rPr>
              <a:t>Релейные / адресные модули</a:t>
            </a:r>
            <a:endParaRPr lang="en-US" sz="740" dirty="0"/>
          </a:p>
        </p:txBody>
      </p:sp>
      <p:sp>
        <p:nvSpPr>
          <p:cNvPr id="29" name="Text 22"/>
          <p:cNvSpPr/>
          <p:nvPr/>
        </p:nvSpPr>
        <p:spPr>
          <a:xfrm>
            <a:off x="347472" y="6528816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 b="0">
                <a:solidFill>
                  <a:srgbClr val="66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Кутузовский 32, корп. Г • АПС • все цены приведены с НДС 22% • Не является публичной офертой.</a:t>
            </a:r>
            <a:endParaRPr lang="en-US" sz="720" dirty="0"/>
          </a:p>
        </p:txBody>
      </p:sp>
      <p:sp>
        <p:nvSpPr>
          <p:cNvPr id="30" name="Text 23"/>
          <p:cNvSpPr/>
          <p:nvPr/>
        </p:nvSpPr>
        <p:spPr>
          <a:xfrm>
            <a:off x="11686032" y="649224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B8794"/>
                </a:solidFill>
                <a:latin typeface="Arial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3B6D"/>
          </a:solidFill>
          <a:ln w="12700">
            <a:solidFill>
              <a:srgbClr val="113B6D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320040" y="182880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223042"/>
                </a:solidFill>
                <a:latin typeface="Arial"/>
              </a:rPr>
              <a:t>Общая бюджетная оценка проекта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" dirty="0" b="0">
                <a:solidFill>
                  <a:srgbClr val="667789"/>
                </a:solidFill>
                <a:latin typeface="Arial"/>
              </a:rPr>
              <a:t>Оба бюджета включают проектирование, оборудование, материалы и исполнение работ по АПС.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411480" y="850392"/>
            <a:ext cx="1234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 b="1">
                <a:solidFill>
                  <a:srgbClr val="667789"/>
                </a:solidFill>
                <a:latin typeface="Arial"/>
              </a:rPr>
              <a:t>Оборудование</a:t>
            </a:r>
            <a:endParaRPr lang="en-US" sz="770" dirty="0"/>
          </a:p>
        </p:txBody>
      </p:sp>
      <p:sp>
        <p:nvSpPr>
          <p:cNvPr id="7" name="Text 5"/>
          <p:cNvSpPr/>
          <p:nvPr/>
        </p:nvSpPr>
        <p:spPr>
          <a:xfrm>
            <a:off x="411480" y="996696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3042"/>
                </a:solidFill>
                <a:latin typeface="Arial"/>
              </a:rPr>
              <a:t>35,8 млн ₽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1828800" y="777240"/>
            <a:ext cx="132588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1920240" y="850392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 b="1">
                <a:solidFill>
                  <a:srgbClr val="667789"/>
                </a:solidFill>
                <a:latin typeface="Arial"/>
              </a:rPr>
              <a:t>Материалы</a:t>
            </a:r>
            <a:endParaRPr lang="en-US" sz="770" dirty="0"/>
          </a:p>
        </p:txBody>
      </p:sp>
      <p:sp>
        <p:nvSpPr>
          <p:cNvPr id="10" name="Text 8"/>
          <p:cNvSpPr/>
          <p:nvPr/>
        </p:nvSpPr>
        <p:spPr>
          <a:xfrm>
            <a:off x="1920240" y="99669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3042"/>
                </a:solidFill>
                <a:latin typeface="Arial"/>
              </a:rPr>
              <a:t>11,6 млн ₽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3255264" y="777240"/>
            <a:ext cx="114300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3346704" y="850392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 b="1">
                <a:solidFill>
                  <a:srgbClr val="667789"/>
                </a:solidFill>
                <a:latin typeface="Arial"/>
              </a:rPr>
              <a:t>Работы</a:t>
            </a:r>
            <a:endParaRPr lang="en-US" sz="770" dirty="0"/>
          </a:p>
        </p:txBody>
      </p:sp>
      <p:sp>
        <p:nvSpPr>
          <p:cNvPr id="13" name="Text 11"/>
          <p:cNvSpPr/>
          <p:nvPr/>
        </p:nvSpPr>
        <p:spPr>
          <a:xfrm>
            <a:off x="3346704" y="996696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720" b="1">
                <a:solidFill>
                  <a:srgbClr val="223042"/>
                </a:solidFill>
                <a:latin typeface="Arial"/>
              </a:rPr>
              <a:t>Подрядный: 28,2 млн ₽</a:t>
            </a:r>
          </a:p>
          <a:p>
            <a:pPr algn="l"/>
            <a:r>
              <a:rPr sz="720" b="1">
                <a:solidFill>
                  <a:srgbClr val="223042"/>
                </a:solidFill>
                <a:latin typeface="Arial"/>
              </a:rPr>
              <a:t>Собственный: 49,5 млн ₽</a:t>
            </a:r>
          </a:p>
        </p:txBody>
      </p:sp>
      <p:sp>
        <p:nvSpPr>
          <p:cNvPr id="14" name="Shape 12"/>
          <p:cNvSpPr/>
          <p:nvPr/>
        </p:nvSpPr>
        <p:spPr>
          <a:xfrm>
            <a:off x="4498848" y="777240"/>
            <a:ext cx="132588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4590288" y="850392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 b="1">
                <a:solidFill>
                  <a:srgbClr val="667789"/>
                </a:solidFill>
                <a:latin typeface="Arial"/>
              </a:rPr>
              <a:t>Проектирование</a:t>
            </a:r>
            <a:endParaRPr lang="en-US" sz="770" dirty="0"/>
          </a:p>
        </p:txBody>
      </p:sp>
      <p:sp>
        <p:nvSpPr>
          <p:cNvPr id="16" name="Text 14"/>
          <p:cNvSpPr/>
          <p:nvPr/>
        </p:nvSpPr>
        <p:spPr>
          <a:xfrm>
            <a:off x="4590288" y="99669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3042"/>
                </a:solidFill>
                <a:latin typeface="Arial"/>
              </a:rPr>
              <a:t>2,2 млн ₽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5989320" y="768096"/>
            <a:ext cx="1508760" cy="612648"/>
          </a:xfrm>
          <a:prstGeom prst="roundRect">
            <a:avLst>
              <a:gd name="adj" fmla="val 17910"/>
            </a:avLst>
          </a:prstGeom>
          <a:solidFill>
            <a:srgbClr val="113B6D"/>
          </a:solidFill>
          <a:ln w="12700">
            <a:solidFill>
              <a:srgbClr val="113B6D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6099048" y="841248"/>
            <a:ext cx="12893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800" b="1">
                <a:solidFill>
                  <a:srgbClr val="DCE7F3"/>
                </a:solidFill>
                <a:latin typeface="Arial"/>
              </a:rPr>
              <a:t>Бюджет проекта</a:t>
            </a:r>
          </a:p>
        </p:txBody>
      </p:sp>
      <p:sp>
        <p:nvSpPr>
          <p:cNvPr id="19" name="Text 17"/>
          <p:cNvSpPr/>
          <p:nvPr/>
        </p:nvSpPr>
        <p:spPr>
          <a:xfrm>
            <a:off x="6099048" y="1005840"/>
            <a:ext cx="1289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900" b="1">
                <a:solidFill>
                  <a:srgbClr val="FFFFFF"/>
                </a:solidFill>
                <a:latin typeface="Arial"/>
              </a:rPr>
              <a:t>Подрядный: 94,0 млн ₽</a:t>
            </a:r>
          </a:p>
          <a:p>
            <a:pPr algn="l"/>
            <a:r>
              <a:rPr sz="900" b="1">
                <a:solidFill>
                  <a:srgbClr val="FFFFFF"/>
                </a:solidFill>
                <a:latin typeface="Arial"/>
              </a:rPr>
              <a:t>Собственный: 127,7 млн ₽</a:t>
            </a:r>
          </a:p>
        </p:txBody>
      </p:sp>
      <p:sp>
        <p:nvSpPr>
          <p:cNvPr id="20" name="Shape 18"/>
          <p:cNvSpPr/>
          <p:nvPr/>
        </p:nvSpPr>
        <p:spPr>
          <a:xfrm>
            <a:off x="7635240" y="768096"/>
            <a:ext cx="1508760" cy="612648"/>
          </a:xfrm>
          <a:prstGeom prst="roundRect">
            <a:avLst>
              <a:gd name="adj" fmla="val 17910"/>
            </a:avLst>
          </a:prstGeom>
          <a:solidFill>
            <a:srgbClr val="113B6D"/>
          </a:solidFill>
          <a:ln w="12700">
            <a:solidFill>
              <a:srgbClr val="113B6D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7744968" y="841248"/>
            <a:ext cx="12893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 b="1">
                <a:solidFill>
                  <a:srgbClr val="667789"/>
                </a:solidFill>
                <a:latin typeface="Arial"/>
              </a:rPr>
              <a:t>Собственный ресурс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7744968" y="1005840"/>
            <a:ext cx="1289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1250" b="1">
                <a:solidFill>
                  <a:srgbClr val="223042"/>
                </a:solidFill>
                <a:latin typeface="Arial"/>
              </a:rPr>
              <a:t>127,7 млн ₽</a:t>
            </a:r>
          </a:p>
        </p:txBody>
      </p:sp>
      <p:sp>
        <p:nvSpPr>
          <p:cNvPr id="23" name="Shape 21"/>
          <p:cNvSpPr/>
          <p:nvPr/>
        </p:nvSpPr>
        <p:spPr>
          <a:xfrm>
            <a:off x="9281160" y="768096"/>
            <a:ext cx="1508760" cy="612648"/>
          </a:xfrm>
          <a:prstGeom prst="roundRect">
            <a:avLst>
              <a:gd name="adj" fmla="val 17910"/>
            </a:avLst>
          </a:prstGeom>
          <a:solidFill>
            <a:srgbClr val="113B6D"/>
          </a:solidFill>
          <a:ln w="12700">
            <a:solidFill>
              <a:srgbClr val="113B6D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9390888" y="841248"/>
            <a:ext cx="12893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 b="1">
                <a:solidFill>
                  <a:srgbClr val="667789"/>
                </a:solidFill>
                <a:latin typeface="Arial"/>
              </a:rPr>
              <a:t>Подрядный ресурс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9390888" y="1005840"/>
            <a:ext cx="1289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1250" b="1">
                <a:solidFill>
                  <a:srgbClr val="223042"/>
                </a:solidFill>
                <a:latin typeface="Arial"/>
              </a:rPr>
              <a:t>94,0 млн ₽</a:t>
            </a:r>
          </a:p>
        </p:txBody>
      </p:sp>
      <p:sp>
        <p:nvSpPr>
          <p:cNvPr id="26" name="Shape 24"/>
          <p:cNvSpPr/>
          <p:nvPr/>
        </p:nvSpPr>
        <p:spPr>
          <a:xfrm>
            <a:off x="10927080" y="777240"/>
            <a:ext cx="91440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27" name="Text 25"/>
          <p:cNvSpPr/>
          <p:nvPr/>
        </p:nvSpPr>
        <p:spPr>
          <a:xfrm>
            <a:off x="11018520" y="85039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 b="1">
                <a:solidFill>
                  <a:srgbClr val="667789"/>
                </a:solidFill>
                <a:latin typeface="Arial"/>
              </a:rPr>
              <a:t>₽ / м²</a:t>
            </a:r>
            <a:endParaRPr lang="en-US" sz="770" dirty="0"/>
          </a:p>
        </p:txBody>
      </p:sp>
      <p:sp>
        <p:nvSpPr>
          <p:cNvPr id="28" name="Text 26"/>
          <p:cNvSpPr/>
          <p:nvPr/>
        </p:nvSpPr>
        <p:spPr>
          <a:xfrm>
            <a:off x="11018520" y="99669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1040" b="1">
                <a:solidFill>
                  <a:srgbClr val="223042"/>
                </a:solidFill>
                <a:latin typeface="Arial"/>
              </a:rPr>
              <a:t>1554 / 2110 ₽</a:t>
            </a:r>
          </a:p>
        </p:txBody>
      </p:sp>
      <p:sp>
        <p:nvSpPr>
          <p:cNvPr id="29" name="Shape 27"/>
          <p:cNvSpPr/>
          <p:nvPr/>
        </p:nvSpPr>
        <p:spPr>
          <a:xfrm>
            <a:off x="320040" y="1645920"/>
            <a:ext cx="571500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30" name="Text 28"/>
          <p:cNvSpPr/>
          <p:nvPr/>
        </p:nvSpPr>
        <p:spPr>
          <a:xfrm>
            <a:off x="512064" y="181051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1985D"/>
                </a:solidFill>
                <a:latin typeface="Arial"/>
              </a:rPr>
              <a:t>Собственный ресурс</a:t>
            </a:r>
            <a:endParaRPr lang="en-US" sz="96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2057400"/>
          <a:ext cx="5394960" cy="2468880"/>
        </p:xfrm>
        <a:graphic>
          <a:graphicData uri="http://schemas.openxmlformats.org/drawingml/2006/table">
            <a:tbl>
              <a:tblPr/>
              <a:tblGrid>
                <a:gridCol w="3794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 wrap="square" anchor="ctr"/>
                    <a:lstStyle/>
                    <a:p>
                      <a:pPr algn="l"/>
                      <a:r>
                        <a:rPr sz="720" b="0">
                          <a:solidFill>
                            <a:srgbClr val="223042"/>
                          </a:solidFill>
                          <a:latin typeface="Arial"/>
                        </a:rPr>
                        <a:t>Материалы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720" b="0">
                          <a:solidFill>
                            <a:srgbClr val="223042"/>
                          </a:solidFill>
                          <a:latin typeface="Arial"/>
                        </a:rPr>
                        <a:t>11 600 000 ₽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 wrap="square" anchor="ctr"/>
                    <a:lstStyle/>
                    <a:p>
                      <a:pPr algn="l"/>
                      <a:r>
                        <a:rPr sz="720" b="0">
                          <a:solidFill>
                            <a:srgbClr val="223042"/>
                          </a:solidFill>
                          <a:latin typeface="Arial"/>
                        </a:rPr>
                        <a:t>Оборудование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720" b="0">
                          <a:solidFill>
                            <a:srgbClr val="223042"/>
                          </a:solidFill>
                          <a:latin typeface="Arial"/>
                        </a:rPr>
                        <a:t>35 800 000 ₽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 wrap="square" anchor="ctr"/>
                    <a:lstStyle/>
                    <a:p>
                      <a:pPr algn="l"/>
                      <a:r>
                        <a:rPr sz="720" b="0">
                          <a:solidFill>
                            <a:srgbClr val="223042"/>
                          </a:solidFill>
                          <a:latin typeface="Arial"/>
                        </a:rPr>
                        <a:t>Инструмент / расходники / СИЗ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720" b="0">
                          <a:solidFill>
                            <a:srgbClr val="223042"/>
                          </a:solidFill>
                          <a:latin typeface="Arial"/>
                        </a:rPr>
                        <a:t>4 834 185 ₽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 wrap="square" anchor="ctr"/>
                    <a:lstStyle/>
                    <a:p>
                      <a:pPr algn="l"/>
                      <a:r>
                        <a:rPr sz="720" b="0">
                          <a:solidFill>
                            <a:srgbClr val="223042"/>
                          </a:solidFill>
                          <a:latin typeface="Arial"/>
                        </a:rPr>
                        <a:t>ФОТ проектирование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720" b="0">
                          <a:solidFill>
                            <a:srgbClr val="223042"/>
                          </a:solidFill>
                          <a:latin typeface="Arial"/>
                        </a:rPr>
                        <a:t>2 209 864 ₽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 wrap="square" anchor="ctr"/>
                    <a:lstStyle/>
                    <a:p>
                      <a:pPr algn="l"/>
                      <a:r>
                        <a:rPr sz="720" b="0">
                          <a:solidFill>
                            <a:srgbClr val="223042"/>
                          </a:solidFill>
                          <a:latin typeface="Arial"/>
                        </a:rPr>
                        <a:t>ФОТ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720" b="0">
                          <a:solidFill>
                            <a:srgbClr val="223042"/>
                          </a:solidFill>
                          <a:latin typeface="Arial"/>
                        </a:rPr>
                        <a:t>48 341 849 ₽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 wrap="square" anchor="ctr"/>
                    <a:lstStyle/>
                    <a:p>
                      <a:pPr algn="l"/>
                      <a:r>
                        <a:rPr sz="720" b="0">
                          <a:solidFill>
                            <a:srgbClr val="223042"/>
                          </a:solidFill>
                          <a:latin typeface="Arial"/>
                        </a:rPr>
                        <a:t>ОПР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720" b="0">
                          <a:solidFill>
                            <a:srgbClr val="223042"/>
                          </a:solidFill>
                          <a:latin typeface="Arial"/>
                        </a:rPr>
                        <a:t>1 137 709 ₽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 wrap="square" anchor="ctr"/>
                    <a:lstStyle/>
                    <a:p>
                      <a:pPr algn="l"/>
                      <a:r>
                        <a:rPr sz="720" b="0">
                          <a:solidFill>
                            <a:srgbClr val="223042"/>
                          </a:solidFill>
                          <a:latin typeface="Arial"/>
                        </a:rPr>
                        <a:t>Работы / ПНР собств. ресурсом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720" b="0">
                          <a:solidFill>
                            <a:srgbClr val="223042"/>
                          </a:solidFill>
                          <a:latin typeface="Arial"/>
                        </a:rPr>
                        <a:t>49 479 558 ₽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 wrap="square" anchor="ctr"/>
                    <a:lstStyle/>
                    <a:p>
                      <a:pPr algn="l"/>
                      <a:r>
                        <a:rPr sz="720" b="0">
                          <a:solidFill>
                            <a:srgbClr val="223042"/>
                          </a:solidFill>
                          <a:latin typeface="Arial"/>
                        </a:rPr>
                        <a:t>АХР и ОПР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720" b="0">
                          <a:solidFill>
                            <a:srgbClr val="223042"/>
                          </a:solidFill>
                          <a:latin typeface="Arial"/>
                        </a:rPr>
                        <a:t>23 777 134 ₽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 wrap="square" anchor="ctr"/>
                    <a:lstStyle/>
                    <a:p>
                      <a:pPr algn="l"/>
                      <a:r>
                        <a:rPr sz="720" b="1">
                          <a:solidFill>
                            <a:srgbClr val="223042"/>
                          </a:solidFill>
                          <a:latin typeface="Arial"/>
                        </a:rPr>
                        <a:t>Итог бюджета проекта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720" b="1">
                          <a:solidFill>
                            <a:srgbClr val="223042"/>
                          </a:solidFill>
                          <a:latin typeface="Arial"/>
                        </a:rPr>
                        <a:t>127 700 740 ₽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 wrap="square" anchor="ctr"/>
                    <a:lstStyle/>
                    <a:p>
                      <a:pPr algn="l"/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2" name="Shape 29"/>
          <p:cNvSpPr/>
          <p:nvPr/>
        </p:nvSpPr>
        <p:spPr>
          <a:xfrm>
            <a:off x="530352" y="4645152"/>
            <a:ext cx="5230368" cy="0"/>
          </a:xfrm>
          <a:prstGeom prst="line">
            <a:avLst/>
          </a:prstGeom>
          <a:noFill/>
          <a:ln w="12700">
            <a:solidFill>
              <a:srgbClr val="D9E0E7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33" name="Text 30"/>
          <p:cNvSpPr/>
          <p:nvPr/>
        </p:nvSpPr>
        <p:spPr>
          <a:xfrm>
            <a:off x="530352" y="4809744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819" b="1">
                <a:solidFill>
                  <a:srgbClr val="667789"/>
                </a:solidFill>
                <a:latin typeface="Arial"/>
              </a:rPr>
              <a:t>Удельный бюджет: 2110 ₽ / м²</a:t>
            </a:r>
          </a:p>
        </p:txBody>
      </p:sp>
      <p:sp>
        <p:nvSpPr>
          <p:cNvPr id="34" name="Text 31"/>
          <p:cNvSpPr/>
          <p:nvPr/>
        </p:nvSpPr>
        <p:spPr>
          <a:xfrm>
            <a:off x="530352" y="5047488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660" b="0">
                <a:solidFill>
                  <a:srgbClr val="223042"/>
                </a:solidFill>
                <a:latin typeface="Arial"/>
              </a:rPr>
              <a:t>Работы / ПНР:</a:t>
            </a:r>
          </a:p>
          <a:p>
            <a:pPr algn="l"/>
            <a:r>
              <a:rPr sz="660" b="0">
                <a:solidFill>
                  <a:srgbClr val="223042"/>
                </a:solidFill>
                <a:latin typeface="Arial"/>
              </a:rPr>
              <a:t>подрядный 28,2 млн ₽</a:t>
            </a:r>
          </a:p>
          <a:p>
            <a:pPr algn="l"/>
            <a:r>
              <a:rPr sz="660" b="0">
                <a:solidFill>
                  <a:srgbClr val="223042"/>
                </a:solidFill>
                <a:latin typeface="Arial"/>
              </a:rPr>
              <a:t>собственный 49,5 млн ₽</a:t>
            </a:r>
          </a:p>
        </p:txBody>
      </p:sp>
      <p:graphicFrame>
        <p:nvGraphicFramePr>
          <p:cNvPr id="35" name="Chart 0"/>
          <p:cNvGraphicFramePr/>
          <p:nvPr/>
        </p:nvGraphicFramePr>
        <p:xfrm>
          <a:off x="2999232" y="4681728"/>
          <a:ext cx="2606040" cy="1234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6" name="Shape 32"/>
          <p:cNvSpPr/>
          <p:nvPr/>
        </p:nvSpPr>
        <p:spPr>
          <a:xfrm>
            <a:off x="6190488" y="1645920"/>
            <a:ext cx="566928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37" name="Text 33"/>
          <p:cNvSpPr/>
          <p:nvPr/>
        </p:nvSpPr>
        <p:spPr>
          <a:xfrm>
            <a:off x="6382512" y="181051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1985D"/>
                </a:solidFill>
                <a:latin typeface="Arial"/>
              </a:rPr>
              <a:t>Подрядный ресурс</a:t>
            </a:r>
            <a:endParaRPr lang="en-US" sz="960" dirty="0"/>
          </a:p>
        </p:txBody>
      </p:sp>
      <p:graphicFrame>
        <p:nvGraphicFramePr>
          <p:cNvPr id="38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2057400"/>
          <a:ext cx="5349240" cy="1828800"/>
        </p:xfrm>
        <a:graphic>
          <a:graphicData uri="http://schemas.openxmlformats.org/drawingml/2006/table">
            <a:tbl>
              <a:tblPr/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 wrap="square" anchor="ctr"/>
                    <a:lstStyle/>
                    <a:p>
                      <a:pPr algn="l"/>
                      <a:r>
                        <a:rPr sz="720" b="0">
                          <a:solidFill>
                            <a:srgbClr val="223042"/>
                          </a:solidFill>
                          <a:latin typeface="Arial"/>
                        </a:rPr>
                        <a:t>Материалы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720" b="0">
                          <a:solidFill>
                            <a:srgbClr val="223042"/>
                          </a:solidFill>
                          <a:latin typeface="Arial"/>
                        </a:rPr>
                        <a:t>11 600 000 ₽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 wrap="square" anchor="ctr"/>
                    <a:lstStyle/>
                    <a:p>
                      <a:pPr algn="l"/>
                      <a:r>
                        <a:rPr sz="720" b="0">
                          <a:solidFill>
                            <a:srgbClr val="223042"/>
                          </a:solidFill>
                          <a:latin typeface="Arial"/>
                        </a:rPr>
                        <a:t>Оборудование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720" b="0">
                          <a:solidFill>
                            <a:srgbClr val="223042"/>
                          </a:solidFill>
                          <a:latin typeface="Arial"/>
                        </a:rPr>
                        <a:t>35 800 000 ₽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 wrap="square" anchor="ctr"/>
                    <a:lstStyle/>
                    <a:p>
                      <a:pPr algn="l"/>
                      <a:r>
                        <a:rPr sz="720" b="0">
                          <a:solidFill>
                            <a:srgbClr val="223042"/>
                          </a:solidFill>
                          <a:latin typeface="Arial"/>
                        </a:rPr>
                        <a:t>Базовая стоимость работ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720" b="0">
                          <a:solidFill>
                            <a:srgbClr val="223042"/>
                          </a:solidFill>
                          <a:latin typeface="Arial"/>
                        </a:rPr>
                        <a:t>28 200 000 ₽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 wrap="square" anchor="ctr"/>
                    <a:lstStyle/>
                    <a:p>
                      <a:pPr algn="l"/>
                      <a:r>
                        <a:rPr sz="720" b="0">
                          <a:solidFill>
                            <a:srgbClr val="223042"/>
                          </a:solidFill>
                          <a:latin typeface="Arial"/>
                        </a:rPr>
                        <a:t>Корректировка работ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720" b="0">
                          <a:solidFill>
                            <a:srgbClr val="223042"/>
                          </a:solidFill>
                          <a:latin typeface="Arial"/>
                        </a:rPr>
                        <a:t>13 553 625 ₽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 wrap="square" anchor="ctr"/>
                    <a:lstStyle/>
                    <a:p>
                      <a:pPr algn="l"/>
                      <a:r>
                        <a:rPr sz="720" b="0">
                          <a:solidFill>
                            <a:srgbClr val="223042"/>
                          </a:solidFill>
                          <a:latin typeface="Arial"/>
                        </a:rPr>
                        <a:t>ФОТ проектирование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720" b="0">
                          <a:solidFill>
                            <a:srgbClr val="223042"/>
                          </a:solidFill>
                          <a:latin typeface="Arial"/>
                        </a:rPr>
                        <a:t>2 209 864 ₽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 wrap="square" anchor="ctr"/>
                    <a:lstStyle/>
                    <a:p>
                      <a:pPr algn="l"/>
                      <a:r>
                        <a:rPr sz="720" b="0">
                          <a:solidFill>
                            <a:srgbClr val="223042"/>
                          </a:solidFill>
                          <a:latin typeface="Arial"/>
                        </a:rPr>
                        <a:t>ОПР + АХР и ОПР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720" b="0">
                          <a:solidFill>
                            <a:srgbClr val="223042"/>
                          </a:solidFill>
                          <a:latin typeface="Arial"/>
                        </a:rPr>
                        <a:t>2 677 592 ₽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 wrap="square" anchor="ctr"/>
                    <a:lstStyle/>
                    <a:p>
                      <a:pPr algn="l"/>
                      <a:r>
                        <a:rPr sz="720" b="1">
                          <a:solidFill>
                            <a:srgbClr val="223042"/>
                          </a:solidFill>
                          <a:latin typeface="Arial"/>
                        </a:rPr>
                        <a:t>Итог бюджета проекта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720" b="1">
                          <a:solidFill>
                            <a:srgbClr val="223042"/>
                          </a:solidFill>
                          <a:latin typeface="Arial"/>
                        </a:rPr>
                        <a:t>94 041 081 ₽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9" name="Shape 34"/>
          <p:cNvSpPr/>
          <p:nvPr/>
        </p:nvSpPr>
        <p:spPr>
          <a:xfrm>
            <a:off x="6391656" y="4041648"/>
            <a:ext cx="5166360" cy="0"/>
          </a:xfrm>
          <a:prstGeom prst="line">
            <a:avLst/>
          </a:prstGeom>
          <a:noFill/>
          <a:ln w="12700">
            <a:solidFill>
              <a:srgbClr val="D9E0E7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40" name="Text 35"/>
          <p:cNvSpPr/>
          <p:nvPr/>
        </p:nvSpPr>
        <p:spPr>
          <a:xfrm>
            <a:off x="6419088" y="4233672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819" b="1">
                <a:solidFill>
                  <a:srgbClr val="667789"/>
                </a:solidFill>
                <a:latin typeface="Arial"/>
              </a:rPr>
              <a:t>Удельный бюджет: 1554 ₽ / м²</a:t>
            </a:r>
          </a:p>
        </p:txBody>
      </p:sp>
      <p:sp>
        <p:nvSpPr>
          <p:cNvPr id="41" name="Text 36"/>
          <p:cNvSpPr/>
          <p:nvPr/>
        </p:nvSpPr>
        <p:spPr>
          <a:xfrm>
            <a:off x="6419088" y="447141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60" dirty="0" b="0">
                <a:solidFill>
                  <a:srgbClr val="667789"/>
                </a:solidFill>
                <a:latin typeface="Arial"/>
              </a:rPr>
              <a:t>Наценки на оборудование и материалы перенесены в рентабельность и не задвоены в отдельных строках.</a:t>
            </a:r>
            <a:endParaRPr lang="en-US" sz="820" dirty="0"/>
          </a:p>
        </p:txBody>
      </p:sp>
      <p:graphicFrame>
        <p:nvGraphicFramePr>
          <p:cNvPr id="42" name="Chart 1"/>
          <p:cNvGraphicFramePr/>
          <p:nvPr/>
        </p:nvGraphicFramePr>
        <p:xfrm>
          <a:off x="6492240" y="4663440"/>
          <a:ext cx="4937760" cy="1234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3" name="Text 37"/>
          <p:cNvSpPr/>
          <p:nvPr/>
        </p:nvSpPr>
        <p:spPr>
          <a:xfrm>
            <a:off x="347472" y="6528816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 b="0">
                <a:solidFill>
                  <a:srgbClr val="66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Кутузовский 32, корп. Г • АПС • все цены приведены с НДС 22% • Не является публичной офертой.</a:t>
            </a:r>
            <a:endParaRPr lang="en-US" sz="720" dirty="0"/>
          </a:p>
        </p:txBody>
      </p:sp>
      <p:sp>
        <p:nvSpPr>
          <p:cNvPr id="44" name="Text 38"/>
          <p:cNvSpPr/>
          <p:nvPr/>
        </p:nvSpPr>
        <p:spPr>
          <a:xfrm>
            <a:off x="11686032" y="649224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 b="0">
                <a:solidFill>
                  <a:srgbClr val="667789"/>
                </a:solidFill>
                <a:latin typeface="Arial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3B6D"/>
          </a:solidFill>
          <a:ln w="12700">
            <a:solidFill>
              <a:srgbClr val="113B6D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320040" y="182880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12345B"/>
                </a:solidFill>
                <a:latin typeface="Arial"/>
              </a:rPr>
              <a:t>График реализации проекта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 b="0">
                <a:solidFill>
                  <a:srgbClr val="667789"/>
                </a:solidFill>
                <a:latin typeface="Arial"/>
              </a:rPr>
              <a:t>Ориентир по срокам: проектирование, поставка оборудования, СМР, ПНР и сдача АПС в эксплуатацию.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8412480" cy="5440680"/>
          </a:xfrm>
          <a:prstGeom prst="roundRect">
            <a:avLst>
              <a:gd name="adj" fmla="val 2017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512064" y="98755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16C3C6"/>
                </a:solidFill>
                <a:latin typeface="Arial"/>
              </a:rPr>
              <a:t>План-график</a:t>
            </a:r>
            <a:endParaRPr lang="en-US" sz="960" dirty="0"/>
          </a:p>
        </p:txBody>
      </p:sp>
      <p:sp>
        <p:nvSpPr>
          <p:cNvPr id="7" name="Shape 5"/>
          <p:cNvSpPr/>
          <p:nvPr/>
        </p:nvSpPr>
        <p:spPr>
          <a:xfrm>
            <a:off x="2907792" y="1426464"/>
            <a:ext cx="502920" cy="310896"/>
          </a:xfrm>
          <a:prstGeom prst="roundRect">
            <a:avLst>
              <a:gd name="adj" fmla="val 35294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2907792" y="1517904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345B"/>
                </a:solidFill>
                <a:latin typeface="Arial"/>
              </a:rPr>
              <a:t>M1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3566160" y="1426464"/>
            <a:ext cx="502920" cy="310896"/>
          </a:xfrm>
          <a:prstGeom prst="roundRect">
            <a:avLst>
              <a:gd name="adj" fmla="val 35294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3566160" y="1517904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345B"/>
                </a:solidFill>
                <a:latin typeface="Arial"/>
              </a:rPr>
              <a:t>M2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4224528" y="1426464"/>
            <a:ext cx="502920" cy="310896"/>
          </a:xfrm>
          <a:prstGeom prst="roundRect">
            <a:avLst>
              <a:gd name="adj" fmla="val 35294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4224528" y="1517904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345B"/>
                </a:solidFill>
                <a:latin typeface="Arial"/>
              </a:rPr>
              <a:t>M3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4882896" y="1426464"/>
            <a:ext cx="502920" cy="310896"/>
          </a:xfrm>
          <a:prstGeom prst="roundRect">
            <a:avLst>
              <a:gd name="adj" fmla="val 35294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4882896" y="1517904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345B"/>
                </a:solidFill>
                <a:latin typeface="Arial"/>
              </a:rPr>
              <a:t>M4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5541264" y="1426464"/>
            <a:ext cx="502920" cy="310896"/>
          </a:xfrm>
          <a:prstGeom prst="roundRect">
            <a:avLst>
              <a:gd name="adj" fmla="val 35294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5541264" y="1517904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345B"/>
                </a:solidFill>
                <a:latin typeface="Arial"/>
              </a:rPr>
              <a:t>M5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6199632" y="1426464"/>
            <a:ext cx="502920" cy="310896"/>
          </a:xfrm>
          <a:prstGeom prst="roundRect">
            <a:avLst>
              <a:gd name="adj" fmla="val 35294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6199632" y="1517904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345B"/>
                </a:solidFill>
                <a:latin typeface="Arial"/>
              </a:rPr>
              <a:t>M6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6858000" y="1426464"/>
            <a:ext cx="502920" cy="310896"/>
          </a:xfrm>
          <a:prstGeom prst="roundRect">
            <a:avLst>
              <a:gd name="adj" fmla="val 35294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6858000" y="1517904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345B"/>
                </a:solidFill>
                <a:latin typeface="Arial"/>
              </a:rPr>
              <a:t>M7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658368" y="2066544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 b="1">
                <a:solidFill>
                  <a:srgbClr val="223042"/>
                </a:solidFill>
                <a:latin typeface="Arial"/>
              </a:rPr>
              <a:t>Проектирование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2907792" y="1993392"/>
            <a:ext cx="1225296" cy="237744"/>
          </a:xfrm>
          <a:prstGeom prst="roundRect">
            <a:avLst>
              <a:gd name="adj" fmla="val 15385"/>
            </a:avLst>
          </a:prstGeom>
          <a:solidFill>
            <a:srgbClr val="F2A640"/>
          </a:solidFill>
          <a:ln w="12700">
            <a:solidFill>
              <a:srgbClr val="F2A640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23" name="Text 21"/>
          <p:cNvSpPr/>
          <p:nvPr/>
        </p:nvSpPr>
        <p:spPr>
          <a:xfrm>
            <a:off x="658368" y="2660904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 b="1">
                <a:solidFill>
                  <a:srgbClr val="223042"/>
                </a:solidFill>
                <a:latin typeface="Arial"/>
              </a:rPr>
              <a:t>Закупка и логистика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3566160" y="2587752"/>
            <a:ext cx="1225296" cy="237744"/>
          </a:xfrm>
          <a:prstGeom prst="roundRect">
            <a:avLst>
              <a:gd name="adj" fmla="val 15385"/>
            </a:avLst>
          </a:prstGeom>
          <a:solidFill>
            <a:srgbClr val="16C3C6"/>
          </a:solidFill>
          <a:ln w="12700">
            <a:solidFill>
              <a:srgbClr val="16C3C6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25" name="Text 23"/>
          <p:cNvSpPr/>
          <p:nvPr/>
        </p:nvSpPr>
        <p:spPr>
          <a:xfrm>
            <a:off x="658368" y="3255264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 b="1">
                <a:solidFill>
                  <a:srgbClr val="223042"/>
                </a:solidFill>
                <a:latin typeface="Arial"/>
              </a:rPr>
              <a:t>Поставка оборудования и материалов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4224528" y="3182112"/>
            <a:ext cx="1225296" cy="237744"/>
          </a:xfrm>
          <a:prstGeom prst="roundRect">
            <a:avLst>
              <a:gd name="adj" fmla="val 15385"/>
            </a:avLst>
          </a:prstGeom>
          <a:solidFill>
            <a:srgbClr val="7EC9B3"/>
          </a:solidFill>
          <a:ln w="12700">
            <a:solidFill>
              <a:srgbClr val="7EC9B3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27" name="Text 25"/>
          <p:cNvSpPr/>
          <p:nvPr/>
        </p:nvSpPr>
        <p:spPr>
          <a:xfrm>
            <a:off x="658368" y="3849624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 b="1">
                <a:solidFill>
                  <a:srgbClr val="223042"/>
                </a:solidFill>
                <a:latin typeface="Arial"/>
              </a:rPr>
              <a:t>Строительно-монтажные работы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4224528" y="3776472"/>
            <a:ext cx="2542032" cy="237744"/>
          </a:xfrm>
          <a:prstGeom prst="roundRect">
            <a:avLst>
              <a:gd name="adj" fmla="val 15385"/>
            </a:avLst>
          </a:prstGeom>
          <a:solidFill>
            <a:srgbClr val="2D65B1"/>
          </a:solidFill>
          <a:ln w="12700">
            <a:solidFill>
              <a:srgbClr val="2D65B1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29" name="Text 27"/>
          <p:cNvSpPr/>
          <p:nvPr/>
        </p:nvSpPr>
        <p:spPr>
          <a:xfrm>
            <a:off x="658368" y="4443984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 b="1">
                <a:solidFill>
                  <a:srgbClr val="223042"/>
                </a:solidFill>
                <a:latin typeface="Arial"/>
              </a:rPr>
              <a:t>Пусконаладочные работы и испытания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5541264" y="4370832"/>
            <a:ext cx="1883664" cy="237744"/>
          </a:xfrm>
          <a:prstGeom prst="roundRect">
            <a:avLst>
              <a:gd name="adj" fmla="val 15385"/>
            </a:avLst>
          </a:prstGeom>
          <a:solidFill>
            <a:srgbClr val="7E6BAA"/>
          </a:solidFill>
          <a:ln w="12700">
            <a:solidFill>
              <a:srgbClr val="7E6BAA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31" name="Text 29"/>
          <p:cNvSpPr/>
          <p:nvPr/>
        </p:nvSpPr>
        <p:spPr>
          <a:xfrm>
            <a:off x="658368" y="5038344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 b="1">
                <a:solidFill>
                  <a:srgbClr val="223042"/>
                </a:solidFill>
                <a:latin typeface="Arial"/>
              </a:rPr>
              <a:t>Сдача и исполнительная документация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6858000" y="4965192"/>
            <a:ext cx="566928" cy="237744"/>
          </a:xfrm>
          <a:prstGeom prst="roundRect">
            <a:avLst>
              <a:gd name="adj" fmla="val 15385"/>
            </a:avLst>
          </a:prstGeom>
          <a:solidFill>
            <a:srgbClr val="16A3A7"/>
          </a:solidFill>
          <a:ln w="12700">
            <a:solidFill>
              <a:srgbClr val="16A3A7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33" name="Shape 31"/>
          <p:cNvSpPr/>
          <p:nvPr/>
        </p:nvSpPr>
        <p:spPr>
          <a:xfrm>
            <a:off x="3639312" y="5650992"/>
            <a:ext cx="4434840" cy="320040"/>
          </a:xfrm>
          <a:prstGeom prst="roundRect">
            <a:avLst>
              <a:gd name="adj" fmla="val 34286"/>
            </a:avLst>
          </a:prstGeom>
          <a:solidFill>
            <a:srgbClr val="16C3C6"/>
          </a:solidFill>
          <a:ln w="12700">
            <a:solidFill>
              <a:srgbClr val="16C3C6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34" name="Text 32"/>
          <p:cNvSpPr/>
          <p:nvPr/>
        </p:nvSpPr>
        <p:spPr>
          <a:xfrm>
            <a:off x="3794760" y="5742432"/>
            <a:ext cx="4114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/>
              </a:rPr>
              <a:t>Готовность к сдаче — 7 месяцев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942832" y="822960"/>
            <a:ext cx="2926080" cy="54406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36" name="Text 34"/>
          <p:cNvSpPr/>
          <p:nvPr/>
        </p:nvSpPr>
        <p:spPr>
          <a:xfrm>
            <a:off x="9125712" y="98755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345B"/>
                </a:solidFill>
                <a:latin typeface="Arial"/>
              </a:rPr>
              <a:t>Силы и средства</a:t>
            </a:r>
            <a:endParaRPr lang="en-US" sz="960" dirty="0"/>
          </a:p>
        </p:txBody>
      </p:sp>
      <p:sp>
        <p:nvSpPr>
          <p:cNvPr id="37" name="Text 35"/>
          <p:cNvSpPr/>
          <p:nvPr/>
        </p:nvSpPr>
        <p:spPr>
          <a:xfrm>
            <a:off x="9162288" y="128016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b="0">
                <a:solidFill>
                  <a:srgbClr val="223042"/>
                </a:solidFill>
                <a:latin typeface="Arial"/>
              </a:rPr>
              <a:t>СМР — 3 бригады по 5 чел. + 2 ИТР</a:t>
            </a:r>
            <a:endParaRPr lang="en-US" sz="900" dirty="0"/>
          </a:p>
          <a:p>
            <a:pPr marL="0" indent="0" algn="l">
              <a:buNone/>
            </a:pPr>
            <a:r>
              <a:rPr lang="en-US" sz="1000" dirty="0" b="0">
                <a:solidFill>
                  <a:srgbClr val="223042"/>
                </a:solidFill>
                <a:latin typeface="Arial"/>
              </a:rPr>
              <a:t>Ориентир для СМР: 17 чел.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162288" y="193852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/>
              </a:rPr>
              <a:t>ПНР — 4 инженера + 1 ведущий инженер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/>
              </a:rPr>
              <a:t>Ориентир для ПНР: 5 чел.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9144000" y="2743200"/>
            <a:ext cx="24231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40" name="Text 38"/>
          <p:cNvSpPr/>
          <p:nvPr/>
        </p:nvSpPr>
        <p:spPr>
          <a:xfrm>
            <a:off x="9326880" y="288950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345B"/>
                </a:solidFill>
                <a:latin typeface="Arial"/>
              </a:rPr>
              <a:t>Ключевые этапы</a:t>
            </a:r>
            <a:endParaRPr lang="en-US" sz="960" dirty="0"/>
          </a:p>
        </p:txBody>
      </p:sp>
      <p:sp>
        <p:nvSpPr>
          <p:cNvPr id="41" name="Text 39"/>
          <p:cNvSpPr/>
          <p:nvPr/>
        </p:nvSpPr>
        <p:spPr>
          <a:xfrm>
            <a:off x="9308592" y="3127248"/>
            <a:ext cx="1993392" cy="17007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 algn="l">
              <a:buSzPct val="100000"/>
              <a:buChar char="•"/>
            </a:pPr>
            <a:r>
              <a:rPr lang="en-US" sz="1000" dirty="0" b="0">
                <a:solidFill>
                  <a:srgbClr val="223042"/>
                </a:solidFill>
                <a:latin typeface="Arial"/>
              </a:rPr>
              <a:t>Проектирование — 2 месяца.</a:t>
            </a:r>
            <a:endParaRPr lang="en-US" sz="855" dirty="0"/>
          </a:p>
          <a:p>
            <a:pPr marL="152400" indent="-152400" algn="l">
              <a:buSzPct val="100000"/>
              <a:buChar char="•"/>
            </a:pPr>
            <a:r>
              <a:rPr lang="en-US" sz="1000" dirty="0" b="0">
                <a:solidFill>
                  <a:srgbClr val="223042"/>
                </a:solidFill>
                <a:latin typeface="Arial"/>
              </a:rPr>
              <a:t>Закупка стартует после выпуска основных проектных решений.</a:t>
            </a:r>
            <a:endParaRPr lang="en-US" sz="855" dirty="0"/>
          </a:p>
          <a:p>
            <a:pPr marL="152400" indent="-152400" algn="l">
              <a:buSzPct val="100000"/>
              <a:buChar char="•"/>
            </a:pPr>
            <a:r>
              <a:rPr lang="en-US" sz="1000" dirty="0" b="0">
                <a:solidFill>
                  <a:srgbClr val="223042"/>
                </a:solidFill>
                <a:latin typeface="Arial"/>
              </a:rPr>
              <a:t>СМР выполняются поэтапно, без остановки эксплуатации здания.</a:t>
            </a:r>
            <a:endParaRPr lang="en-US" sz="855" dirty="0"/>
          </a:p>
          <a:p>
            <a:pPr marL="152400" indent="-152400" algn="l">
              <a:buSzPct val="100000"/>
              <a:buChar char="•"/>
            </a:pPr>
            <a:r>
              <a:rPr lang="en-US" sz="1000" dirty="0" b="0">
                <a:solidFill>
                  <a:srgbClr val="223042"/>
                </a:solidFill>
                <a:latin typeface="Arial"/>
              </a:rPr>
              <a:t>ПНР начинается после готовности ядра и полевого уровня по зонам.</a:t>
            </a:r>
            <a:endParaRPr lang="en-US" sz="855" dirty="0"/>
          </a:p>
          <a:p>
            <a:pPr marL="152400" indent="-152400" algn="l">
              <a:buSzPct val="100000"/>
              <a:buChar char="•"/>
            </a:pPr>
            <a:r>
              <a:rPr lang="en-US" sz="1000" dirty="0" b="0">
                <a:solidFill>
                  <a:srgbClr val="223042"/>
                </a:solidFill>
                <a:latin typeface="Arial"/>
              </a:rPr>
              <a:t>Заключительный этап — комплексные испытания и ввод в эксплуатацию.</a:t>
            </a:r>
            <a:endParaRPr lang="en-US" sz="855" dirty="0"/>
          </a:p>
        </p:txBody>
      </p:sp>
      <p:sp>
        <p:nvSpPr>
          <p:cNvPr id="42" name="Text 40"/>
          <p:cNvSpPr/>
          <p:nvPr/>
        </p:nvSpPr>
        <p:spPr>
          <a:xfrm>
            <a:off x="347472" y="6528816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 b="0">
                <a:solidFill>
                  <a:srgbClr val="66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Кутузовский 32, корп. Г • АПС • все цены приведены с НДС 22% • Не является публичной офертой.</a:t>
            </a:r>
            <a:endParaRPr lang="en-US" sz="720" dirty="0"/>
          </a:p>
        </p:txBody>
      </p:sp>
      <p:sp>
        <p:nvSpPr>
          <p:cNvPr id="43" name="Text 41"/>
          <p:cNvSpPr/>
          <p:nvPr/>
        </p:nvSpPr>
        <p:spPr>
          <a:xfrm>
            <a:off x="11686032" y="649224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 b="0">
                <a:solidFill>
                  <a:srgbClr val="667789"/>
                </a:solidFill>
                <a:latin typeface="Arial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3B6D"/>
          </a:solidFill>
          <a:ln w="12700">
            <a:solidFill>
              <a:srgbClr val="113B6D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320040" y="182880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223042"/>
                </a:solidFill>
                <a:latin typeface="Arial"/>
              </a:rPr>
              <a:t>Допущения при расчетах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" dirty="0" b="0">
                <a:solidFill>
                  <a:srgbClr val="667789"/>
                </a:solidFill>
                <a:latin typeface="Arial"/>
              </a:rPr>
              <a:t>Расчет выполнен при ограниченном наборе исходных данных; значения являются предварительной финансовой моделью по АПС.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320040" y="841248"/>
            <a:ext cx="3822192" cy="5440680"/>
          </a:xfrm>
          <a:prstGeom prst="roundRect">
            <a:avLst>
              <a:gd name="adj" fmla="val 2871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4233672" y="841248"/>
            <a:ext cx="3822192" cy="5440680"/>
          </a:xfrm>
          <a:prstGeom prst="roundRect">
            <a:avLst>
              <a:gd name="adj" fmla="val 2871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8147304" y="841248"/>
            <a:ext cx="3721608" cy="5440680"/>
          </a:xfrm>
          <a:prstGeom prst="roundRect">
            <a:avLst>
              <a:gd name="adj" fmla="val 2948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512064" y="102412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23042"/>
                </a:solidFill>
                <a:latin typeface="Arial"/>
              </a:rPr>
              <a:t>Принятые допущения и логика оценки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0352" y="1298448"/>
            <a:ext cx="3383280" cy="3474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 algn="l">
              <a:buSzPct val="100000"/>
              <a:buChar char="•"/>
            </a:pPr>
            <a:r>
              <a:rPr lang="en-US" sz="1120" dirty="0" b="0">
                <a:solidFill>
                  <a:srgbClr val="223042"/>
                </a:solidFill>
                <a:latin typeface="Arial"/>
              </a:rPr>
              <a:t>Расчет выполнен на стадии предварительной бюджетной оценки по защищаемой площади 60 515 м² без полного комплекта исполнительной документации.</a:t>
            </a:r>
            <a:endParaRPr lang="en-US" sz="875" dirty="0"/>
          </a:p>
          <a:p>
            <a:pPr marL="152400" indent="-152400" algn="l">
              <a:buSzPct val="100000"/>
              <a:buChar char="•"/>
            </a:pPr>
            <a:r>
              <a:rPr lang="en-US" sz="1120" dirty="0" b="0">
                <a:solidFill>
                  <a:srgbClr val="223042"/>
                </a:solidFill>
                <a:latin typeface="Arial"/>
              </a:rPr>
              <a:t>Количество оборудования определено по функциональным зонам, этажности, площади, типовым плотностям пожарных извещателей и существующей архитектуре объекта.</a:t>
            </a:r>
            <a:endParaRPr lang="en-US" sz="875" dirty="0"/>
          </a:p>
          <a:p>
            <a:pPr marL="152400" indent="-152400" algn="l">
              <a:buSzPct val="100000"/>
              <a:buChar char="•"/>
            </a:pPr>
            <a:r>
              <a:rPr lang="en-US" sz="1120" dirty="0" b="0">
                <a:solidFill>
                  <a:srgbClr val="223042"/>
                </a:solidFill>
                <a:latin typeface="Arial"/>
              </a:rPr>
              <a:t>В модели учтена замена существующих 8 станций ППКУП и построение нового адресного контура на отечественном оборудовании.</a:t>
            </a:r>
            <a:endParaRPr lang="en-US" sz="875" dirty="0"/>
          </a:p>
          <a:p>
            <a:pPr marL="152400" indent="-152400" algn="l">
              <a:buSzPct val="100000"/>
              <a:buChar char="•"/>
            </a:pPr>
            <a:r>
              <a:rPr lang="en-US" sz="1120" dirty="0" b="0">
                <a:solidFill>
                  <a:srgbClr val="223042"/>
                </a:solidFill>
                <a:latin typeface="Arial"/>
              </a:rPr>
              <a:t>Кабельный фонд принят укрупненно — 58 000 м с учетом скрытой прокладки, межэтажных переходов и резервов на замену в действующем здании.</a:t>
            </a:r>
            <a:endParaRPr lang="en-US" sz="875" dirty="0"/>
          </a:p>
          <a:p>
            <a:pPr marL="152400" indent="-152400" algn="l">
              <a:buSzPct val="100000"/>
              <a:buChar char="•"/>
            </a:pPr>
            <a:r>
              <a:rPr lang="en-US" sz="1120" dirty="0" b="0">
                <a:solidFill>
                  <a:srgbClr val="223042"/>
                </a:solidFill>
                <a:latin typeface="Arial"/>
              </a:rPr>
              <a:t>Смета проектирования принята по предоставленной форме №2П, с НДС 22%.</a:t>
            </a:r>
            <a:endParaRPr lang="en-US" sz="875" dirty="0"/>
          </a:p>
        </p:txBody>
      </p:sp>
      <p:sp>
        <p:nvSpPr>
          <p:cNvPr id="10" name="Text 8"/>
          <p:cNvSpPr/>
          <p:nvPr/>
        </p:nvSpPr>
        <p:spPr>
          <a:xfrm>
            <a:off x="4425696" y="1024128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0" dirty="0">
                <a:solidFill>
                  <a:srgbClr val="223042"/>
                </a:solidFill>
                <a:latin typeface="Arial"/>
              </a:rPr>
              <a:t>Принятые условия работ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43984" y="1298448"/>
            <a:ext cx="3383280" cy="3474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 algn="l">
              <a:buSzPct val="100000"/>
              <a:buChar char="•"/>
            </a:pPr>
            <a:r>
              <a:rPr lang="en-US" sz="1200" dirty="0" b="0">
                <a:solidFill>
                  <a:srgbClr val="223042"/>
                </a:solidFill>
                <a:latin typeface="Arial"/>
              </a:rPr>
              <a:t>Работы выполняются в эксплуатируемом здании с ограничениями доступа.</a:t>
            </a:r>
            <a:endParaRPr lang="en-US" sz="875" dirty="0"/>
          </a:p>
          <a:p>
            <a:pPr marL="152400" indent="-152400" algn="l">
              <a:buSzPct val="100000"/>
              <a:buChar char="•"/>
            </a:pPr>
            <a:r>
              <a:rPr lang="en-US" sz="1200" dirty="0" b="0">
                <a:solidFill>
                  <a:srgbClr val="223042"/>
                </a:solidFill>
                <a:latin typeface="Arial"/>
              </a:rPr>
              <a:t>Часть работ производится в ночные окна и частично в выходные дни.</a:t>
            </a:r>
            <a:endParaRPr lang="en-US" sz="875" dirty="0"/>
          </a:p>
          <a:p>
            <a:pPr marL="152400" indent="-152400" algn="l">
              <a:buSzPct val="100000"/>
              <a:buChar char="•"/>
            </a:pPr>
            <a:r>
              <a:rPr lang="en-US" sz="1200" dirty="0" b="0">
                <a:solidFill>
                  <a:srgbClr val="223042"/>
                </a:solidFill>
                <a:latin typeface="Arial"/>
              </a:rPr>
              <a:t>Скрытая прокладка инженерных коммуникаций и сохранение работающих зон приняты как базовое ограничение.</a:t>
            </a:r>
            <a:endParaRPr lang="en-US" sz="875" dirty="0"/>
          </a:p>
          <a:p>
            <a:pPr marL="152400" indent="-152400" algn="l">
              <a:buSzPct val="100000"/>
              <a:buChar char="•"/>
            </a:pPr>
            <a:r>
              <a:rPr lang="en-US" sz="1200" dirty="0" b="0">
                <a:solidFill>
                  <a:srgbClr val="223042"/>
                </a:solidFill>
                <a:latin typeface="Arial"/>
              </a:rPr>
              <a:t>В учтенные СМР входят монтаж, адресация, сценарии управления и комплексное ПНР.</a:t>
            </a:r>
            <a:endParaRPr lang="en-US" sz="875" dirty="0"/>
          </a:p>
          <a:p>
            <a:pPr marL="152400" indent="-152400" algn="l">
              <a:buSzPct val="100000"/>
              <a:buChar char="•"/>
            </a:pPr>
            <a:r>
              <a:rPr lang="en-US" sz="1200" dirty="0" b="0">
                <a:solidFill>
                  <a:srgbClr val="223042"/>
                </a:solidFill>
                <a:latin typeface="Arial"/>
              </a:rPr>
              <a:t>Итоговые бюджеты собственного и подрядного ресурса рассчитаны по той же методике накладных и рентабельности, что и в исходной презентации-аналоге.</a:t>
            </a:r>
            <a:endParaRPr lang="en-US" sz="875" dirty="0"/>
          </a:p>
        </p:txBody>
      </p:sp>
      <p:sp>
        <p:nvSpPr>
          <p:cNvPr id="12" name="Text 10"/>
          <p:cNvSpPr/>
          <p:nvPr/>
        </p:nvSpPr>
        <p:spPr>
          <a:xfrm>
            <a:off x="8339328" y="1024128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0" dirty="0">
                <a:solidFill>
                  <a:srgbClr val="223042"/>
                </a:solidFill>
                <a:latin typeface="Arial"/>
              </a:rPr>
              <a:t>Факторы возможного удорожания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357616" y="1298448"/>
            <a:ext cx="3246120" cy="3474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 algn="l">
              <a:buSzPct val="100000"/>
              <a:buChar char="•"/>
            </a:pPr>
            <a:r>
              <a:rPr lang="en-US" sz="1200" dirty="0" b="0">
                <a:solidFill>
                  <a:srgbClr val="223042"/>
                </a:solidFill>
                <a:latin typeface="Arial"/>
              </a:rPr>
              <a:t>Уточнение архитектуры АПС после доступа к конфигурациям и детальной диагностике существующей системы.</a:t>
            </a:r>
            <a:endParaRPr lang="en-US" sz="875" dirty="0"/>
          </a:p>
          <a:p>
            <a:pPr marL="152400" indent="-152400" algn="l">
              <a:buSzPct val="100000"/>
              <a:buChar char="•"/>
            </a:pPr>
            <a:r>
              <a:rPr lang="en-US" sz="1200" dirty="0" b="0">
                <a:solidFill>
                  <a:srgbClr val="223042"/>
                </a:solidFill>
                <a:latin typeface="Arial"/>
              </a:rPr>
              <a:t>Рост доли скрытых, ночных, высотных и поэтапных работ в действующем здании.</a:t>
            </a:r>
            <a:endParaRPr lang="en-US" sz="875" dirty="0"/>
          </a:p>
          <a:p>
            <a:pPr marL="152400" indent="-152400" algn="l">
              <a:buSzPct val="100000"/>
              <a:buChar char="•"/>
            </a:pPr>
            <a:r>
              <a:rPr lang="en-US" sz="1200" dirty="0" b="0">
                <a:solidFill>
                  <a:srgbClr val="223042"/>
                </a:solidFill>
                <a:latin typeface="Arial"/>
              </a:rPr>
              <a:t>Уточнение количества модулей управления СПДВ, АУВПТ и смежными инженерными системами.</a:t>
            </a:r>
            <a:endParaRPr lang="en-US" sz="875" dirty="0"/>
          </a:p>
          <a:p>
            <a:pPr marL="152400" indent="-152400" algn="l">
              <a:buSzPct val="100000"/>
              <a:buChar char="•"/>
            </a:pPr>
            <a:r>
              <a:rPr lang="en-US" sz="1200" dirty="0" b="0">
                <a:solidFill>
                  <a:srgbClr val="223042"/>
                </a:solidFill>
                <a:latin typeface="Arial"/>
              </a:rPr>
              <a:t>Дополнительные огнестойкие проходки, кабельное хозяйство, усиление креплений и огнезащита.</a:t>
            </a:r>
            <a:endParaRPr lang="en-US" sz="875" dirty="0"/>
          </a:p>
          <a:p>
            <a:pPr marL="152400" indent="-152400" algn="l">
              <a:buSzPct val="100000"/>
              <a:buChar char="•"/>
            </a:pPr>
            <a:r>
              <a:rPr lang="en-US" sz="1200" dirty="0" b="0">
                <a:solidFill>
                  <a:srgbClr val="223042"/>
                </a:solidFill>
                <a:latin typeface="Arial"/>
              </a:rPr>
              <a:t>Изменение вендора, дефицит оборудования, сроки поставки и требования по резервированию.</a:t>
            </a:r>
            <a:endParaRPr lang="en-US" sz="875" dirty="0"/>
          </a:p>
        </p:txBody>
      </p:sp>
      <p:sp>
        <p:nvSpPr>
          <p:cNvPr id="14" name="Shape 12"/>
          <p:cNvSpPr/>
          <p:nvPr/>
        </p:nvSpPr>
        <p:spPr>
          <a:xfrm>
            <a:off x="8339328" y="5120640"/>
            <a:ext cx="3246120" cy="676656"/>
          </a:xfrm>
          <a:prstGeom prst="roundRect">
            <a:avLst>
              <a:gd name="adj" fmla="val 16216"/>
            </a:avLst>
          </a:prstGeom>
          <a:solidFill>
            <a:srgbClr val="FFF3F1"/>
          </a:solidFill>
          <a:ln w="12700">
            <a:solidFill>
              <a:srgbClr val="FAD1CB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8485632" y="5239512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D9534F"/>
                </a:solidFill>
                <a:latin typeface="Arial"/>
              </a:rPr>
              <a:t>Дисклеймер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9235440" y="520293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dirty="0">
                <a:solidFill>
                  <a:srgbClr val="334155"/>
                </a:solidFill>
                <a:latin typeface="Arial"/>
              </a:rPr>
              <a:t>Расчет предназначен для предварительной бюджетной оценки проекта и не заменяет рабочую смету и исполнительное обследование.</a:t>
            </a:r>
            <a:endParaRPr lang="en-US" sz="810" dirty="0"/>
          </a:p>
        </p:txBody>
      </p:sp>
      <p:sp>
        <p:nvSpPr>
          <p:cNvPr id="17" name="Text 15"/>
          <p:cNvSpPr/>
          <p:nvPr/>
        </p:nvSpPr>
        <p:spPr>
          <a:xfrm>
            <a:off x="347472" y="6528816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 b="0">
                <a:solidFill>
                  <a:srgbClr val="66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Кутузовский 32, корп. Г • АПС • все цены приведены с НДС 22% • Не является публичной офертой.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11686032" y="649224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 b="0">
                <a:solidFill>
                  <a:srgbClr val="667789"/>
                </a:solidFill>
                <a:latin typeface="Arial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2258</Words>
  <Application>Microsoft Office PowerPoint</Application>
  <PresentationFormat>Широкоэкранный</PresentationFormat>
  <Paragraphs>334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Бюджетная оценка модернизации АПС — Кутузовский проспект, 32 корп. Г</dc:title>
  <dc:subject>АПС — Кутузовский проспект, 32 корп. Г</dc:subject>
  <dc:creator>OpenAI</dc:creator>
  <cp:lastModifiedBy>0 Alexander</cp:lastModifiedBy>
  <cp:revision>2</cp:revision>
  <dcterms:created xsi:type="dcterms:W3CDTF">2026-03-25T12:05:55Z</dcterms:created>
  <dcterms:modified xsi:type="dcterms:W3CDTF">2026-03-25T15:39:25Z</dcterms:modified>
</cp:coreProperties>
</file>