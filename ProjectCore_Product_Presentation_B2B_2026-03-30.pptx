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85216"/>
            <a:ext cx="5413248" cy="5486400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768096"/>
            <a:ext cx="120700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Титульный лист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768096"/>
            <a:ext cx="1325880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B2B IT-продукт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25296"/>
            <a:ext cx="4114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Project.Core™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448056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Сайт и платформа
предварительной бюджетной оценки
систем безопасности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44368"/>
            <a:ext cx="4526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9EEF6"/>
                </a:solidFill>
                <a:latin typeface="Aptos"/>
              </a:rPr>
              <a:t>Продукт для быстрого формирования бюджетной картины проекта, демонстрации логики расчёта и подготовки коммерческого предложения для заказчика.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3952" y="804672"/>
            <a:ext cx="5138928" cy="5468112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694944"/>
            <a:ext cx="5138928" cy="546811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10528" y="850392"/>
            <a:ext cx="4919472" cy="5184648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868680"/>
            <a:ext cx="4882896" cy="51480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77824" y="4645152"/>
            <a:ext cx="1051560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 систем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645152"/>
            <a:ext cx="129844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5–10 минут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4645152"/>
            <a:ext cx="166420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6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Сайт + платформа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48640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34"/>
                </a:solidFill>
                <a:latin typeface="Aptos"/>
              </a:rPr>
              <a:t>Основное предложение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4066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8778F"/>
                </a:solidFill>
                <a:latin typeface="Aptos"/>
              </a:rPr>
              <a:t>Project.Core™ — это продукт, который позволяет за 5–10 минут собрать предварительный бюджет по системам безопасности, увидеть логику формирования суммы и подготовить материал для переговоров с заказчиком.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73152" cy="960120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47088"/>
            <a:ext cx="18745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2334"/>
                </a:solidFill>
                <a:latin typeface="Aptos"/>
              </a:rPr>
              <a:t>5–10 мин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942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78F"/>
                </a:solidFill>
                <a:latin typeface="Aptos"/>
              </a:rPr>
              <a:t>время первичной оценки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737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2" y="1737360"/>
            <a:ext cx="73152" cy="960120"/>
          </a:xfrm>
          <a:prstGeom prst="rect">
            <a:avLst/>
          </a:prstGeom>
          <a:solidFill>
            <a:srgbClr val="52C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1847088"/>
            <a:ext cx="18745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2334"/>
                </a:solidFill>
                <a:latin typeface="Apto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24942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78F"/>
                </a:solidFill>
                <a:latin typeface="Aptos"/>
              </a:rPr>
              <a:t>подсистем в одном расчёте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57216" y="1737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57216" y="1737360"/>
            <a:ext cx="73152" cy="960120"/>
          </a:xfrm>
          <a:prstGeom prst="rect">
            <a:avLst/>
          </a:prstGeom>
          <a:solidFill>
            <a:srgbClr val="FF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7" y="1847088"/>
            <a:ext cx="18745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2334"/>
                </a:solidFill>
                <a:latin typeface="Aptos"/>
              </a:rPr>
              <a:t>85+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224942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78F"/>
                </a:solidFill>
                <a:latin typeface="Aptos"/>
              </a:rPr>
              <a:t>регионов РФ в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737360"/>
            <a:ext cx="2103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737360"/>
            <a:ext cx="73152" cy="960120"/>
          </a:xfrm>
          <a:prstGeom prst="rect">
            <a:avLst/>
          </a:prstGeom>
          <a:solidFill>
            <a:srgbClr val="56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1847088"/>
            <a:ext cx="187451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92334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224942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8778F"/>
                </a:solidFill>
                <a:latin typeface="Aptos"/>
              </a:rPr>
              <a:t>аудит цен и рисков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2907792"/>
            <a:ext cx="5358384" cy="3255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8211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2334"/>
                </a:solidFill>
                <a:latin typeface="Aptos"/>
              </a:rPr>
              <a:t>Что получает заказчик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02736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быстрый предварительный бюджет по объекту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понятную расшифровку, из чего он собран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снижение риска недооценки работ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выходные материалы для ТКП и обсуждения проекта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3054096"/>
            <a:ext cx="4846320" cy="3127248"/>
          </a:xfrm>
          <a:prstGeom prst="roundRect">
            <a:avLst/>
          </a:prstGeom>
          <a:solidFill>
            <a:srgbClr val="B5B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2944368"/>
            <a:ext cx="484632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82512" y="3099816"/>
            <a:ext cx="4626864" cy="2843784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latform-object-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18104"/>
            <a:ext cx="4590288" cy="28072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8778F"/>
                </a:solidFill>
                <a:latin typeface="Aptos"/>
              </a:rPr>
              <a:t>Project.Core™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8778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34"/>
                </a:solidFill>
                <a:latin typeface="Aptos"/>
              </a:rPr>
              <a:t>Проблематика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315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68778F"/>
                </a:solidFill>
                <a:latin typeface="Aptos"/>
              </a:rPr>
              <a:t>Большинство предварительных расчётов по системам безопасности по-прежнему делаются либо в тяжёлых сметных системах, либо в Excel-моделях, либо в разрозненных вендорских калькуляторах.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01952"/>
            <a:ext cx="274320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901952"/>
            <a:ext cx="73152" cy="2359152"/>
          </a:xfrm>
          <a:prstGeom prst="rect">
            <a:avLst/>
          </a:prstGeom>
          <a:solidFill>
            <a:srgbClr val="3F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9696"/>
            <a:ext cx="23317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334"/>
                </a:solidFill>
                <a:latin typeface="Aptos"/>
              </a:rPr>
              <a:t>Тяжёлые сметные системы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3042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78F"/>
                </a:solidFill>
                <a:latin typeface="Aptos"/>
              </a:rPr>
              <a:t>Сильны для ПСД и детальной сметы, но плохо подходят для быстрого пресейла.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8" y="1901952"/>
            <a:ext cx="274320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41648" y="1901952"/>
            <a:ext cx="73152" cy="2359152"/>
          </a:xfrm>
          <a:prstGeom prst="rect">
            <a:avLst/>
          </a:prstGeom>
          <a:solidFill>
            <a:srgbClr val="FF8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139696"/>
            <a:ext cx="23317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334"/>
                </a:solidFill>
                <a:latin typeface="Aptos"/>
              </a:rPr>
              <a:t>Excel-модели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743200"/>
            <a:ext cx="23042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78F"/>
                </a:solidFill>
                <a:latin typeface="Aptos"/>
              </a:rPr>
              <a:t>Гибкие, но зависят от автора, плохо версионируются и несут высокий риск ручной ошибки.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901952"/>
            <a:ext cx="2743200" cy="2359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33488" y="1901952"/>
            <a:ext cx="73152" cy="2359152"/>
          </a:xfrm>
          <a:prstGeom prst="rect">
            <a:avLst/>
          </a:prstGeom>
          <a:solidFill>
            <a:srgbClr val="52C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139696"/>
            <a:ext cx="23317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92334"/>
                </a:solidFill>
                <a:latin typeface="Aptos"/>
              </a:rPr>
              <a:t>Вендорские калькуляторы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743200"/>
            <a:ext cx="2304288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8778F"/>
                </a:solidFill>
                <a:latin typeface="Aptos"/>
              </a:rPr>
              <a:t>Считают отдельные подсистемы, но не сводят весь проект в единую бюджетную картину.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4752" y="4736592"/>
            <a:ext cx="9326880" cy="960120"/>
          </a:xfrm>
          <a:prstGeom prst="roundRect">
            <a:avLst/>
          </a:prstGeom>
          <a:solidFill>
            <a:srgbClr val="19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648" y="5047488"/>
            <a:ext cx="8686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Следствие для бизнеса: предварительный бюджет получается долго, непрозрачно и с риском недооценки.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8778F"/>
                </a:solidFill>
                <a:latin typeface="Aptos"/>
              </a:rPr>
              <a:t>Project.Core™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8778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Не функции, а выгоды для бизнеса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126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По рекомендациям для продуктовых презентаций мы переводим функционал в понятную бизнес-ценность.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682496"/>
            <a:ext cx="5102352" cy="162763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F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901952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Единый расчёт по нескольким системам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340864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9EEF6"/>
                </a:solidFill>
                <a:latin typeface="Aptos"/>
              </a:rPr>
              <a:t>Вместо набора отдельных оценок заказчик видит общую бюджетную картину по объекту.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682496"/>
            <a:ext cx="5102352" cy="162763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901952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AI-аудит цен и трудозатрат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2340864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9EEF6"/>
                </a:solidFill>
                <a:latin typeface="Aptos"/>
              </a:rPr>
              <a:t>Снижает риск занижения стоимости и делает предложение более защищаемым на переговорах.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" y="3840480"/>
            <a:ext cx="5102352" cy="162763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405993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Региональный и эксплуатационный контур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498848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9EEF6"/>
                </a:solidFill>
                <a:latin typeface="Aptos"/>
              </a:rPr>
              <a:t>Бюджет учитывает географию, статус здания и условия монтажа, а не считается в вакууме.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3840480"/>
            <a:ext cx="5102352" cy="162763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6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405993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4498848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E9EEF6"/>
                </a:solidFill>
                <a:latin typeface="Aptos"/>
              </a:rPr>
              <a:t>Пользователь видит происхождение суммы, а не только финальную цифру.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4754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92334"/>
                </a:solidFill>
                <a:latin typeface="Aptos"/>
              </a:rPr>
              <a:t>Почему продукту можно доверять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95527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60" b="0">
                <a:solidFill>
                  <a:srgbClr val="68778F"/>
                </a:solidFill>
                <a:latin typeface="Aptos"/>
              </a:rPr>
              <a:t>Согласно выбранным референсам, доверие в B2B-презентации строится через востребованность, ясность применения и отдельный акцент на российский контур продукта.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737360"/>
            <a:ext cx="358444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2272" y="1737360"/>
            <a:ext cx="3584448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0" y="1737360"/>
            <a:ext cx="3255264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2334"/>
                </a:solidFill>
                <a:latin typeface="Aptos"/>
              </a:rPr>
              <a:t>Востребованность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быстрый пресейл для интеграторов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подготовка ТКП и предварительной оценки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ранняя защита бюджета перед заказчиком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029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2334"/>
                </a:solidFill>
                <a:latin typeface="Aptos"/>
              </a:rPr>
              <a:t>Сфера применения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523744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офисные и административные объекты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общественные здания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склады, производство, логистика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68778F"/>
                </a:solidFill>
                <a:latin typeface="Aptos"/>
              </a:rPr>
              <a:t>• объекты с несколькими подсистемами безопасности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2029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92334"/>
                </a:solidFill>
                <a:latin typeface="Aptos"/>
              </a:rPr>
              <a:t>Российский контур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2523744"/>
            <a:ext cx="26517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68778F"/>
                </a:solidFill>
                <a:latin typeface="Aptos"/>
              </a:rPr>
              <a:t>• учёт субъектов РФ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68778F"/>
                </a:solidFill>
                <a:latin typeface="Aptos"/>
              </a:rPr>
              <a:t>• отдельный roadmap перехода на отечественное ПО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68778F"/>
                </a:solidFill>
                <a:latin typeface="Aptos"/>
              </a:rPr>
              <a:t>• правовая регистрация продукта в РФ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68778F"/>
                </a:solidFill>
                <a:latin typeface="Aptos"/>
              </a:rPr>
              <a:t>• отдельная ветка под СТК / ПАО Сбер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5650992"/>
            <a:ext cx="2606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874E"/>
                </a:solidFill>
                <a:latin typeface="Aptos"/>
              </a:rPr>
              <a:t>Подходит для российского B2B-контекста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68778F"/>
                </a:solidFill>
                <a:latin typeface="Aptos"/>
              </a:rPr>
              <a:t>Project.Core™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68778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Сайт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577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Публичная часть продукта объясняет ценность решения и подводит пользователя к демо и переговорам.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59" y="1682495"/>
            <a:ext cx="3822191" cy="453542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1572768"/>
            <a:ext cx="3822191" cy="453542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728216"/>
            <a:ext cx="3602735" cy="425196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te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46504"/>
            <a:ext cx="3566159" cy="42153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791456" y="1682495"/>
            <a:ext cx="3054096" cy="453542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8304" y="1572768"/>
            <a:ext cx="3054096" cy="453542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1728216"/>
            <a:ext cx="2834639" cy="425196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te-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746504"/>
            <a:ext cx="2798063" cy="42153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991856" y="1682495"/>
            <a:ext cx="3511296" cy="453542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18704" y="1572768"/>
            <a:ext cx="3511296" cy="453542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28431" y="1728216"/>
            <a:ext cx="3291839" cy="425196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ite-ai-eng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46504"/>
            <a:ext cx="3255263" cy="421538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389888" y="6309360"/>
            <a:ext cx="1591056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Основное предложение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6309360"/>
            <a:ext cx="175564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Преимущества и рынок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6309360"/>
            <a:ext cx="166420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6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AI-контур продукта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Платформа: ключевые окна интерфейса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492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Рабочий интерфейс показывает не только поля ввода, но и структуру расчёта, логику, риски и готовые выходные материалы.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773936"/>
            <a:ext cx="5559552" cy="453542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" y="1664208"/>
            <a:ext cx="5559552" cy="453542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819656"/>
            <a:ext cx="5340096" cy="425196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tform-objec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37944"/>
            <a:ext cx="5303520" cy="42153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55664" y="1773936"/>
            <a:ext cx="5138928" cy="453542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82512" y="1664208"/>
            <a:ext cx="5138928" cy="453542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819656"/>
            <a:ext cx="4919472" cy="425196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atform-systems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1837944"/>
            <a:ext cx="4882896" cy="42153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1115568" y="6327648"/>
            <a:ext cx="1993392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Объект, зоны, обследование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6327648"/>
            <a:ext cx="2212848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Системы, вендоры, спецификация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platfor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Что делает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Функционал платформы лучше подавать как набор связанных окон и сценариев, а не как длинный список возможностей.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64208"/>
            <a:ext cx="2962656" cy="4498848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4871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объект и зонирование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выбор состава систем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вендоры и PDF APS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бюджет и коэффициенты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стоимость проекта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логика расчёта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AI-риски проекта</a:t>
            </a:r>
          </a:p>
          <a:p>
            <a:pPr algn="l">
              <a:spcAft>
                <a:spcPts val="0"/>
              </a:spcAft>
            </a:pPr>
            <a:r>
              <a:rPr sz="1410" b="0">
                <a:solidFill>
                  <a:srgbClr val="E9EEF6"/>
                </a:solidFill>
                <a:latin typeface="Aptos"/>
              </a:rPr>
              <a:t>• экспорт ТКП и плана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41648" y="1810512"/>
            <a:ext cx="3639312" cy="197510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68496" y="1700784"/>
            <a:ext cx="3639312" cy="197510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78224" y="1856232"/>
            <a:ext cx="3419856" cy="169164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-budget-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1" y="1874520"/>
            <a:ext cx="3383280" cy="16550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27264" y="1810512"/>
            <a:ext cx="3639312" cy="197510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54112" y="1700784"/>
            <a:ext cx="3639312" cy="197510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856232"/>
            <a:ext cx="3419856" cy="169164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latform-cost-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874520"/>
            <a:ext cx="3383280" cy="16550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041648" y="4151376"/>
            <a:ext cx="3639312" cy="197510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68496" y="4041648"/>
            <a:ext cx="3639312" cy="197510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78224" y="4197096"/>
            <a:ext cx="3419856" cy="169164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latform-logic-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1" y="4215384"/>
            <a:ext cx="3383280" cy="165506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827264" y="4151376"/>
            <a:ext cx="3639312" cy="1975104"/>
          </a:xfrm>
          <a:prstGeom prst="round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54112" y="4041648"/>
            <a:ext cx="3639312" cy="1975104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30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0" y="4197096"/>
            <a:ext cx="3419856" cy="1691640"/>
          </a:xfrm>
          <a:prstGeom prst="round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latform-risks-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2128" y="4215384"/>
            <a:ext cx="3383280" cy="16550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Две продуктовые линии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6400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По логике коммерческого предложения важно сразу разделить корпоративный контур и рыночную модель продаж.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682496"/>
            <a:ext cx="5340096" cy="446227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4768" y="1682496"/>
            <a:ext cx="5340096" cy="446227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38528"/>
            <a:ext cx="1783080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Продукт для ООО «СТК»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Отдельная разработка
под Генеральное соглашение
с ПАО Сбер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приведение в соответствие требованиям стандартов по кибербезопасности РФ и ПАО Сбер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корпоративный контур внедрения и эксплуатации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отдельный secure-roadmap продукта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938528"/>
            <a:ext cx="1261872" cy="310896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Внешний рынок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304288"/>
            <a:ext cx="3931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Продажа доступа
к платформе
по подписке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56616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доступ к платформе как коммерческому сервису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тарифные планы с разным функционалом</a:t>
            </a:r>
          </a:p>
          <a:p>
            <a:pPr algn="l">
              <a:spcAft>
                <a:spcPts val="0"/>
              </a:spcAft>
            </a:pPr>
            <a:r>
              <a:rPr sz="1420" b="0">
                <a:solidFill>
                  <a:srgbClr val="E9EEF6"/>
                </a:solidFill>
                <a:latin typeface="Aptos"/>
              </a:rPr>
              <a:t>• абонентская плата как масштабируемая модель монетизации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tariff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5852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Тарифы и следующий этап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7498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9EEF6"/>
                </a:solidFill>
                <a:latin typeface="Aptos"/>
              </a:rPr>
              <a:t>Внешний рынок предполагает SaaS-модель, а параллельно запланированы переход на отечественное ПО и правовая регистрация продукта в РФ.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682496"/>
            <a:ext cx="2743200" cy="354787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2C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5681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4086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C8E7"/>
                </a:solidFill>
                <a:latin typeface="Aptos"/>
              </a:rPr>
              <a:t>от 49 000 ₽/мес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89504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базовый пресейл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стандартные выгрузки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682496"/>
            <a:ext cx="2743200" cy="354787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FF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95681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34086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874E"/>
                </a:solidFill>
                <a:latin typeface="Aptos"/>
              </a:rPr>
              <a:t>от 119 000 ₽/мес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889504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полный расчёт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AI-модули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расширенный экспорт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8352" y="1682496"/>
            <a:ext cx="2743200" cy="3547872"/>
          </a:xfrm>
          <a:prstGeom prst="roundRect">
            <a:avLst/>
          </a:prstGeom>
          <a:solidFill>
            <a:srgbClr val="152338"/>
          </a:solidFill>
          <a:ln w="12700">
            <a:solidFill>
              <a:srgbClr val="56B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195681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34086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6BE89"/>
                </a:solidFill>
                <a:latin typeface="Aptos"/>
              </a:rPr>
              <a:t>индивидуально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71231" y="2889504"/>
            <a:ext cx="2194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корпоративная конфигурация</a:t>
            </a:r>
          </a:p>
          <a:p>
            <a:pPr algn="l">
              <a:spcAft>
                <a:spcPts val="0"/>
              </a:spcAft>
            </a:pPr>
            <a:r>
              <a:rPr sz="1340" b="0">
                <a:solidFill>
                  <a:srgbClr val="E9EEF6"/>
                </a:solidFill>
                <a:latin typeface="Aptos"/>
              </a:rPr>
              <a:t>• поддержка и интеграции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5486400"/>
            <a:ext cx="1022299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724144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20" b="0">
                <a:solidFill>
                  <a:srgbClr val="E9EEF6"/>
                </a:solidFill>
                <a:latin typeface="Aptos"/>
              </a:rPr>
              <a:t>После завершения процесса написания основного кода планируются: переход на отечественное ПО, регистрация товарного знака и регистрация самого продукта в соответствии с законодательством РФ.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642823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9EEF6"/>
                </a:solidFill>
                <a:latin typeface="Aptos"/>
              </a:rPr>
              <a:t>Project.Core™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2823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1">
                <a:solidFill>
                  <a:srgbClr val="E9EEF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